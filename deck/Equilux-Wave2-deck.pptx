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preprod.midnightexplorer.com/contracts/598b346e40e5233c605936b9430a80362773b778918b0a899d9bae025257d1cb" TargetMode="Externa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youtu.be/AmFv_UKSj4A" TargetMode="External"/><Relationship Id="rId2" Type="http://schemas.openxmlformats.org/officeDocument/2006/relationships/hyperlink" Target="https://github.com/AustinChris1/Equilux" TargetMode="External"/><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02B22"/>
        </a:solidFill>
      </p:bgPr>
    </p:bg>
    <p:spTree>
      <p:nvGrpSpPr>
        <p:cNvPr id="1" name=""/>
        <p:cNvGrpSpPr/>
        <p:nvPr/>
      </p:nvGrpSpPr>
      <p:grpSpPr>
        <a:xfrm>
          <a:off x="0" y="0"/>
          <a:ext cx="0" cy="0"/>
          <a:chOff x="0" y="0"/>
          <a:chExt cx="0" cy="0"/>
        </a:xfrm>
      </p:grpSpPr>
      <p:sp>
        <p:nvSpPr>
          <p:cNvPr id="2" name="Shape 0"/>
          <p:cNvSpPr/>
          <p:nvPr/>
        </p:nvSpPr>
        <p:spPr>
          <a:xfrm>
            <a:off x="9451238" y="930859"/>
            <a:ext cx="2267712" cy="510235"/>
          </a:xfrm>
          <a:prstGeom prst="roundRect">
            <a:avLst>
              <a:gd name="adj" fmla="val 44444"/>
            </a:avLst>
          </a:prstGeom>
          <a:solidFill>
            <a:srgbClr val="FFD85F">
              <a:alpha val="10000"/>
            </a:srgbClr>
          </a:solidFill>
          <a:ln w="12700">
            <a:solidFill>
              <a:srgbClr val="FFD85F">
                <a:alpha val="0"/>
              </a:srgbClr>
            </a:solidFill>
            <a:prstDash val="solid"/>
          </a:ln>
        </p:spPr>
      </p:sp>
      <p:sp>
        <p:nvSpPr>
          <p:cNvPr id="3" name="Shape 1"/>
          <p:cNvSpPr/>
          <p:nvPr/>
        </p:nvSpPr>
        <p:spPr>
          <a:xfrm>
            <a:off x="9564624" y="1667866"/>
            <a:ext cx="2040941" cy="368503"/>
          </a:xfrm>
          <a:prstGeom prst="roundRect">
            <a:avLst>
              <a:gd name="adj" fmla="val 46154"/>
            </a:avLst>
          </a:prstGeom>
          <a:solidFill>
            <a:srgbClr val="FFD85F">
              <a:alpha val="0"/>
            </a:srgbClr>
          </a:solidFill>
          <a:ln w="86614">
            <a:solidFill>
              <a:srgbClr val="FFD85F">
                <a:alpha val="10000"/>
              </a:srgbClr>
            </a:solidFill>
            <a:prstDash val="solid"/>
          </a:ln>
        </p:spPr>
      </p:sp>
      <p:sp>
        <p:nvSpPr>
          <p:cNvPr id="4" name="Shape 2"/>
          <p:cNvSpPr/>
          <p:nvPr/>
        </p:nvSpPr>
        <p:spPr>
          <a:xfrm>
            <a:off x="530352" y="2093976"/>
            <a:ext cx="365760" cy="82296"/>
          </a:xfrm>
          <a:prstGeom prst="roundRect">
            <a:avLst>
              <a:gd name="adj" fmla="val 44444"/>
            </a:avLst>
          </a:prstGeom>
          <a:solidFill>
            <a:srgbClr val="FFD85F"/>
          </a:solidFill>
          <a:ln w="12700">
            <a:solidFill>
              <a:srgbClr val="FFD85F">
                <a:alpha val="0"/>
              </a:srgbClr>
            </a:solidFill>
            <a:prstDash val="solid"/>
          </a:ln>
        </p:spPr>
      </p:sp>
      <p:sp>
        <p:nvSpPr>
          <p:cNvPr id="5" name="Shape 3"/>
          <p:cNvSpPr/>
          <p:nvPr/>
        </p:nvSpPr>
        <p:spPr>
          <a:xfrm>
            <a:off x="548640" y="2212848"/>
            <a:ext cx="329184" cy="59436"/>
          </a:xfrm>
          <a:prstGeom prst="roundRect">
            <a:avLst>
              <a:gd name="adj" fmla="val 46154"/>
            </a:avLst>
          </a:prstGeom>
          <a:solidFill>
            <a:srgbClr val="FFD85F">
              <a:alpha val="0"/>
            </a:srgbClr>
          </a:solidFill>
          <a:ln w="15875">
            <a:solidFill>
              <a:srgbClr val="FFD85F"/>
            </a:solidFill>
            <a:prstDash val="solid"/>
          </a:ln>
        </p:spPr>
      </p:sp>
      <p:sp>
        <p:nvSpPr>
          <p:cNvPr id="6" name="Text 4"/>
          <p:cNvSpPr/>
          <p:nvPr/>
        </p:nvSpPr>
        <p:spPr>
          <a:xfrm>
            <a:off x="1097280" y="1993392"/>
            <a:ext cx="3657600" cy="475488"/>
          </a:xfrm>
          <a:prstGeom prst="rect">
            <a:avLst/>
          </a:prstGeom>
          <a:noFill/>
          <a:ln/>
        </p:spPr>
        <p:txBody>
          <a:bodyPr wrap="square" lIns="0" tIns="0" rIns="0" bIns="0" rtlCol="0" anchor="ctr"/>
          <a:lstStyle/>
          <a:p>
            <a:pPr indent="0" marL="0">
              <a:buNone/>
            </a:pPr>
            <a:r>
              <a:rPr lang="en-US" sz="3200" i="1" dirty="0">
                <a:solidFill>
                  <a:srgbClr val="FAF6E9"/>
                </a:solidFill>
                <a:latin typeface="Georgia" pitchFamily="34" charset="0"/>
                <a:ea typeface="Georgia" pitchFamily="34" charset="-122"/>
                <a:cs typeface="Georgia" pitchFamily="34" charset="-120"/>
              </a:rPr>
              <a:t>Equilux</a:t>
            </a:r>
            <a:endParaRPr lang="en-US" sz="3200" dirty="0"/>
          </a:p>
        </p:txBody>
      </p:sp>
      <p:sp>
        <p:nvSpPr>
          <p:cNvPr id="7" name="Text 5"/>
          <p:cNvSpPr/>
          <p:nvPr/>
        </p:nvSpPr>
        <p:spPr>
          <a:xfrm>
            <a:off x="502920" y="2651760"/>
            <a:ext cx="11155680" cy="1554480"/>
          </a:xfrm>
          <a:prstGeom prst="rect">
            <a:avLst/>
          </a:prstGeom>
          <a:noFill/>
          <a:ln/>
        </p:spPr>
        <p:txBody>
          <a:bodyPr wrap="square" lIns="0" tIns="0" rIns="0" bIns="0" rtlCol="0" anchor="ctr"/>
          <a:lstStyle/>
          <a:p>
            <a:pPr indent="0" marL="0">
              <a:buNone/>
            </a:pPr>
            <a:r>
              <a:rPr lang="en-US" sz="4400" b="1" dirty="0">
                <a:solidFill>
                  <a:srgbClr val="FAF6E9"/>
                </a:solidFill>
                <a:latin typeface="Calibri" pitchFamily="34" charset="0"/>
                <a:ea typeface="Calibri" pitchFamily="34" charset="-122"/>
                <a:cs typeface="Calibri" pitchFamily="34" charset="-120"/>
              </a:rPr>
              <a:t>Pay, proven equal.</a:t>
            </a:r>
            <a:endParaRPr lang="en-US" sz="4400" dirty="0"/>
          </a:p>
          <a:p>
            <a:pPr indent="0" marL="0">
              <a:buNone/>
            </a:pPr>
            <a:r>
              <a:rPr lang="en-US" sz="4400" b="1" dirty="0">
                <a:solidFill>
                  <a:srgbClr val="FFD85F"/>
                </a:solidFill>
                <a:latin typeface="Calibri" pitchFamily="34" charset="0"/>
                <a:ea typeface="Calibri" pitchFamily="34" charset="-122"/>
                <a:cs typeface="Calibri" pitchFamily="34" charset="-120"/>
              </a:rPr>
              <a:t>No salary revealed.</a:t>
            </a:r>
            <a:endParaRPr lang="en-US" sz="4400" dirty="0"/>
          </a:p>
        </p:txBody>
      </p:sp>
      <p:sp>
        <p:nvSpPr>
          <p:cNvPr id="8" name="Text 6"/>
          <p:cNvSpPr/>
          <p:nvPr/>
        </p:nvSpPr>
        <p:spPr>
          <a:xfrm>
            <a:off x="502920" y="4343400"/>
            <a:ext cx="11064240" cy="960120"/>
          </a:xfrm>
          <a:prstGeom prst="rect">
            <a:avLst/>
          </a:prstGeom>
          <a:noFill/>
          <a:ln/>
        </p:spPr>
        <p:txBody>
          <a:bodyPr wrap="square" lIns="0" tIns="0" rIns="0" bIns="0" rtlCol="0" anchor="ctr"/>
          <a:lstStyle/>
          <a:p>
            <a:pPr indent="0" marL="0">
              <a:buNone/>
            </a:pPr>
            <a:r>
              <a:rPr lang="en-US" sz="1600" dirty="0">
                <a:solidFill>
                  <a:srgbClr val="C5CDC0"/>
                </a:solidFill>
                <a:latin typeface="Calibri" pitchFamily="34" charset="0"/>
                <a:ea typeface="Calibri" pitchFamily="34" charset="-122"/>
                <a:cs typeface="Calibri" pitchFamily="34" charset="-120"/>
              </a:rPr>
              <a:t>The first employee-verifiable pay-transparency reporting protocol. A company proves its legally required gender pay gap report was computed from its complete payroll — every salary the payroll provider's own figure, confirmed by the employee it belongs to — while every salary stays in Midnight's private state.</a:t>
            </a:r>
            <a:endParaRPr lang="en-US" sz="1600" dirty="0"/>
          </a:p>
        </p:txBody>
      </p:sp>
      <p:sp>
        <p:nvSpPr>
          <p:cNvPr id="9" name="Shape 7"/>
          <p:cNvSpPr/>
          <p:nvPr/>
        </p:nvSpPr>
        <p:spPr>
          <a:xfrm>
            <a:off x="502920" y="5532120"/>
            <a:ext cx="3246120" cy="365760"/>
          </a:xfrm>
          <a:prstGeom prst="roundRect">
            <a:avLst>
              <a:gd name="adj" fmla="val 15000"/>
            </a:avLst>
          </a:prstGeom>
          <a:solidFill>
            <a:srgbClr val="2C382E"/>
          </a:solidFill>
          <a:ln w="12700">
            <a:solidFill>
              <a:srgbClr val="2C382E"/>
            </a:solidFill>
            <a:prstDash val="solid"/>
          </a:ln>
        </p:spPr>
      </p:sp>
      <p:sp>
        <p:nvSpPr>
          <p:cNvPr id="10" name="Text 8"/>
          <p:cNvSpPr/>
          <p:nvPr/>
        </p:nvSpPr>
        <p:spPr>
          <a:xfrm>
            <a:off x="502920" y="5532120"/>
            <a:ext cx="3246120" cy="365760"/>
          </a:xfrm>
          <a:prstGeom prst="rect">
            <a:avLst/>
          </a:prstGeom>
          <a:noFill/>
          <a:ln/>
        </p:spPr>
        <p:txBody>
          <a:bodyPr wrap="square" lIns="0" tIns="0" rIns="0" bIns="0" rtlCol="0" anchor="ctr"/>
          <a:lstStyle/>
          <a:p>
            <a:pPr algn="ctr" indent="0" marL="0">
              <a:buNone/>
            </a:pPr>
            <a:r>
              <a:rPr lang="en-US" sz="1100" dirty="0">
                <a:solidFill>
                  <a:srgbClr val="FFD85F"/>
                </a:solidFill>
                <a:latin typeface="Courier New" pitchFamily="34" charset="0"/>
                <a:ea typeface="Courier New" pitchFamily="34" charset="-122"/>
                <a:cs typeface="Courier New" pitchFamily="34" charset="-120"/>
              </a:rPr>
              <a:t>Midnight Buildathon  ·  Wave 2</a:t>
            </a:r>
            <a:endParaRPr lang="en-US" sz="1100" dirty="0"/>
          </a:p>
        </p:txBody>
      </p:sp>
      <p:sp>
        <p:nvSpPr>
          <p:cNvPr id="11" name="Shape 9"/>
          <p:cNvSpPr/>
          <p:nvPr/>
        </p:nvSpPr>
        <p:spPr>
          <a:xfrm>
            <a:off x="3886200" y="5532120"/>
            <a:ext cx="3383280" cy="365760"/>
          </a:xfrm>
          <a:prstGeom prst="roundRect">
            <a:avLst>
              <a:gd name="adj" fmla="val 15000"/>
            </a:avLst>
          </a:prstGeom>
          <a:solidFill>
            <a:srgbClr val="2C382E"/>
          </a:solidFill>
          <a:ln w="12700">
            <a:solidFill>
              <a:srgbClr val="2C382E"/>
            </a:solidFill>
            <a:prstDash val="solid"/>
          </a:ln>
        </p:spPr>
      </p:sp>
      <p:sp>
        <p:nvSpPr>
          <p:cNvPr id="12" name="Text 10"/>
          <p:cNvSpPr/>
          <p:nvPr/>
        </p:nvSpPr>
        <p:spPr>
          <a:xfrm>
            <a:off x="3886200" y="5532120"/>
            <a:ext cx="3383280" cy="365760"/>
          </a:xfrm>
          <a:prstGeom prst="rect">
            <a:avLst/>
          </a:prstGeom>
          <a:noFill/>
          <a:ln/>
        </p:spPr>
        <p:txBody>
          <a:bodyPr wrap="square" lIns="0" tIns="0" rIns="0" bIns="0" rtlCol="0" anchor="ctr"/>
          <a:lstStyle/>
          <a:p>
            <a:pPr algn="ctr" indent="0" marL="0">
              <a:buNone/>
            </a:pPr>
            <a:r>
              <a:rPr lang="en-US" sz="1100" dirty="0">
                <a:solidFill>
                  <a:srgbClr val="FFD85F"/>
                </a:solidFill>
                <a:latin typeface="Courier New" pitchFamily="34" charset="0"/>
                <a:ea typeface="Courier New" pitchFamily="34" charset="-122"/>
                <a:cs typeface="Courier New" pitchFamily="34" charset="-120"/>
              </a:rPr>
              <a:t>Compact  ·  TypeScript  ·  Apache 2.0</a:t>
            </a:r>
            <a:endParaRPr lang="en-US" sz="1100" dirty="0"/>
          </a:p>
        </p:txBody>
      </p:sp>
      <p:sp>
        <p:nvSpPr>
          <p:cNvPr id="13" name="Shape 11"/>
          <p:cNvSpPr/>
          <p:nvPr/>
        </p:nvSpPr>
        <p:spPr>
          <a:xfrm>
            <a:off x="7406640" y="5532120"/>
            <a:ext cx="3246120" cy="365760"/>
          </a:xfrm>
          <a:prstGeom prst="roundRect">
            <a:avLst>
              <a:gd name="adj" fmla="val 15000"/>
            </a:avLst>
          </a:prstGeom>
          <a:solidFill>
            <a:srgbClr val="2C382E"/>
          </a:solidFill>
          <a:ln w="12700">
            <a:solidFill>
              <a:srgbClr val="2C382E"/>
            </a:solidFill>
            <a:prstDash val="solid"/>
          </a:ln>
        </p:spPr>
      </p:sp>
      <p:sp>
        <p:nvSpPr>
          <p:cNvPr id="14" name="Text 12"/>
          <p:cNvSpPr/>
          <p:nvPr/>
        </p:nvSpPr>
        <p:spPr>
          <a:xfrm>
            <a:off x="7406640" y="5532120"/>
            <a:ext cx="3246120" cy="365760"/>
          </a:xfrm>
          <a:prstGeom prst="rect">
            <a:avLst/>
          </a:prstGeom>
          <a:noFill/>
          <a:ln/>
        </p:spPr>
        <p:txBody>
          <a:bodyPr wrap="square" lIns="0" tIns="0" rIns="0" bIns="0" rtlCol="0" anchor="ctr"/>
          <a:lstStyle/>
          <a:p>
            <a:pPr algn="ctr" indent="0" marL="0">
              <a:buNone/>
            </a:pPr>
            <a:r>
              <a:rPr lang="en-US" sz="1100" dirty="0">
                <a:solidFill>
                  <a:srgbClr val="FFD85F"/>
                </a:solidFill>
                <a:latin typeface="Courier New" pitchFamily="34" charset="0"/>
                <a:ea typeface="Courier New" pitchFamily="34" charset="-122"/>
                <a:cs typeface="Courier New" pitchFamily="34" charset="-120"/>
              </a:rPr>
              <a:t>github.com/AustinChris1/Equilux</a:t>
            </a:r>
            <a:endParaRPr lang="en-US" sz="1100" dirty="0"/>
          </a:p>
        </p:txBody>
      </p:sp>
      <p:sp>
        <p:nvSpPr>
          <p:cNvPr id="15" name="Text 13"/>
          <p:cNvSpPr/>
          <p:nvPr/>
        </p:nvSpPr>
        <p:spPr>
          <a:xfrm>
            <a:off x="502920" y="6510528"/>
            <a:ext cx="8412480" cy="219456"/>
          </a:xfrm>
          <a:prstGeom prst="rect">
            <a:avLst/>
          </a:prstGeom>
          <a:noFill/>
          <a:ln/>
        </p:spPr>
        <p:txBody>
          <a:bodyPr wrap="square" lIns="0" tIns="0" rIns="0" bIns="0" rtlCol="0" anchor="ctr"/>
          <a:lstStyle/>
          <a:p>
            <a:pPr indent="0" marL="0">
              <a:buNone/>
            </a:pPr>
            <a:r>
              <a:rPr lang="en-US" sz="1100" spc="80" kern="0" dirty="0">
                <a:solidFill>
                  <a:srgbClr val="8A9384"/>
                </a:solidFill>
                <a:latin typeface="Courier New" pitchFamily="34" charset="0"/>
                <a:ea typeface="Courier New" pitchFamily="34" charset="-122"/>
                <a:cs typeface="Courier New" pitchFamily="34" charset="-120"/>
              </a:rPr>
              <a:t>EQUILUX</a:t>
            </a:r>
            <a:endParaRPr lang="en-US" sz="1100" dirty="0"/>
          </a:p>
        </p:txBody>
      </p:sp>
      <p:sp>
        <p:nvSpPr>
          <p:cNvPr id="16" name="Text 14"/>
          <p:cNvSpPr/>
          <p:nvPr/>
        </p:nvSpPr>
        <p:spPr>
          <a:xfrm>
            <a:off x="9052560" y="6510528"/>
            <a:ext cx="2633472" cy="219456"/>
          </a:xfrm>
          <a:prstGeom prst="rect">
            <a:avLst/>
          </a:prstGeom>
          <a:noFill/>
          <a:ln/>
        </p:spPr>
        <p:txBody>
          <a:bodyPr wrap="square" lIns="0" tIns="0" rIns="0" bIns="0" rtlCol="0" anchor="ctr"/>
          <a:lstStyle/>
          <a:p>
            <a:pPr algn="r" indent="0" marL="0">
              <a:buNone/>
            </a:pPr>
            <a:r>
              <a:rPr lang="en-US" sz="1100" spc="80" kern="0" dirty="0">
                <a:solidFill>
                  <a:srgbClr val="8A9384"/>
                </a:solidFill>
                <a:latin typeface="Courier New" pitchFamily="34" charset="0"/>
                <a:ea typeface="Courier New" pitchFamily="34" charset="-122"/>
                <a:cs typeface="Courier New" pitchFamily="34" charset="-120"/>
              </a:rPr>
              <a:t>01  /  12</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D85F"/>
        </a:solidFill>
      </p:bgPr>
    </p:bg>
    <p:spTree>
      <p:nvGrpSpPr>
        <p:cNvPr id="1" name=""/>
        <p:cNvGrpSpPr/>
        <p:nvPr/>
      </p:nvGrpSpPr>
      <p:grpSpPr>
        <a:xfrm>
          <a:off x="0" y="0"/>
          <a:ext cx="0" cy="0"/>
          <a:chOff x="0" y="0"/>
          <a:chExt cx="0" cy="0"/>
        </a:xfrm>
      </p:grpSpPr>
      <p:sp>
        <p:nvSpPr>
          <p:cNvPr id="2" name="Shape 0"/>
          <p:cNvSpPr/>
          <p:nvPr/>
        </p:nvSpPr>
        <p:spPr>
          <a:xfrm>
            <a:off x="502920" y="420624"/>
            <a:ext cx="256032" cy="22860"/>
          </a:xfrm>
          <a:prstGeom prst="rect">
            <a:avLst/>
          </a:prstGeom>
          <a:solidFill>
            <a:srgbClr val="3D4A38"/>
          </a:solidFill>
          <a:ln/>
        </p:spPr>
      </p:sp>
      <p:sp>
        <p:nvSpPr>
          <p:cNvPr id="3" name="Text 1"/>
          <p:cNvSpPr/>
          <p:nvPr/>
        </p:nvSpPr>
        <p:spPr>
          <a:xfrm>
            <a:off x="877824" y="310896"/>
            <a:ext cx="10607040" cy="256032"/>
          </a:xfrm>
          <a:prstGeom prst="rect">
            <a:avLst/>
          </a:prstGeom>
          <a:noFill/>
          <a:ln/>
        </p:spPr>
        <p:txBody>
          <a:bodyPr wrap="square" lIns="0" tIns="0" rIns="0" bIns="0" rtlCol="0" anchor="ctr"/>
          <a:lstStyle/>
          <a:p>
            <a:pPr indent="0" marL="0">
              <a:buNone/>
            </a:pPr>
            <a:r>
              <a:rPr lang="en-US" sz="1100" spc="160" kern="0" dirty="0">
                <a:solidFill>
                  <a:srgbClr val="3D4A38"/>
                </a:solidFill>
                <a:latin typeface="Courier New" pitchFamily="34" charset="0"/>
                <a:ea typeface="Courier New" pitchFamily="34" charset="-122"/>
                <a:cs typeface="Courier New" pitchFamily="34" charset="-120"/>
              </a:rPr>
              <a:t>THE MANDATE  ·  DIRECTIVE (EU) 2023/970</a:t>
            </a:r>
            <a:endParaRPr lang="en-US" sz="1100" dirty="0"/>
          </a:p>
        </p:txBody>
      </p:sp>
      <p:sp>
        <p:nvSpPr>
          <p:cNvPr id="4" name="Text 2"/>
          <p:cNvSpPr/>
          <p:nvPr/>
        </p:nvSpPr>
        <p:spPr>
          <a:xfrm>
            <a:off x="502920" y="658368"/>
            <a:ext cx="11155680" cy="1051560"/>
          </a:xfrm>
          <a:prstGeom prst="rect">
            <a:avLst/>
          </a:prstGeom>
          <a:noFill/>
          <a:ln/>
        </p:spPr>
        <p:txBody>
          <a:bodyPr wrap="square" lIns="0" tIns="0" rIns="0" bIns="0" rtlCol="0" anchor="ctr"/>
          <a:lstStyle/>
          <a:p>
            <a:pPr indent="0" marL="0">
              <a:buNone/>
            </a:pPr>
            <a:r>
              <a:rPr lang="en-US" sz="3200" b="1" dirty="0">
                <a:solidFill>
                  <a:srgbClr val="202B22"/>
                </a:solidFill>
                <a:latin typeface="Calibri" pitchFamily="34" charset="0"/>
                <a:ea typeface="Calibri" pitchFamily="34" charset="-122"/>
                <a:cs typeface="Calibri" pitchFamily="34" charset="-120"/>
              </a:rPr>
              <a:t>The law now demands a number companies cannot prove.</a:t>
            </a:r>
            <a:endParaRPr lang="en-US" sz="3200" dirty="0"/>
          </a:p>
        </p:txBody>
      </p:sp>
      <p:sp>
        <p:nvSpPr>
          <p:cNvPr id="5" name="Shape 3"/>
          <p:cNvSpPr/>
          <p:nvPr/>
        </p:nvSpPr>
        <p:spPr>
          <a:xfrm>
            <a:off x="502920" y="1920240"/>
            <a:ext cx="3611880" cy="1965960"/>
          </a:xfrm>
          <a:prstGeom prst="roundRect">
            <a:avLst>
              <a:gd name="adj" fmla="val 4651"/>
            </a:avLst>
          </a:prstGeom>
          <a:solidFill>
            <a:srgbClr val="FFF3C4"/>
          </a:solidFill>
          <a:ln w="15875">
            <a:solidFill>
              <a:srgbClr val="E2C45A"/>
            </a:solidFill>
            <a:prstDash val="solid"/>
          </a:ln>
        </p:spPr>
      </p:sp>
      <p:sp>
        <p:nvSpPr>
          <p:cNvPr id="6" name="Text 4"/>
          <p:cNvSpPr/>
          <p:nvPr/>
        </p:nvSpPr>
        <p:spPr>
          <a:xfrm>
            <a:off x="704088" y="2084832"/>
            <a:ext cx="3200400" cy="777240"/>
          </a:xfrm>
          <a:prstGeom prst="rect">
            <a:avLst/>
          </a:prstGeom>
          <a:noFill/>
          <a:ln/>
        </p:spPr>
        <p:txBody>
          <a:bodyPr wrap="square" lIns="0" tIns="0" rIns="0" bIns="0" rtlCol="0" anchor="ctr"/>
          <a:lstStyle/>
          <a:p>
            <a:pPr indent="0" marL="0">
              <a:buNone/>
            </a:pPr>
            <a:r>
              <a:rPr lang="en-US" sz="2800" b="1" dirty="0">
                <a:solidFill>
                  <a:srgbClr val="202B22"/>
                </a:solidFill>
                <a:latin typeface="Calibri" pitchFamily="34" charset="0"/>
                <a:ea typeface="Calibri" pitchFamily="34" charset="-122"/>
                <a:cs typeface="Calibri" pitchFamily="34" charset="-120"/>
              </a:rPr>
              <a:t>7 June 2027</a:t>
            </a:r>
            <a:endParaRPr lang="en-US" sz="2800" dirty="0"/>
          </a:p>
        </p:txBody>
      </p:sp>
      <p:sp>
        <p:nvSpPr>
          <p:cNvPr id="7" name="Text 5"/>
          <p:cNvSpPr/>
          <p:nvPr/>
        </p:nvSpPr>
        <p:spPr>
          <a:xfrm>
            <a:off x="704088" y="2971800"/>
            <a:ext cx="3200400" cy="640080"/>
          </a:xfrm>
          <a:prstGeom prst="rect">
            <a:avLst/>
          </a:prstGeom>
          <a:noFill/>
          <a:ln/>
        </p:spPr>
        <p:txBody>
          <a:bodyPr wrap="square" lIns="0" tIns="0" rIns="0" bIns="0" rtlCol="0" anchor="ctr"/>
          <a:lstStyle/>
          <a:p>
            <a:pPr indent="0" marL="0">
              <a:buNone/>
            </a:pPr>
            <a:r>
              <a:rPr lang="en-US" sz="1100" dirty="0">
                <a:solidFill>
                  <a:srgbClr val="3D4A38"/>
                </a:solidFill>
                <a:latin typeface="Courier New" pitchFamily="34" charset="0"/>
                <a:ea typeface="Courier New" pitchFamily="34" charset="-122"/>
                <a:cs typeface="Courier New" pitchFamily="34" charset="-120"/>
              </a:rPr>
              <a:t>FIRST REPORTS DUE</a:t>
            </a:r>
            <a:endParaRPr lang="en-US" sz="1100" dirty="0"/>
          </a:p>
          <a:p>
            <a:pPr indent="0" marL="0">
              <a:buNone/>
            </a:pPr>
            <a:r>
              <a:rPr lang="en-US" sz="1100" dirty="0">
                <a:solidFill>
                  <a:srgbClr val="3D4A38"/>
                </a:solidFill>
                <a:latin typeface="Courier New" pitchFamily="34" charset="0"/>
                <a:ea typeface="Courier New" pitchFamily="34" charset="-122"/>
                <a:cs typeface="Courier New" pitchFamily="34" charset="-120"/>
              </a:rPr>
              <a:t>FROM 2026 PAY DATA</a:t>
            </a:r>
            <a:endParaRPr lang="en-US" sz="1100" dirty="0"/>
          </a:p>
        </p:txBody>
      </p:sp>
      <p:sp>
        <p:nvSpPr>
          <p:cNvPr id="8" name="Shape 6"/>
          <p:cNvSpPr/>
          <p:nvPr/>
        </p:nvSpPr>
        <p:spPr>
          <a:xfrm>
            <a:off x="4297680" y="1920240"/>
            <a:ext cx="3611880" cy="1965960"/>
          </a:xfrm>
          <a:prstGeom prst="roundRect">
            <a:avLst>
              <a:gd name="adj" fmla="val 4651"/>
            </a:avLst>
          </a:prstGeom>
          <a:solidFill>
            <a:srgbClr val="FFF3C4"/>
          </a:solidFill>
          <a:ln w="15875">
            <a:solidFill>
              <a:srgbClr val="E2C45A"/>
            </a:solidFill>
            <a:prstDash val="solid"/>
          </a:ln>
        </p:spPr>
      </p:sp>
      <p:sp>
        <p:nvSpPr>
          <p:cNvPr id="9" name="Text 7"/>
          <p:cNvSpPr/>
          <p:nvPr/>
        </p:nvSpPr>
        <p:spPr>
          <a:xfrm>
            <a:off x="4498848" y="2084832"/>
            <a:ext cx="3200400" cy="777240"/>
          </a:xfrm>
          <a:prstGeom prst="rect">
            <a:avLst/>
          </a:prstGeom>
          <a:noFill/>
          <a:ln/>
        </p:spPr>
        <p:txBody>
          <a:bodyPr wrap="square" lIns="0" tIns="0" rIns="0" bIns="0" rtlCol="0" anchor="ctr"/>
          <a:lstStyle/>
          <a:p>
            <a:pPr indent="0" marL="0">
              <a:buNone/>
            </a:pPr>
            <a:r>
              <a:rPr lang="en-US" sz="3600" b="1" dirty="0">
                <a:solidFill>
                  <a:srgbClr val="202B22"/>
                </a:solidFill>
                <a:latin typeface="Calibri" pitchFamily="34" charset="0"/>
                <a:ea typeface="Calibri" pitchFamily="34" charset="-122"/>
                <a:cs typeface="Calibri" pitchFamily="34" charset="-120"/>
              </a:rPr>
              <a:t>250+</a:t>
            </a:r>
            <a:endParaRPr lang="en-US" sz="3600" dirty="0"/>
          </a:p>
        </p:txBody>
      </p:sp>
      <p:sp>
        <p:nvSpPr>
          <p:cNvPr id="10" name="Text 8"/>
          <p:cNvSpPr/>
          <p:nvPr/>
        </p:nvSpPr>
        <p:spPr>
          <a:xfrm>
            <a:off x="4498848" y="2971800"/>
            <a:ext cx="3200400" cy="640080"/>
          </a:xfrm>
          <a:prstGeom prst="rect">
            <a:avLst/>
          </a:prstGeom>
          <a:noFill/>
          <a:ln/>
        </p:spPr>
        <p:txBody>
          <a:bodyPr wrap="square" lIns="0" tIns="0" rIns="0" bIns="0" rtlCol="0" anchor="ctr"/>
          <a:lstStyle/>
          <a:p>
            <a:pPr indent="0" marL="0">
              <a:buNone/>
            </a:pPr>
            <a:r>
              <a:rPr lang="en-US" sz="1100" dirty="0">
                <a:solidFill>
                  <a:srgbClr val="3D4A38"/>
                </a:solidFill>
                <a:latin typeface="Courier New" pitchFamily="34" charset="0"/>
                <a:ea typeface="Courier New" pitchFamily="34" charset="-122"/>
                <a:cs typeface="Courier New" pitchFamily="34" charset="-120"/>
              </a:rPr>
              <a:t>EMPLOYEES, ANNUAL</a:t>
            </a:r>
            <a:endParaRPr lang="en-US" sz="1100" dirty="0"/>
          </a:p>
          <a:p>
            <a:pPr indent="0" marL="0">
              <a:buNone/>
            </a:pPr>
            <a:r>
              <a:rPr lang="en-US" sz="1100" dirty="0">
                <a:solidFill>
                  <a:srgbClr val="3D4A38"/>
                </a:solidFill>
                <a:latin typeface="Courier New" pitchFamily="34" charset="0"/>
                <a:ea typeface="Courier New" pitchFamily="34" charset="-122"/>
                <a:cs typeface="Courier New" pitchFamily="34" charset="-120"/>
              </a:rPr>
              <a:t>150+ TRIENNIAL, SAME DATE</a:t>
            </a:r>
            <a:endParaRPr lang="en-US" sz="1100" dirty="0"/>
          </a:p>
        </p:txBody>
      </p:sp>
      <p:sp>
        <p:nvSpPr>
          <p:cNvPr id="11" name="Shape 9"/>
          <p:cNvSpPr/>
          <p:nvPr/>
        </p:nvSpPr>
        <p:spPr>
          <a:xfrm>
            <a:off x="8092440" y="1920240"/>
            <a:ext cx="3611880" cy="1965960"/>
          </a:xfrm>
          <a:prstGeom prst="roundRect">
            <a:avLst>
              <a:gd name="adj" fmla="val 4651"/>
            </a:avLst>
          </a:prstGeom>
          <a:solidFill>
            <a:srgbClr val="FFF3C4"/>
          </a:solidFill>
          <a:ln w="15875">
            <a:solidFill>
              <a:srgbClr val="E2C45A"/>
            </a:solidFill>
            <a:prstDash val="solid"/>
          </a:ln>
        </p:spPr>
      </p:sp>
      <p:sp>
        <p:nvSpPr>
          <p:cNvPr id="12" name="Text 10"/>
          <p:cNvSpPr/>
          <p:nvPr/>
        </p:nvSpPr>
        <p:spPr>
          <a:xfrm>
            <a:off x="8293608" y="2084832"/>
            <a:ext cx="3200400" cy="777240"/>
          </a:xfrm>
          <a:prstGeom prst="rect">
            <a:avLst/>
          </a:prstGeom>
          <a:noFill/>
          <a:ln/>
        </p:spPr>
        <p:txBody>
          <a:bodyPr wrap="square" lIns="0" tIns="0" rIns="0" bIns="0" rtlCol="0" anchor="ctr"/>
          <a:lstStyle/>
          <a:p>
            <a:pPr indent="0" marL="0">
              <a:buNone/>
            </a:pPr>
            <a:r>
              <a:rPr lang="en-US" sz="3600" b="1" dirty="0">
                <a:solidFill>
                  <a:srgbClr val="202B22"/>
                </a:solidFill>
                <a:latin typeface="Calibri" pitchFamily="34" charset="0"/>
                <a:ea typeface="Calibri" pitchFamily="34" charset="-122"/>
                <a:cs typeface="Calibri" pitchFamily="34" charset="-120"/>
              </a:rPr>
              <a:t>≥ 5%</a:t>
            </a:r>
            <a:endParaRPr lang="en-US" sz="3600" dirty="0"/>
          </a:p>
        </p:txBody>
      </p:sp>
      <p:sp>
        <p:nvSpPr>
          <p:cNvPr id="13" name="Text 11"/>
          <p:cNvSpPr/>
          <p:nvPr/>
        </p:nvSpPr>
        <p:spPr>
          <a:xfrm>
            <a:off x="8293608" y="2971800"/>
            <a:ext cx="3200400" cy="640080"/>
          </a:xfrm>
          <a:prstGeom prst="rect">
            <a:avLst/>
          </a:prstGeom>
          <a:noFill/>
          <a:ln/>
        </p:spPr>
        <p:txBody>
          <a:bodyPr wrap="square" lIns="0" tIns="0" rIns="0" bIns="0" rtlCol="0" anchor="ctr"/>
          <a:lstStyle/>
          <a:p>
            <a:pPr indent="0" marL="0">
              <a:buNone/>
            </a:pPr>
            <a:r>
              <a:rPr lang="en-US" sz="1100" dirty="0">
                <a:solidFill>
                  <a:srgbClr val="3D4A38"/>
                </a:solidFill>
                <a:latin typeface="Courier New" pitchFamily="34" charset="0"/>
                <a:ea typeface="Courier New" pitchFamily="34" charset="-122"/>
                <a:cs typeface="Courier New" pitchFamily="34" charset="-120"/>
              </a:rPr>
              <a:t>UNJUSTIFIED CATEGORY GAP</a:t>
            </a:r>
            <a:endParaRPr lang="en-US" sz="1100" dirty="0"/>
          </a:p>
          <a:p>
            <a:pPr indent="0" marL="0">
              <a:buNone/>
            </a:pPr>
            <a:r>
              <a:rPr lang="en-US" sz="1100" dirty="0">
                <a:solidFill>
                  <a:srgbClr val="3D4A38"/>
                </a:solidFill>
                <a:latin typeface="Courier New" pitchFamily="34" charset="0"/>
                <a:ea typeface="Courier New" pitchFamily="34" charset="-122"/>
                <a:cs typeface="Courier New" pitchFamily="34" charset="-120"/>
              </a:rPr>
              <a:t>TRIGGERS A JOINT ASSESSMENT</a:t>
            </a:r>
            <a:endParaRPr lang="en-US" sz="1100" dirty="0"/>
          </a:p>
        </p:txBody>
      </p:sp>
      <p:sp>
        <p:nvSpPr>
          <p:cNvPr id="14" name="Text 12"/>
          <p:cNvSpPr/>
          <p:nvPr/>
        </p:nvSpPr>
        <p:spPr>
          <a:xfrm>
            <a:off x="502920" y="4160520"/>
            <a:ext cx="11155680" cy="1051560"/>
          </a:xfrm>
          <a:prstGeom prst="rect">
            <a:avLst/>
          </a:prstGeom>
          <a:noFill/>
          <a:ln/>
        </p:spPr>
        <p:txBody>
          <a:bodyPr wrap="square" lIns="0" tIns="0" rIns="0" bIns="0" rtlCol="0" anchor="ctr"/>
          <a:lstStyle/>
          <a:p>
            <a:pPr indent="0" marL="0">
              <a:buNone/>
            </a:pPr>
            <a:r>
              <a:rPr lang="en-US" sz="1800" dirty="0">
                <a:solidFill>
                  <a:srgbClr val="2A382C"/>
                </a:solidFill>
                <a:latin typeface="Calibri" pitchFamily="34" charset="0"/>
                <a:ea typeface="Calibri" pitchFamily="34" charset="-122"/>
                <a:cs typeface="Calibri" pitchFamily="34" charset="-120"/>
              </a:rPr>
              <a:t>Article 9 requires seven indicators. Article 7 gives every employee the right to ask what their category earns. And today every one of those reports is self-declared: nobody can verify the numbers without seeing everyone's salary.</a:t>
            </a:r>
            <a:endParaRPr lang="en-US" sz="1800" dirty="0"/>
          </a:p>
        </p:txBody>
      </p:sp>
      <p:sp>
        <p:nvSpPr>
          <p:cNvPr id="15" name="Text 13"/>
          <p:cNvSpPr/>
          <p:nvPr/>
        </p:nvSpPr>
        <p:spPr>
          <a:xfrm>
            <a:off x="502920" y="6510528"/>
            <a:ext cx="8412480" cy="219456"/>
          </a:xfrm>
          <a:prstGeom prst="rect">
            <a:avLst/>
          </a:prstGeom>
          <a:noFill/>
          <a:ln/>
        </p:spPr>
        <p:txBody>
          <a:bodyPr wrap="square" lIns="0" tIns="0" rIns="0" bIns="0" rtlCol="0" anchor="ctr"/>
          <a:lstStyle/>
          <a:p>
            <a:pPr indent="0" marL="0">
              <a:buNone/>
            </a:pPr>
            <a:r>
              <a:rPr lang="en-US" sz="1100" spc="80" kern="0" dirty="0">
                <a:solidFill>
                  <a:srgbClr val="5C6848"/>
                </a:solidFill>
                <a:latin typeface="Courier New" pitchFamily="34" charset="0"/>
                <a:ea typeface="Courier New" pitchFamily="34" charset="-122"/>
                <a:cs typeface="Courier New" pitchFamily="34" charset="-120"/>
              </a:rPr>
              <a:t>EQUILUX</a:t>
            </a:r>
            <a:endParaRPr lang="en-US" sz="1100" dirty="0"/>
          </a:p>
        </p:txBody>
      </p:sp>
      <p:sp>
        <p:nvSpPr>
          <p:cNvPr id="16" name="Text 14"/>
          <p:cNvSpPr/>
          <p:nvPr/>
        </p:nvSpPr>
        <p:spPr>
          <a:xfrm>
            <a:off x="9052560" y="6510528"/>
            <a:ext cx="2633472" cy="219456"/>
          </a:xfrm>
          <a:prstGeom prst="rect">
            <a:avLst/>
          </a:prstGeom>
          <a:noFill/>
          <a:ln/>
        </p:spPr>
        <p:txBody>
          <a:bodyPr wrap="square" lIns="0" tIns="0" rIns="0" bIns="0" rtlCol="0" anchor="ctr"/>
          <a:lstStyle/>
          <a:p>
            <a:pPr algn="r" indent="0" marL="0">
              <a:buNone/>
            </a:pPr>
            <a:r>
              <a:rPr lang="en-US" sz="1100" spc="80" kern="0" dirty="0">
                <a:solidFill>
                  <a:srgbClr val="5C6848"/>
                </a:solidFill>
                <a:latin typeface="Courier New" pitchFamily="34" charset="0"/>
                <a:ea typeface="Courier New" pitchFamily="34" charset="-122"/>
                <a:cs typeface="Courier New" pitchFamily="34" charset="-120"/>
              </a:rPr>
              <a:t>02  /  12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5"/>
        </a:solidFill>
      </p:bgPr>
    </p:bg>
    <p:spTree>
      <p:nvGrpSpPr>
        <p:cNvPr id="1" name=""/>
        <p:cNvGrpSpPr/>
        <p:nvPr/>
      </p:nvGrpSpPr>
      <p:grpSpPr>
        <a:xfrm>
          <a:off x="0" y="0"/>
          <a:ext cx="0" cy="0"/>
          <a:chOff x="0" y="0"/>
          <a:chExt cx="0" cy="0"/>
        </a:xfrm>
      </p:grpSpPr>
      <p:sp>
        <p:nvSpPr>
          <p:cNvPr id="2" name="Shape 0"/>
          <p:cNvSpPr/>
          <p:nvPr/>
        </p:nvSpPr>
        <p:spPr>
          <a:xfrm>
            <a:off x="502920" y="420624"/>
            <a:ext cx="256032" cy="22860"/>
          </a:xfrm>
          <a:prstGeom prst="rect">
            <a:avLst/>
          </a:prstGeom>
          <a:solidFill>
            <a:srgbClr val="55604F"/>
          </a:solidFill>
          <a:ln/>
        </p:spPr>
      </p:sp>
      <p:sp>
        <p:nvSpPr>
          <p:cNvPr id="3" name="Text 1"/>
          <p:cNvSpPr/>
          <p:nvPr/>
        </p:nvSpPr>
        <p:spPr>
          <a:xfrm>
            <a:off x="877824" y="310896"/>
            <a:ext cx="10607040" cy="256032"/>
          </a:xfrm>
          <a:prstGeom prst="rect">
            <a:avLst/>
          </a:prstGeom>
          <a:noFill/>
          <a:ln/>
        </p:spPr>
        <p:txBody>
          <a:bodyPr wrap="square" lIns="0" tIns="0" rIns="0" bIns="0" rtlCol="0" anchor="ctr"/>
          <a:lstStyle/>
          <a:p>
            <a:pPr indent="0" marL="0">
              <a:buNone/>
            </a:pPr>
            <a:r>
              <a:rPr lang="en-US" sz="1100" spc="160" kern="0" dirty="0">
                <a:solidFill>
                  <a:srgbClr val="55604F"/>
                </a:solidFill>
                <a:latin typeface="Courier New" pitchFamily="34" charset="0"/>
                <a:ea typeface="Courier New" pitchFamily="34" charset="-122"/>
                <a:cs typeface="Courier New" pitchFamily="34" charset="-120"/>
              </a:rPr>
              <a:t>THE PROBLEM</a:t>
            </a:r>
            <a:endParaRPr lang="en-US" sz="1100" dirty="0"/>
          </a:p>
        </p:txBody>
      </p:sp>
      <p:sp>
        <p:nvSpPr>
          <p:cNvPr id="4" name="Text 2"/>
          <p:cNvSpPr/>
          <p:nvPr/>
        </p:nvSpPr>
        <p:spPr>
          <a:xfrm>
            <a:off x="502920" y="658368"/>
            <a:ext cx="11155680" cy="640080"/>
          </a:xfrm>
          <a:prstGeom prst="rect">
            <a:avLst/>
          </a:prstGeom>
          <a:noFill/>
          <a:ln/>
        </p:spPr>
        <p:txBody>
          <a:bodyPr wrap="square" lIns="0" tIns="0" rIns="0" bIns="0" rtlCol="0" anchor="ctr"/>
          <a:lstStyle/>
          <a:p>
            <a:pPr indent="0" marL="0">
              <a:buNone/>
            </a:pPr>
            <a:r>
              <a:rPr lang="en-US" sz="3600" b="1" dirty="0">
                <a:solidFill>
                  <a:srgbClr val="202B22"/>
                </a:solidFill>
                <a:latin typeface="Calibri" pitchFamily="34" charset="0"/>
                <a:ea typeface="Calibri" pitchFamily="34" charset="-122"/>
                <a:cs typeface="Calibri" pitchFamily="34" charset="-120"/>
              </a:rPr>
              <a:t>Trust me, or prove it.</a:t>
            </a:r>
            <a:endParaRPr lang="en-US" sz="3600" dirty="0"/>
          </a:p>
        </p:txBody>
      </p:sp>
      <p:sp>
        <p:nvSpPr>
          <p:cNvPr id="5" name="Shape 3"/>
          <p:cNvSpPr/>
          <p:nvPr/>
        </p:nvSpPr>
        <p:spPr>
          <a:xfrm>
            <a:off x="502920" y="1554480"/>
            <a:ext cx="5486400" cy="3063240"/>
          </a:xfrm>
          <a:prstGeom prst="roundRect">
            <a:avLst>
              <a:gd name="adj" fmla="val 2985"/>
            </a:avLst>
          </a:prstGeom>
          <a:solidFill>
            <a:srgbClr val="FFFFFF"/>
          </a:solidFill>
          <a:ln w="15875">
            <a:solidFill>
              <a:srgbClr val="E4DECF"/>
            </a:solidFill>
            <a:prstDash val="solid"/>
          </a:ln>
        </p:spPr>
      </p:sp>
      <p:sp>
        <p:nvSpPr>
          <p:cNvPr id="6" name="Text 4"/>
          <p:cNvSpPr/>
          <p:nvPr/>
        </p:nvSpPr>
        <p:spPr>
          <a:xfrm>
            <a:off x="749808" y="1755648"/>
            <a:ext cx="4983480" cy="411480"/>
          </a:xfrm>
          <a:prstGeom prst="rect">
            <a:avLst/>
          </a:prstGeom>
          <a:noFill/>
          <a:ln/>
        </p:spPr>
        <p:txBody>
          <a:bodyPr wrap="square" lIns="0" tIns="0" rIns="0" bIns="0" rtlCol="0" anchor="ctr"/>
          <a:lstStyle/>
          <a:p>
            <a:pPr indent="0" marL="0">
              <a:buNone/>
            </a:pPr>
            <a:r>
              <a:rPr lang="en-US" sz="2200" b="1" dirty="0">
                <a:solidFill>
                  <a:srgbClr val="202B22"/>
                </a:solidFill>
                <a:latin typeface="Calibri" pitchFamily="34" charset="0"/>
                <a:ea typeface="Calibri" pitchFamily="34" charset="-122"/>
                <a:cs typeface="Calibri" pitchFamily="34" charset="-120"/>
              </a:rPr>
              <a:t>Today</a:t>
            </a:r>
            <a:endParaRPr lang="en-US" sz="2200" dirty="0"/>
          </a:p>
        </p:txBody>
      </p:sp>
      <p:sp>
        <p:nvSpPr>
          <p:cNvPr id="7" name="Text 5"/>
          <p:cNvSpPr/>
          <p:nvPr/>
        </p:nvSpPr>
        <p:spPr>
          <a:xfrm>
            <a:off x="749808" y="2286000"/>
            <a:ext cx="4983480" cy="2057400"/>
          </a:xfrm>
          <a:prstGeom prst="rect">
            <a:avLst/>
          </a:prstGeom>
          <a:noFill/>
          <a:ln/>
        </p:spPr>
        <p:txBody>
          <a:bodyPr wrap="square" lIns="0" tIns="0" rIns="0" bIns="0" rtlCol="0" anchor="ctr"/>
          <a:lstStyle/>
          <a:p>
            <a:pPr indent="0" marL="0">
              <a:buNone/>
            </a:pPr>
            <a:r>
              <a:rPr lang="en-US" sz="1600" dirty="0">
                <a:solidFill>
                  <a:srgbClr val="55604F"/>
                </a:solidFill>
                <a:latin typeface="Calibri" pitchFamily="34" charset="0"/>
                <a:ea typeface="Calibri" pitchFamily="34" charset="-122"/>
                <a:cs typeface="Calibri" pitchFamily="34" charset="-120"/>
              </a:rPr>
              <a:t>HR exports payroll to a spreadsheet, computes a gap, publishes a PDF. An employee cannot check they were counted. A works council cannot check nobody was dropped. A regulator can only audit by subpoenaing the whole payroll — the data the law is trying to protect.</a:t>
            </a:r>
            <a:endParaRPr lang="en-US" sz="1600" dirty="0"/>
          </a:p>
        </p:txBody>
      </p:sp>
      <p:sp>
        <p:nvSpPr>
          <p:cNvPr id="8" name="Shape 6"/>
          <p:cNvSpPr/>
          <p:nvPr/>
        </p:nvSpPr>
        <p:spPr>
          <a:xfrm>
            <a:off x="6199632" y="1554480"/>
            <a:ext cx="5486400" cy="3063240"/>
          </a:xfrm>
          <a:prstGeom prst="roundRect">
            <a:avLst>
              <a:gd name="adj" fmla="val 2985"/>
            </a:avLst>
          </a:prstGeom>
          <a:solidFill>
            <a:srgbClr val="202B22"/>
          </a:solidFill>
          <a:ln w="15875">
            <a:solidFill>
              <a:srgbClr val="202B22"/>
            </a:solidFill>
            <a:prstDash val="solid"/>
          </a:ln>
        </p:spPr>
      </p:sp>
      <p:sp>
        <p:nvSpPr>
          <p:cNvPr id="9" name="Text 7"/>
          <p:cNvSpPr/>
          <p:nvPr/>
        </p:nvSpPr>
        <p:spPr>
          <a:xfrm>
            <a:off x="6446520" y="1755648"/>
            <a:ext cx="4983480" cy="411480"/>
          </a:xfrm>
          <a:prstGeom prst="rect">
            <a:avLst/>
          </a:prstGeom>
          <a:noFill/>
          <a:ln/>
        </p:spPr>
        <p:txBody>
          <a:bodyPr wrap="square" lIns="0" tIns="0" rIns="0" bIns="0" rtlCol="0" anchor="ctr"/>
          <a:lstStyle/>
          <a:p>
            <a:pPr indent="0" marL="0">
              <a:buNone/>
            </a:pPr>
            <a:r>
              <a:rPr lang="en-US" sz="2200" b="1" dirty="0">
                <a:solidFill>
                  <a:srgbClr val="FFD85F"/>
                </a:solidFill>
                <a:latin typeface="Calibri" pitchFamily="34" charset="0"/>
                <a:ea typeface="Calibri" pitchFamily="34" charset="-122"/>
                <a:cs typeface="Calibri" pitchFamily="34" charset="-120"/>
              </a:rPr>
              <a:t>With Equilux</a:t>
            </a:r>
            <a:endParaRPr lang="en-US" sz="2200" dirty="0"/>
          </a:p>
        </p:txBody>
      </p:sp>
      <p:sp>
        <p:nvSpPr>
          <p:cNvPr id="10" name="Text 8"/>
          <p:cNvSpPr/>
          <p:nvPr/>
        </p:nvSpPr>
        <p:spPr>
          <a:xfrm>
            <a:off x="6446520" y="2286000"/>
            <a:ext cx="4983480" cy="2057400"/>
          </a:xfrm>
          <a:prstGeom prst="rect">
            <a:avLst/>
          </a:prstGeom>
          <a:noFill/>
          <a:ln/>
        </p:spPr>
        <p:txBody>
          <a:bodyPr wrap="square" lIns="0" tIns="0" rIns="0" bIns="0" rtlCol="0" anchor="ctr"/>
          <a:lstStyle/>
          <a:p>
            <a:pPr indent="0" marL="0">
              <a:buNone/>
            </a:pPr>
            <a:r>
              <a:rPr lang="en-US" sz="1600" dirty="0">
                <a:solidFill>
                  <a:srgbClr val="C5CDC0"/>
                </a:solidFill>
                <a:latin typeface="Calibri" pitchFamily="34" charset="0"/>
                <a:ea typeface="Calibri" pitchFamily="34" charset="-122"/>
                <a:cs typeface="Calibri" pitchFamily="34" charset="-120"/>
              </a:rPr>
              <a:t>The payroll provider commits every payroll row, hashed. The works council opens every row before anyone enrolls. Each employee seals their own record and proves it matches an unclaimed row. The circuits then check all seven Article 9 figures. Only the figures and the proof go public.</a:t>
            </a:r>
            <a:endParaRPr lang="en-US" sz="1600" dirty="0"/>
          </a:p>
        </p:txBody>
      </p:sp>
      <p:sp>
        <p:nvSpPr>
          <p:cNvPr id="11" name="Text 9"/>
          <p:cNvSpPr/>
          <p:nvPr/>
        </p:nvSpPr>
        <p:spPr>
          <a:xfrm>
            <a:off x="502920" y="4800600"/>
            <a:ext cx="11155680" cy="1051560"/>
          </a:xfrm>
          <a:prstGeom prst="rect">
            <a:avLst/>
          </a:prstGeom>
          <a:noFill/>
          <a:ln/>
        </p:spPr>
        <p:txBody>
          <a:bodyPr wrap="square" lIns="0" tIns="0" rIns="0" bIns="0" rtlCol="0" anchor="ctr"/>
          <a:lstStyle/>
          <a:p>
            <a:pPr indent="0" marL="0">
              <a:buNone/>
            </a:pPr>
            <a:r>
              <a:rPr lang="en-US" sz="1600" dirty="0">
                <a:solidFill>
                  <a:srgbClr val="55604F"/>
                </a:solidFill>
                <a:latin typeface="Calibri" pitchFamily="34" charset="0"/>
                <a:ea typeface="Calibri" pitchFamily="34" charset="-122"/>
                <a:cs typeface="Calibri" pitchFamily="34" charset="-120"/>
              </a:rPr>
              <a:t>Equilux does not replace the HRIS. Payroll stays in Personio, DATEV or Workday. Equilux is the notary on top: it proves the set was complete and the published figure matches it.</a:t>
            </a:r>
            <a:endParaRPr lang="en-US" sz="1600" dirty="0"/>
          </a:p>
        </p:txBody>
      </p:sp>
      <p:sp>
        <p:nvSpPr>
          <p:cNvPr id="12" name="Text 10"/>
          <p:cNvSpPr/>
          <p:nvPr/>
        </p:nvSpPr>
        <p:spPr>
          <a:xfrm>
            <a:off x="502920" y="6510528"/>
            <a:ext cx="8412480" cy="219456"/>
          </a:xfrm>
          <a:prstGeom prst="rect">
            <a:avLst/>
          </a:prstGeom>
          <a:noFill/>
          <a:ln/>
        </p:spPr>
        <p:txBody>
          <a:bodyPr wrap="square" lIns="0" tIns="0" rIns="0" bIns="0" rtlCol="0" anchor="ctr"/>
          <a:lstStyle/>
          <a:p>
            <a:pPr indent="0" marL="0">
              <a:buNone/>
            </a:pPr>
            <a:r>
              <a:rPr lang="en-US" sz="1100" spc="80" kern="0" dirty="0">
                <a:solidFill>
                  <a:srgbClr val="8A9384"/>
                </a:solidFill>
                <a:latin typeface="Courier New" pitchFamily="34" charset="0"/>
                <a:ea typeface="Courier New" pitchFamily="34" charset="-122"/>
                <a:cs typeface="Courier New" pitchFamily="34" charset="-120"/>
              </a:rPr>
              <a:t>EQUILUX</a:t>
            </a:r>
            <a:endParaRPr lang="en-US" sz="1100" dirty="0"/>
          </a:p>
        </p:txBody>
      </p:sp>
      <p:sp>
        <p:nvSpPr>
          <p:cNvPr id="13" name="Text 11"/>
          <p:cNvSpPr/>
          <p:nvPr/>
        </p:nvSpPr>
        <p:spPr>
          <a:xfrm>
            <a:off x="9052560" y="6510528"/>
            <a:ext cx="2633472" cy="219456"/>
          </a:xfrm>
          <a:prstGeom prst="rect">
            <a:avLst/>
          </a:prstGeom>
          <a:noFill/>
          <a:ln/>
        </p:spPr>
        <p:txBody>
          <a:bodyPr wrap="square" lIns="0" tIns="0" rIns="0" bIns="0" rtlCol="0" anchor="ctr"/>
          <a:lstStyle/>
          <a:p>
            <a:pPr algn="r" indent="0" marL="0">
              <a:buNone/>
            </a:pPr>
            <a:r>
              <a:rPr lang="en-US" sz="1100" spc="80" kern="0" dirty="0">
                <a:solidFill>
                  <a:srgbClr val="8A9384"/>
                </a:solidFill>
                <a:latin typeface="Courier New" pitchFamily="34" charset="0"/>
                <a:ea typeface="Courier New" pitchFamily="34" charset="-122"/>
                <a:cs typeface="Courier New" pitchFamily="34" charset="-120"/>
              </a:rPr>
              <a:t>03  /  12</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5"/>
        </a:solidFill>
      </p:bgPr>
    </p:bg>
    <p:spTree>
      <p:nvGrpSpPr>
        <p:cNvPr id="1" name=""/>
        <p:cNvGrpSpPr/>
        <p:nvPr/>
      </p:nvGrpSpPr>
      <p:grpSpPr>
        <a:xfrm>
          <a:off x="0" y="0"/>
          <a:ext cx="0" cy="0"/>
          <a:chOff x="0" y="0"/>
          <a:chExt cx="0" cy="0"/>
        </a:xfrm>
      </p:grpSpPr>
      <p:sp>
        <p:nvSpPr>
          <p:cNvPr id="2" name="Shape 0"/>
          <p:cNvSpPr/>
          <p:nvPr/>
        </p:nvSpPr>
        <p:spPr>
          <a:xfrm>
            <a:off x="502920" y="420624"/>
            <a:ext cx="256032" cy="22860"/>
          </a:xfrm>
          <a:prstGeom prst="rect">
            <a:avLst/>
          </a:prstGeom>
          <a:solidFill>
            <a:srgbClr val="55604F"/>
          </a:solidFill>
          <a:ln/>
        </p:spPr>
      </p:sp>
      <p:sp>
        <p:nvSpPr>
          <p:cNvPr id="3" name="Text 1"/>
          <p:cNvSpPr/>
          <p:nvPr/>
        </p:nvSpPr>
        <p:spPr>
          <a:xfrm>
            <a:off x="877824" y="310896"/>
            <a:ext cx="10607040" cy="256032"/>
          </a:xfrm>
          <a:prstGeom prst="rect">
            <a:avLst/>
          </a:prstGeom>
          <a:noFill/>
          <a:ln/>
        </p:spPr>
        <p:txBody>
          <a:bodyPr wrap="square" lIns="0" tIns="0" rIns="0" bIns="0" rtlCol="0" anchor="ctr"/>
          <a:lstStyle/>
          <a:p>
            <a:pPr indent="0" marL="0">
              <a:buNone/>
            </a:pPr>
            <a:r>
              <a:rPr lang="en-US" sz="1100" spc="160" kern="0" dirty="0">
                <a:solidFill>
                  <a:srgbClr val="55604F"/>
                </a:solidFill>
                <a:latin typeface="Courier New" pitchFamily="34" charset="0"/>
                <a:ea typeface="Courier New" pitchFamily="34" charset="-122"/>
                <a:cs typeface="Courier New" pitchFamily="34" charset="-120"/>
              </a:rPr>
              <a:t>SINCE WAVE 1  ·  WHAT THE JUDGE ASKED FOR</a:t>
            </a:r>
            <a:endParaRPr lang="en-US" sz="1100" dirty="0"/>
          </a:p>
        </p:txBody>
      </p:sp>
      <p:sp>
        <p:nvSpPr>
          <p:cNvPr id="4" name="Text 2"/>
          <p:cNvSpPr/>
          <p:nvPr/>
        </p:nvSpPr>
        <p:spPr>
          <a:xfrm>
            <a:off x="502920" y="640080"/>
            <a:ext cx="11155680" cy="960120"/>
          </a:xfrm>
          <a:prstGeom prst="rect">
            <a:avLst/>
          </a:prstGeom>
          <a:noFill/>
          <a:ln/>
        </p:spPr>
        <p:txBody>
          <a:bodyPr wrap="square" lIns="0" tIns="0" rIns="0" bIns="0" rtlCol="0" anchor="ctr"/>
          <a:lstStyle/>
          <a:p>
            <a:pPr indent="0" marL="0">
              <a:buNone/>
            </a:pPr>
            <a:r>
              <a:rPr lang="en-US" sz="2600" b="1" dirty="0">
                <a:solidFill>
                  <a:srgbClr val="202B22"/>
                </a:solidFill>
                <a:latin typeface="Calibri" pitchFamily="34" charset="0"/>
                <a:ea typeface="Calibri" pitchFamily="34" charset="-122"/>
                <a:cs typeface="Calibri" pitchFamily="34" charset="-120"/>
              </a:rPr>
              <a:t>The works council opens the payroll. All seven Article 9 figures are proven.</a:t>
            </a:r>
            <a:endParaRPr lang="en-US" sz="2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1737360"/>
          <a:ext cx="11183112" cy="4526280"/>
        </p:xfrm>
        <a:graphic>
          <a:graphicData uri="http://schemas.openxmlformats.org/drawingml/2006/table">
            <a:tbl>
              <a:tblPr/>
              <a:tblGrid>
                <a:gridCol w="2880360"/>
                <a:gridCol w="3063240"/>
                <a:gridCol w="5239512"/>
              </a:tblGrid>
              <a:tr h="565785">
                <a:tc>
                  <a:txBody>
                    <a:bodyPr/>
                    <a:lstStyle/>
                    <a:p>
                      <a:pPr algn="l" indent="0" marL="0">
                        <a:buNone/>
                      </a:pPr>
                      <a:endParaRPr lang="en-US" sz="1100" dirty="0">
                        <a:latin typeface="Courier New" charset="0"/>
                        <a:ea typeface="Courier New" charset="0"/>
                        <a:cs typeface="Courier New" charset="0"/>
                      </a:endParaRPr>
                    </a:p>
                  </a:txBody>
                  <a:tcPr marL="101600" marR="101600" marT="88900" marB="88900" anchor="ctr">
                    <a:lnL w="12700" cap="flat" cmpd="sng" algn="ctr">
                      <a:solidFill>
                        <a:srgbClr val="FFFDF5"/>
                      </a:solidFill>
                      <a:prstDash val="solid"/>
                      <a:round/>
                      <a:headEnd type="none" w="med" len="med"/>
                      <a:tailEnd type="none" w="med" len="med"/>
                    </a:lnL>
                    <a:lnR w="12700" cap="flat" cmpd="sng" algn="ctr">
                      <a:solidFill>
                        <a:srgbClr val="FFFDF5"/>
                      </a:solidFill>
                      <a:prstDash val="solid"/>
                      <a:round/>
                      <a:headEnd type="none" w="med" len="med"/>
                      <a:tailEnd type="none" w="med" len="med"/>
                    </a:lnR>
                    <a:lnT w="12700" cap="flat" cmpd="sng" algn="ctr">
                      <a:solidFill>
                        <a:srgbClr val="FFFDF5"/>
                      </a:solidFill>
                      <a:prstDash val="solid"/>
                      <a:round/>
                      <a:headEnd type="none" w="med" len="med"/>
                      <a:tailEnd type="none" w="med" len="med"/>
                    </a:lnT>
                    <a:lnB w="12700" cap="flat" cmpd="sng" algn="ctr">
                      <a:solidFill>
                        <a:srgbClr val="E3DDD0"/>
                      </a:solidFill>
                      <a:prstDash val="solid"/>
                      <a:round/>
                      <a:headEnd type="none" w="med" len="med"/>
                      <a:tailEnd type="none" w="med" len="med"/>
                    </a:lnB>
                    <a:solidFill>
                      <a:srgbClr val="FFFDF5"/>
                    </a:solidFill>
                  </a:tcPr>
                </a:tc>
                <a:tc>
                  <a:txBody>
                    <a:bodyPr/>
                    <a:lstStyle/>
                    <a:p>
                      <a:pPr algn="l" indent="0" marL="0">
                        <a:buNone/>
                      </a:pPr>
                      <a:r>
                        <a:rPr lang="en-US" sz="1100" dirty="0">
                          <a:solidFill>
                            <a:srgbClr val="55604F"/>
                          </a:solidFill>
                          <a:latin typeface="Courier New" pitchFamily="34" charset="0"/>
                          <a:ea typeface="Courier New" pitchFamily="34" charset="-122"/>
                          <a:cs typeface="Courier New" pitchFamily="34" charset="-120"/>
                        </a:rPr>
                        <a:t>WAVE 1</a:t>
                      </a:r>
                      <a:endParaRPr lang="en-US" sz="1100" dirty="0">
                        <a:latin typeface="Courier New" charset="0"/>
                        <a:ea typeface="Courier New" charset="0"/>
                        <a:cs typeface="Courier New" charset="0"/>
                      </a:endParaRPr>
                    </a:p>
                  </a:txBody>
                  <a:tcPr marL="101600" marR="101600" marT="88900" marB="88900" anchor="ctr">
                    <a:lnL w="12700" cap="flat" cmpd="sng" algn="ctr">
                      <a:solidFill>
                        <a:srgbClr val="FFFDF5"/>
                      </a:solidFill>
                      <a:prstDash val="solid"/>
                      <a:round/>
                      <a:headEnd type="none" w="med" len="med"/>
                      <a:tailEnd type="none" w="med" len="med"/>
                    </a:lnL>
                    <a:lnR w="12700" cap="flat" cmpd="sng" algn="ctr">
                      <a:solidFill>
                        <a:srgbClr val="FFFDF5"/>
                      </a:solidFill>
                      <a:prstDash val="solid"/>
                      <a:round/>
                      <a:headEnd type="none" w="med" len="med"/>
                      <a:tailEnd type="none" w="med" len="med"/>
                    </a:lnR>
                    <a:lnT w="12700" cap="flat" cmpd="sng" algn="ctr">
                      <a:solidFill>
                        <a:srgbClr val="FFFDF5"/>
                      </a:solidFill>
                      <a:prstDash val="solid"/>
                      <a:round/>
                      <a:headEnd type="none" w="med" len="med"/>
                      <a:tailEnd type="none" w="med" len="med"/>
                    </a:lnT>
                    <a:lnB w="12700" cap="flat" cmpd="sng" algn="ctr">
                      <a:solidFill>
                        <a:srgbClr val="E3DDD0"/>
                      </a:solidFill>
                      <a:prstDash val="solid"/>
                      <a:round/>
                      <a:headEnd type="none" w="med" len="med"/>
                      <a:tailEnd type="none" w="med" len="med"/>
                    </a:lnB>
                    <a:solidFill>
                      <a:srgbClr val="FFFDF5"/>
                    </a:solidFill>
                  </a:tcPr>
                </a:tc>
                <a:tc>
                  <a:txBody>
                    <a:bodyPr/>
                    <a:lstStyle/>
                    <a:p>
                      <a:pPr algn="l" indent="0" marL="0">
                        <a:buNone/>
                      </a:pPr>
                      <a:r>
                        <a:rPr lang="en-US" sz="1100" dirty="0">
                          <a:solidFill>
                            <a:srgbClr val="55604F"/>
                          </a:solidFill>
                          <a:latin typeface="Courier New" pitchFamily="34" charset="0"/>
                          <a:ea typeface="Courier New" pitchFamily="34" charset="-122"/>
                          <a:cs typeface="Courier New" pitchFamily="34" charset="-120"/>
                        </a:rPr>
                        <a:t>WAVE 2</a:t>
                      </a:r>
                      <a:endParaRPr lang="en-US" sz="1100" dirty="0">
                        <a:latin typeface="Courier New" charset="0"/>
                        <a:ea typeface="Courier New" charset="0"/>
                        <a:cs typeface="Courier New" charset="0"/>
                      </a:endParaRPr>
                    </a:p>
                  </a:txBody>
                  <a:tcPr marL="101600" marR="101600" marT="88900" marB="88900" anchor="ctr">
                    <a:lnL w="12700" cap="flat" cmpd="sng" algn="ctr">
                      <a:solidFill>
                        <a:srgbClr val="FFFDF5"/>
                      </a:solidFill>
                      <a:prstDash val="solid"/>
                      <a:round/>
                      <a:headEnd type="none" w="med" len="med"/>
                      <a:tailEnd type="none" w="med" len="med"/>
                    </a:lnL>
                    <a:lnR w="12700" cap="flat" cmpd="sng" algn="ctr">
                      <a:solidFill>
                        <a:srgbClr val="FFFDF5"/>
                      </a:solidFill>
                      <a:prstDash val="solid"/>
                      <a:round/>
                      <a:headEnd type="none" w="med" len="med"/>
                      <a:tailEnd type="none" w="med" len="med"/>
                    </a:lnR>
                    <a:lnT w="12700" cap="flat" cmpd="sng" algn="ctr">
                      <a:solidFill>
                        <a:srgbClr val="FFFDF5"/>
                      </a:solidFill>
                      <a:prstDash val="solid"/>
                      <a:round/>
                      <a:headEnd type="none" w="med" len="med"/>
                      <a:tailEnd type="none" w="med" len="med"/>
                    </a:lnT>
                    <a:lnB w="12700" cap="flat" cmpd="sng" algn="ctr">
                      <a:solidFill>
                        <a:srgbClr val="E3DDD0"/>
                      </a:solidFill>
                      <a:prstDash val="solid"/>
                      <a:round/>
                      <a:headEnd type="none" w="med" len="med"/>
                      <a:tailEnd type="none" w="med" len="med"/>
                    </a:lnB>
                    <a:solidFill>
                      <a:srgbClr val="FFFDF5"/>
                    </a:solidFill>
                  </a:tcPr>
                </a:tc>
              </a:tr>
              <a:tr h="565785">
                <a:tc>
                  <a:txBody>
                    <a:bodyPr/>
                    <a:lstStyle/>
                    <a:p>
                      <a:pPr algn="l" indent="0" marL="0">
                        <a:buNone/>
                      </a:pPr>
                      <a:r>
                        <a:rPr lang="en-US" sz="1400" dirty="0">
                          <a:solidFill>
                            <a:srgbClr val="202B22"/>
                          </a:solidFill>
                          <a:latin typeface="Calibri" pitchFamily="34" charset="0"/>
                          <a:ea typeface="Calibri" pitchFamily="34" charset="-122"/>
                          <a:cs typeface="Calibri" pitchFamily="34" charset="-120"/>
                        </a:rPr>
                        <a:t>Who checks the payroll</a:t>
                      </a:r>
                      <a:endParaRPr lang="en-US" sz="1400" dirty="0">
                        <a:latin typeface="Calibri" charset="0"/>
                        <a:ea typeface="Calibri" charset="0"/>
                        <a:cs typeface="Calibri" charset="0"/>
                      </a:endParaRPr>
                    </a:p>
                  </a:txBody>
                  <a:tcPr marL="101600" marR="101600" marT="88900" marB="88900" anchor="ctr">
                    <a:lnL w="12700" cap="flat" cmpd="sng" algn="ctr">
                      <a:solidFill>
                        <a:srgbClr val="FFFDF5"/>
                      </a:solidFill>
                      <a:prstDash val="solid"/>
                      <a:round/>
                      <a:headEnd type="none" w="med" len="med"/>
                      <a:tailEnd type="none" w="med" len="med"/>
                    </a:lnL>
                    <a:lnR w="12700" cap="flat" cmpd="sng" algn="ctr">
                      <a:solidFill>
                        <a:srgbClr val="FFFDF5"/>
                      </a:solidFill>
                      <a:prstDash val="solid"/>
                      <a:round/>
                      <a:headEnd type="none" w="med" len="med"/>
                      <a:tailEnd type="none" w="med" len="med"/>
                    </a:lnR>
                    <a:lnT w="12700" cap="flat" cmpd="sng" algn="ctr">
                      <a:solidFill>
                        <a:srgbClr val="FFFDF5"/>
                      </a:solidFill>
                      <a:prstDash val="solid"/>
                      <a:round/>
                      <a:headEnd type="none" w="med" len="med"/>
                      <a:tailEnd type="none" w="med" len="med"/>
                    </a:lnT>
                    <a:lnB w="12700" cap="flat" cmpd="sng" algn="ctr">
                      <a:solidFill>
                        <a:srgbClr val="E3DDD0"/>
                      </a:solidFill>
                      <a:prstDash val="solid"/>
                      <a:round/>
                      <a:headEnd type="none" w="med" len="med"/>
                      <a:tailEnd type="none" w="med" len="med"/>
                    </a:lnB>
                    <a:solidFill>
                      <a:srgbClr val="FFFDF5"/>
                    </a:solidFill>
                  </a:tcPr>
                </a:tc>
                <a:tc>
                  <a:txBody>
                    <a:bodyPr/>
                    <a:lstStyle/>
                    <a:p>
                      <a:pPr algn="l" indent="0" marL="0">
                        <a:buNone/>
                      </a:pPr>
                      <a:r>
                        <a:rPr lang="en-US" sz="1400" dirty="0">
                          <a:solidFill>
                            <a:srgbClr val="202B22"/>
                          </a:solidFill>
                          <a:latin typeface="Calibri" pitchFamily="34" charset="0"/>
                          <a:ea typeface="Calibri" pitchFamily="34" charset="-122"/>
                          <a:cs typeface="Calibri" pitchFamily="34" charset="-120"/>
                        </a:rPr>
                        <a:t>the employer, on its own data</a:t>
                      </a:r>
                      <a:endParaRPr lang="en-US" sz="1400" dirty="0">
                        <a:latin typeface="Calibri" charset="0"/>
                        <a:ea typeface="Calibri" charset="0"/>
                        <a:cs typeface="Calibri" charset="0"/>
                      </a:endParaRPr>
                    </a:p>
                  </a:txBody>
                  <a:tcPr marL="101600" marR="101600" marT="88900" marB="88900" anchor="ctr">
                    <a:lnL w="12700" cap="flat" cmpd="sng" algn="ctr">
                      <a:solidFill>
                        <a:srgbClr val="FFFDF5"/>
                      </a:solidFill>
                      <a:prstDash val="solid"/>
                      <a:round/>
                      <a:headEnd type="none" w="med" len="med"/>
                      <a:tailEnd type="none" w="med" len="med"/>
                    </a:lnL>
                    <a:lnR w="12700" cap="flat" cmpd="sng" algn="ctr">
                      <a:solidFill>
                        <a:srgbClr val="FFFDF5"/>
                      </a:solidFill>
                      <a:prstDash val="solid"/>
                      <a:round/>
                      <a:headEnd type="none" w="med" len="med"/>
                      <a:tailEnd type="none" w="med" len="med"/>
                    </a:lnR>
                    <a:lnT w="12700" cap="flat" cmpd="sng" algn="ctr">
                      <a:solidFill>
                        <a:srgbClr val="FFFDF5"/>
                      </a:solidFill>
                      <a:prstDash val="solid"/>
                      <a:round/>
                      <a:headEnd type="none" w="med" len="med"/>
                      <a:tailEnd type="none" w="med" len="med"/>
                    </a:lnT>
                    <a:lnB w="12700" cap="flat" cmpd="sng" algn="ctr">
                      <a:solidFill>
                        <a:srgbClr val="E3DDD0"/>
                      </a:solidFill>
                      <a:prstDash val="solid"/>
                      <a:round/>
                      <a:headEnd type="none" w="med" len="med"/>
                      <a:tailEnd type="none" w="med" len="med"/>
                    </a:lnB>
                    <a:solidFill>
                      <a:srgbClr val="FFFDF5"/>
                    </a:solidFill>
                  </a:tcPr>
                </a:tc>
                <a:tc>
                  <a:txBody>
                    <a:bodyPr/>
                    <a:lstStyle/>
                    <a:p>
                      <a:pPr algn="l" indent="0" marL="0">
                        <a:buNone/>
                      </a:pPr>
                      <a:r>
                        <a:rPr lang="en-US" sz="1400" b="1" dirty="0">
                          <a:solidFill>
                            <a:srgbClr val="202B22"/>
                          </a:solidFill>
                          <a:latin typeface="Calibri" pitchFamily="34" charset="0"/>
                          <a:ea typeface="Calibri" pitchFamily="34" charset="-122"/>
                          <a:cs typeface="Calibri" pitchFamily="34" charset="-120"/>
                        </a:rPr>
                        <a:t>the provider commits each row; the works council opens every one</a:t>
                      </a:r>
                      <a:endParaRPr lang="en-US" sz="1400" dirty="0">
                        <a:latin typeface="Calibri" charset="0"/>
                        <a:ea typeface="Calibri" charset="0"/>
                        <a:cs typeface="Calibri" charset="0"/>
                      </a:endParaRPr>
                    </a:p>
                  </a:txBody>
                  <a:tcPr marL="101600" marR="101600" marT="88900" marB="88900" anchor="ctr">
                    <a:lnL w="12700" cap="flat" cmpd="sng" algn="ctr">
                      <a:solidFill>
                        <a:srgbClr val="FFFDF5"/>
                      </a:solidFill>
                      <a:prstDash val="solid"/>
                      <a:round/>
                      <a:headEnd type="none" w="med" len="med"/>
                      <a:tailEnd type="none" w="med" len="med"/>
                    </a:lnL>
                    <a:lnR w="12700" cap="flat" cmpd="sng" algn="ctr">
                      <a:solidFill>
                        <a:srgbClr val="FFFDF5"/>
                      </a:solidFill>
                      <a:prstDash val="solid"/>
                      <a:round/>
                      <a:headEnd type="none" w="med" len="med"/>
                      <a:tailEnd type="none" w="med" len="med"/>
                    </a:lnR>
                    <a:lnT w="12700" cap="flat" cmpd="sng" algn="ctr">
                      <a:solidFill>
                        <a:srgbClr val="FFFDF5"/>
                      </a:solidFill>
                      <a:prstDash val="solid"/>
                      <a:round/>
                      <a:headEnd type="none" w="med" len="med"/>
                      <a:tailEnd type="none" w="med" len="med"/>
                    </a:lnT>
                    <a:lnB w="12700" cap="flat" cmpd="sng" algn="ctr">
                      <a:solidFill>
                        <a:srgbClr val="E3DDD0"/>
                      </a:solidFill>
                      <a:prstDash val="solid"/>
                      <a:round/>
                      <a:headEnd type="none" w="med" len="med"/>
                      <a:tailEnd type="none" w="med" len="med"/>
                    </a:lnB>
                    <a:solidFill>
                      <a:srgbClr val="FFFDF5"/>
                    </a:solidFill>
                  </a:tcPr>
                </a:tc>
              </a:tr>
              <a:tr h="565785">
                <a:tc>
                  <a:txBody>
                    <a:bodyPr/>
                    <a:lstStyle/>
                    <a:p>
                      <a:pPr algn="l" indent="0" marL="0">
                        <a:buNone/>
                      </a:pPr>
                      <a:r>
                        <a:rPr lang="en-US" sz="1400" dirty="0">
                          <a:solidFill>
                            <a:srgbClr val="202B22"/>
                          </a:solidFill>
                          <a:latin typeface="Calibri" pitchFamily="34" charset="0"/>
                          <a:ea typeface="Calibri" pitchFamily="34" charset="-122"/>
                          <a:cs typeface="Calibri" pitchFamily="34" charset="-120"/>
                        </a:rPr>
                        <a:t>A salary that is not payroll's</a:t>
                      </a:r>
                      <a:endParaRPr lang="en-US" sz="1400" dirty="0">
                        <a:latin typeface="Calibri" charset="0"/>
                        <a:ea typeface="Calibri" charset="0"/>
                        <a:cs typeface="Calibri" charset="0"/>
                      </a:endParaRPr>
                    </a:p>
                  </a:txBody>
                  <a:tcPr marL="101600" marR="101600" marT="88900" marB="88900" anchor="ctr">
                    <a:lnL w="12700" cap="flat" cmpd="sng" algn="ctr">
                      <a:solidFill>
                        <a:srgbClr val="FFFDF5"/>
                      </a:solidFill>
                      <a:prstDash val="solid"/>
                      <a:round/>
                      <a:headEnd type="none" w="med" len="med"/>
                      <a:tailEnd type="none" w="med" len="med"/>
                    </a:lnL>
                    <a:lnR w="12700" cap="flat" cmpd="sng" algn="ctr">
                      <a:solidFill>
                        <a:srgbClr val="FFFDF5"/>
                      </a:solidFill>
                      <a:prstDash val="solid"/>
                      <a:round/>
                      <a:headEnd type="none" w="med" len="med"/>
                      <a:tailEnd type="none" w="med" len="med"/>
                    </a:lnR>
                    <a:lnT w="12700" cap="flat" cmpd="sng" algn="ctr">
                      <a:solidFill>
                        <a:srgbClr val="FFFDF5"/>
                      </a:solidFill>
                      <a:prstDash val="solid"/>
                      <a:round/>
                      <a:headEnd type="none" w="med" len="med"/>
                      <a:tailEnd type="none" w="med" len="med"/>
                    </a:lnT>
                    <a:lnB w="12700" cap="flat" cmpd="sng" algn="ctr">
                      <a:solidFill>
                        <a:srgbClr val="E3DDD0"/>
                      </a:solidFill>
                      <a:prstDash val="solid"/>
                      <a:round/>
                      <a:headEnd type="none" w="med" len="med"/>
                      <a:tailEnd type="none" w="med" len="med"/>
                    </a:lnB>
                    <a:solidFill>
                      <a:srgbClr val="FFFDF5"/>
                    </a:solidFill>
                  </a:tcPr>
                </a:tc>
                <a:tc>
                  <a:txBody>
                    <a:bodyPr/>
                    <a:lstStyle/>
                    <a:p>
                      <a:pPr algn="l" indent="0" marL="0">
                        <a:buNone/>
                      </a:pPr>
                      <a:r>
                        <a:rPr lang="en-US" sz="1400" dirty="0">
                          <a:solidFill>
                            <a:srgbClr val="202B22"/>
                          </a:solidFill>
                          <a:latin typeface="Calibri" pitchFamily="34" charset="0"/>
                          <a:ea typeface="Calibri" pitchFamily="34" charset="-122"/>
                          <a:cs typeface="Calibri" pitchFamily="34" charset="-120"/>
                        </a:rPr>
                        <a:t>the employer could vouch for it</a:t>
                      </a:r>
                      <a:endParaRPr lang="en-US" sz="1400" dirty="0">
                        <a:latin typeface="Calibri" charset="0"/>
                        <a:ea typeface="Calibri" charset="0"/>
                        <a:cs typeface="Calibri" charset="0"/>
                      </a:endParaRPr>
                    </a:p>
                  </a:txBody>
                  <a:tcPr marL="101600" marR="101600" marT="88900" marB="88900" anchor="ctr">
                    <a:lnL w="12700" cap="flat" cmpd="sng" algn="ctr">
                      <a:solidFill>
                        <a:srgbClr val="FFFDF5"/>
                      </a:solidFill>
                      <a:prstDash val="solid"/>
                      <a:round/>
                      <a:headEnd type="none" w="med" len="med"/>
                      <a:tailEnd type="none" w="med" len="med"/>
                    </a:lnL>
                    <a:lnR w="12700" cap="flat" cmpd="sng" algn="ctr">
                      <a:solidFill>
                        <a:srgbClr val="FFFDF5"/>
                      </a:solidFill>
                      <a:prstDash val="solid"/>
                      <a:round/>
                      <a:headEnd type="none" w="med" len="med"/>
                      <a:tailEnd type="none" w="med" len="med"/>
                    </a:lnR>
                    <a:lnT w="12700" cap="flat" cmpd="sng" algn="ctr">
                      <a:solidFill>
                        <a:srgbClr val="FFFDF5"/>
                      </a:solidFill>
                      <a:prstDash val="solid"/>
                      <a:round/>
                      <a:headEnd type="none" w="med" len="med"/>
                      <a:tailEnd type="none" w="med" len="med"/>
                    </a:lnT>
                    <a:lnB w="12700" cap="flat" cmpd="sng" algn="ctr">
                      <a:solidFill>
                        <a:srgbClr val="E3DDD0"/>
                      </a:solidFill>
                      <a:prstDash val="solid"/>
                      <a:round/>
                      <a:headEnd type="none" w="med" len="med"/>
                      <a:tailEnd type="none" w="med" len="med"/>
                    </a:lnB>
                    <a:solidFill>
                      <a:srgbClr val="FFFDF5"/>
                    </a:solidFill>
                  </a:tcPr>
                </a:tc>
                <a:tc>
                  <a:txBody>
                    <a:bodyPr/>
                    <a:lstStyle/>
                    <a:p>
                      <a:pPr algn="l" indent="0" marL="0">
                        <a:buNone/>
                      </a:pPr>
                      <a:r>
                        <a:rPr lang="en-US" sz="1400" b="1" dirty="0">
                          <a:solidFill>
                            <a:srgbClr val="202B22"/>
                          </a:solidFill>
                          <a:latin typeface="Calibri" pitchFamily="34" charset="0"/>
                          <a:ea typeface="Calibri" pitchFamily="34" charset="-122"/>
                          <a:cs typeface="Calibri" pitchFamily="34" charset="-120"/>
                        </a:rPr>
                        <a:t>rejected — the record must open an unclaimed payroll row</a:t>
                      </a:r>
                      <a:endParaRPr lang="en-US" sz="1400" dirty="0">
                        <a:latin typeface="Calibri" charset="0"/>
                        <a:ea typeface="Calibri" charset="0"/>
                        <a:cs typeface="Calibri" charset="0"/>
                      </a:endParaRPr>
                    </a:p>
                  </a:txBody>
                  <a:tcPr marL="101600" marR="101600" marT="88900" marB="88900" anchor="ctr">
                    <a:lnL w="12700" cap="flat" cmpd="sng" algn="ctr">
                      <a:solidFill>
                        <a:srgbClr val="FFFDF5"/>
                      </a:solidFill>
                      <a:prstDash val="solid"/>
                      <a:round/>
                      <a:headEnd type="none" w="med" len="med"/>
                      <a:tailEnd type="none" w="med" len="med"/>
                    </a:lnL>
                    <a:lnR w="12700" cap="flat" cmpd="sng" algn="ctr">
                      <a:solidFill>
                        <a:srgbClr val="FFFDF5"/>
                      </a:solidFill>
                      <a:prstDash val="solid"/>
                      <a:round/>
                      <a:headEnd type="none" w="med" len="med"/>
                      <a:tailEnd type="none" w="med" len="med"/>
                    </a:lnR>
                    <a:lnT w="12700" cap="flat" cmpd="sng" algn="ctr">
                      <a:solidFill>
                        <a:srgbClr val="FFFDF5"/>
                      </a:solidFill>
                      <a:prstDash val="solid"/>
                      <a:round/>
                      <a:headEnd type="none" w="med" len="med"/>
                      <a:tailEnd type="none" w="med" len="med"/>
                    </a:lnT>
                    <a:lnB w="12700" cap="flat" cmpd="sng" algn="ctr">
                      <a:solidFill>
                        <a:srgbClr val="E3DDD0"/>
                      </a:solidFill>
                      <a:prstDash val="solid"/>
                      <a:round/>
                      <a:headEnd type="none" w="med" len="med"/>
                      <a:tailEnd type="none" w="med" len="med"/>
                    </a:lnB>
                    <a:solidFill>
                      <a:srgbClr val="FFFDF5"/>
                    </a:solidFill>
                  </a:tcPr>
                </a:tc>
              </a:tr>
              <a:tr h="565785">
                <a:tc>
                  <a:txBody>
                    <a:bodyPr/>
                    <a:lstStyle/>
                    <a:p>
                      <a:pPr algn="l" indent="0" marL="0">
                        <a:buNone/>
                      </a:pPr>
                      <a:r>
                        <a:rPr lang="en-US" sz="1400" dirty="0">
                          <a:solidFill>
                            <a:srgbClr val="202B22"/>
                          </a:solidFill>
                          <a:latin typeface="Calibri" pitchFamily="34" charset="0"/>
                          <a:ea typeface="Calibri" pitchFamily="34" charset="-122"/>
                          <a:cs typeface="Calibri" pitchFamily="34" charset="-120"/>
                        </a:rPr>
                        <a:t>Figures proven</a:t>
                      </a:r>
                      <a:endParaRPr lang="en-US" sz="1400" dirty="0">
                        <a:latin typeface="Calibri" charset="0"/>
                        <a:ea typeface="Calibri" charset="0"/>
                        <a:cs typeface="Calibri" charset="0"/>
                      </a:endParaRPr>
                    </a:p>
                  </a:txBody>
                  <a:tcPr marL="101600" marR="101600" marT="88900" marB="88900" anchor="ctr">
                    <a:lnL w="12700" cap="flat" cmpd="sng" algn="ctr">
                      <a:solidFill>
                        <a:srgbClr val="FFFDF5"/>
                      </a:solidFill>
                      <a:prstDash val="solid"/>
                      <a:round/>
                      <a:headEnd type="none" w="med" len="med"/>
                      <a:tailEnd type="none" w="med" len="med"/>
                    </a:lnL>
                    <a:lnR w="12700" cap="flat" cmpd="sng" algn="ctr">
                      <a:solidFill>
                        <a:srgbClr val="FFFDF5"/>
                      </a:solidFill>
                      <a:prstDash val="solid"/>
                      <a:round/>
                      <a:headEnd type="none" w="med" len="med"/>
                      <a:tailEnd type="none" w="med" len="med"/>
                    </a:lnR>
                    <a:lnT w="12700" cap="flat" cmpd="sng" algn="ctr">
                      <a:solidFill>
                        <a:srgbClr val="FFFDF5"/>
                      </a:solidFill>
                      <a:prstDash val="solid"/>
                      <a:round/>
                      <a:headEnd type="none" w="med" len="med"/>
                      <a:tailEnd type="none" w="med" len="med"/>
                    </a:lnT>
                    <a:lnB w="12700" cap="flat" cmpd="sng" algn="ctr">
                      <a:solidFill>
                        <a:srgbClr val="E3DDD0"/>
                      </a:solidFill>
                      <a:prstDash val="solid"/>
                      <a:round/>
                      <a:headEnd type="none" w="med" len="med"/>
                      <a:tailEnd type="none" w="med" len="med"/>
                    </a:lnB>
                    <a:solidFill>
                      <a:srgbClr val="FFFDF5"/>
                    </a:solidFill>
                  </a:tcPr>
                </a:tc>
                <a:tc>
                  <a:txBody>
                    <a:bodyPr/>
                    <a:lstStyle/>
                    <a:p>
                      <a:pPr algn="l" indent="0" marL="0">
                        <a:buNone/>
                      </a:pPr>
                      <a:r>
                        <a:rPr lang="en-US" sz="1400" dirty="0">
                          <a:solidFill>
                            <a:srgbClr val="202B22"/>
                          </a:solidFill>
                          <a:latin typeface="Calibri" pitchFamily="34" charset="0"/>
                          <a:ea typeface="Calibri" pitchFamily="34" charset="-122"/>
                          <a:cs typeface="Calibri" pitchFamily="34" charset="-120"/>
                        </a:rPr>
                        <a:t>the mean gap</a:t>
                      </a:r>
                      <a:endParaRPr lang="en-US" sz="1400" dirty="0">
                        <a:latin typeface="Calibri" charset="0"/>
                        <a:ea typeface="Calibri" charset="0"/>
                        <a:cs typeface="Calibri" charset="0"/>
                      </a:endParaRPr>
                    </a:p>
                  </a:txBody>
                  <a:tcPr marL="101600" marR="101600" marT="88900" marB="88900" anchor="ctr">
                    <a:lnL w="12700" cap="flat" cmpd="sng" algn="ctr">
                      <a:solidFill>
                        <a:srgbClr val="FFFDF5"/>
                      </a:solidFill>
                      <a:prstDash val="solid"/>
                      <a:round/>
                      <a:headEnd type="none" w="med" len="med"/>
                      <a:tailEnd type="none" w="med" len="med"/>
                    </a:lnL>
                    <a:lnR w="12700" cap="flat" cmpd="sng" algn="ctr">
                      <a:solidFill>
                        <a:srgbClr val="FFFDF5"/>
                      </a:solidFill>
                      <a:prstDash val="solid"/>
                      <a:round/>
                      <a:headEnd type="none" w="med" len="med"/>
                      <a:tailEnd type="none" w="med" len="med"/>
                    </a:lnR>
                    <a:lnT w="12700" cap="flat" cmpd="sng" algn="ctr">
                      <a:solidFill>
                        <a:srgbClr val="FFFDF5"/>
                      </a:solidFill>
                      <a:prstDash val="solid"/>
                      <a:round/>
                      <a:headEnd type="none" w="med" len="med"/>
                      <a:tailEnd type="none" w="med" len="med"/>
                    </a:lnT>
                    <a:lnB w="12700" cap="flat" cmpd="sng" algn="ctr">
                      <a:solidFill>
                        <a:srgbClr val="E3DDD0"/>
                      </a:solidFill>
                      <a:prstDash val="solid"/>
                      <a:round/>
                      <a:headEnd type="none" w="med" len="med"/>
                      <a:tailEnd type="none" w="med" len="med"/>
                    </a:lnB>
                    <a:solidFill>
                      <a:srgbClr val="FFFDF5"/>
                    </a:solidFill>
                  </a:tcPr>
                </a:tc>
                <a:tc>
                  <a:txBody>
                    <a:bodyPr/>
                    <a:lstStyle/>
                    <a:p>
                      <a:pPr algn="l" indent="0" marL="0">
                        <a:buNone/>
                      </a:pPr>
                      <a:r>
                        <a:rPr lang="en-US" sz="1400" b="1" dirty="0">
                          <a:solidFill>
                            <a:srgbClr val="202B22"/>
                          </a:solidFill>
                          <a:latin typeface="Calibri" pitchFamily="34" charset="0"/>
                          <a:ea typeface="Calibri" pitchFamily="34" charset="-122"/>
                          <a:cs typeface="Calibri" pitchFamily="34" charset="-120"/>
                        </a:rPr>
                        <a:t>all seven Article 9 indicators, including variable pay and quartiles</a:t>
                      </a:r>
                      <a:endParaRPr lang="en-US" sz="1400" dirty="0">
                        <a:latin typeface="Calibri" charset="0"/>
                        <a:ea typeface="Calibri" charset="0"/>
                        <a:cs typeface="Calibri" charset="0"/>
                      </a:endParaRPr>
                    </a:p>
                  </a:txBody>
                  <a:tcPr marL="101600" marR="101600" marT="88900" marB="88900" anchor="ctr">
                    <a:lnL w="12700" cap="flat" cmpd="sng" algn="ctr">
                      <a:solidFill>
                        <a:srgbClr val="FFFDF5"/>
                      </a:solidFill>
                      <a:prstDash val="solid"/>
                      <a:round/>
                      <a:headEnd type="none" w="med" len="med"/>
                      <a:tailEnd type="none" w="med" len="med"/>
                    </a:lnL>
                    <a:lnR w="12700" cap="flat" cmpd="sng" algn="ctr">
                      <a:solidFill>
                        <a:srgbClr val="FFFDF5"/>
                      </a:solidFill>
                      <a:prstDash val="solid"/>
                      <a:round/>
                      <a:headEnd type="none" w="med" len="med"/>
                      <a:tailEnd type="none" w="med" len="med"/>
                    </a:lnR>
                    <a:lnT w="12700" cap="flat" cmpd="sng" algn="ctr">
                      <a:solidFill>
                        <a:srgbClr val="FFFDF5"/>
                      </a:solidFill>
                      <a:prstDash val="solid"/>
                      <a:round/>
                      <a:headEnd type="none" w="med" len="med"/>
                      <a:tailEnd type="none" w="med" len="med"/>
                    </a:lnT>
                    <a:lnB w="12700" cap="flat" cmpd="sng" algn="ctr">
                      <a:solidFill>
                        <a:srgbClr val="E3DDD0"/>
                      </a:solidFill>
                      <a:prstDash val="solid"/>
                      <a:round/>
                      <a:headEnd type="none" w="med" len="med"/>
                      <a:tailEnd type="none" w="med" len="med"/>
                    </a:lnB>
                    <a:solidFill>
                      <a:srgbClr val="FFFDF5"/>
                    </a:solidFill>
                  </a:tcPr>
                </a:tc>
              </a:tr>
              <a:tr h="565785">
                <a:tc>
                  <a:txBody>
                    <a:bodyPr/>
                    <a:lstStyle/>
                    <a:p>
                      <a:pPr algn="l" indent="0" marL="0">
                        <a:buNone/>
                      </a:pPr>
                      <a:r>
                        <a:rPr lang="en-US" sz="1400" dirty="0">
                          <a:solidFill>
                            <a:srgbClr val="202B22"/>
                          </a:solidFill>
                          <a:latin typeface="Calibri" pitchFamily="34" charset="0"/>
                          <a:ea typeface="Calibri" pitchFamily="34" charset="-122"/>
                          <a:cs typeface="Calibri" pitchFamily="34" charset="-120"/>
                        </a:rPr>
                        <a:t>Small groups</a:t>
                      </a:r>
                      <a:endParaRPr lang="en-US" sz="1400" dirty="0">
                        <a:latin typeface="Calibri" charset="0"/>
                        <a:ea typeface="Calibri" charset="0"/>
                        <a:cs typeface="Calibri" charset="0"/>
                      </a:endParaRPr>
                    </a:p>
                  </a:txBody>
                  <a:tcPr marL="101600" marR="101600" marT="88900" marB="88900" anchor="ctr">
                    <a:lnL w="12700" cap="flat" cmpd="sng" algn="ctr">
                      <a:solidFill>
                        <a:srgbClr val="FFFDF5"/>
                      </a:solidFill>
                      <a:prstDash val="solid"/>
                      <a:round/>
                      <a:headEnd type="none" w="med" len="med"/>
                      <a:tailEnd type="none" w="med" len="med"/>
                    </a:lnL>
                    <a:lnR w="12700" cap="flat" cmpd="sng" algn="ctr">
                      <a:solidFill>
                        <a:srgbClr val="FFFDF5"/>
                      </a:solidFill>
                      <a:prstDash val="solid"/>
                      <a:round/>
                      <a:headEnd type="none" w="med" len="med"/>
                      <a:tailEnd type="none" w="med" len="med"/>
                    </a:lnR>
                    <a:lnT w="12700" cap="flat" cmpd="sng" algn="ctr">
                      <a:solidFill>
                        <a:srgbClr val="FFFDF5"/>
                      </a:solidFill>
                      <a:prstDash val="solid"/>
                      <a:round/>
                      <a:headEnd type="none" w="med" len="med"/>
                      <a:tailEnd type="none" w="med" len="med"/>
                    </a:lnT>
                    <a:lnB w="12700" cap="flat" cmpd="sng" algn="ctr">
                      <a:solidFill>
                        <a:srgbClr val="E3DDD0"/>
                      </a:solidFill>
                      <a:prstDash val="solid"/>
                      <a:round/>
                      <a:headEnd type="none" w="med" len="med"/>
                      <a:tailEnd type="none" w="med" len="med"/>
                    </a:lnB>
                    <a:solidFill>
                      <a:srgbClr val="FFFDF5"/>
                    </a:solidFill>
                  </a:tcPr>
                </a:tc>
                <a:tc>
                  <a:txBody>
                    <a:bodyPr/>
                    <a:lstStyle/>
                    <a:p>
                      <a:pPr algn="l" indent="0" marL="0">
                        <a:buNone/>
                      </a:pPr>
                      <a:r>
                        <a:rPr lang="en-US" sz="1400" dirty="0">
                          <a:solidFill>
                            <a:srgbClr val="202B22"/>
                          </a:solidFill>
                          <a:latin typeface="Calibri" pitchFamily="34" charset="0"/>
                          <a:ea typeface="Calibri" pitchFamily="34" charset="-122"/>
                          <a:cs typeface="Calibri" pitchFamily="34" charset="-120"/>
                        </a:rPr>
                        <a:t>designed</a:t>
                      </a:r>
                      <a:endParaRPr lang="en-US" sz="1400" dirty="0">
                        <a:latin typeface="Calibri" charset="0"/>
                        <a:ea typeface="Calibri" charset="0"/>
                        <a:cs typeface="Calibri" charset="0"/>
                      </a:endParaRPr>
                    </a:p>
                  </a:txBody>
                  <a:tcPr marL="101600" marR="101600" marT="88900" marB="88900" anchor="ctr">
                    <a:lnL w="12700" cap="flat" cmpd="sng" algn="ctr">
                      <a:solidFill>
                        <a:srgbClr val="FFFDF5"/>
                      </a:solidFill>
                      <a:prstDash val="solid"/>
                      <a:round/>
                      <a:headEnd type="none" w="med" len="med"/>
                      <a:tailEnd type="none" w="med" len="med"/>
                    </a:lnL>
                    <a:lnR w="12700" cap="flat" cmpd="sng" algn="ctr">
                      <a:solidFill>
                        <a:srgbClr val="FFFDF5"/>
                      </a:solidFill>
                      <a:prstDash val="solid"/>
                      <a:round/>
                      <a:headEnd type="none" w="med" len="med"/>
                      <a:tailEnd type="none" w="med" len="med"/>
                    </a:lnR>
                    <a:lnT w="12700" cap="flat" cmpd="sng" algn="ctr">
                      <a:solidFill>
                        <a:srgbClr val="FFFDF5"/>
                      </a:solidFill>
                      <a:prstDash val="solid"/>
                      <a:round/>
                      <a:headEnd type="none" w="med" len="med"/>
                      <a:tailEnd type="none" w="med" len="med"/>
                    </a:lnT>
                    <a:lnB w="12700" cap="flat" cmpd="sng" algn="ctr">
                      <a:solidFill>
                        <a:srgbClr val="E3DDD0"/>
                      </a:solidFill>
                      <a:prstDash val="solid"/>
                      <a:round/>
                      <a:headEnd type="none" w="med" len="med"/>
                      <a:tailEnd type="none" w="med" len="med"/>
                    </a:lnB>
                    <a:solidFill>
                      <a:srgbClr val="FFFDF5"/>
                    </a:solidFill>
                  </a:tcPr>
                </a:tc>
                <a:tc>
                  <a:txBody>
                    <a:bodyPr/>
                    <a:lstStyle/>
                    <a:p>
                      <a:pPr algn="l" indent="0" marL="0">
                        <a:buNone/>
                      </a:pPr>
                      <a:r>
                        <a:rPr lang="en-US" sz="1400" b="1" dirty="0">
                          <a:solidFill>
                            <a:srgbClr val="202B22"/>
                          </a:solidFill>
                          <a:latin typeface="Calibri" pitchFamily="34" charset="0"/>
                          <a:ea typeface="Calibri" pitchFamily="34" charset="-122"/>
                          <a:cs typeface="Calibri" pitchFamily="34" charset="-120"/>
                        </a:rPr>
                        <a:t>published only at k = 3; smaller groups stay suppressed</a:t>
                      </a:r>
                      <a:endParaRPr lang="en-US" sz="1400" dirty="0">
                        <a:latin typeface="Calibri" charset="0"/>
                        <a:ea typeface="Calibri" charset="0"/>
                        <a:cs typeface="Calibri" charset="0"/>
                      </a:endParaRPr>
                    </a:p>
                  </a:txBody>
                  <a:tcPr marL="101600" marR="101600" marT="88900" marB="88900" anchor="ctr">
                    <a:lnL w="12700" cap="flat" cmpd="sng" algn="ctr">
                      <a:solidFill>
                        <a:srgbClr val="FFFDF5"/>
                      </a:solidFill>
                      <a:prstDash val="solid"/>
                      <a:round/>
                      <a:headEnd type="none" w="med" len="med"/>
                      <a:tailEnd type="none" w="med" len="med"/>
                    </a:lnL>
                    <a:lnR w="12700" cap="flat" cmpd="sng" algn="ctr">
                      <a:solidFill>
                        <a:srgbClr val="FFFDF5"/>
                      </a:solidFill>
                      <a:prstDash val="solid"/>
                      <a:round/>
                      <a:headEnd type="none" w="med" len="med"/>
                      <a:tailEnd type="none" w="med" len="med"/>
                    </a:lnR>
                    <a:lnT w="12700" cap="flat" cmpd="sng" algn="ctr">
                      <a:solidFill>
                        <a:srgbClr val="FFFDF5"/>
                      </a:solidFill>
                      <a:prstDash val="solid"/>
                      <a:round/>
                      <a:headEnd type="none" w="med" len="med"/>
                      <a:tailEnd type="none" w="med" len="med"/>
                    </a:lnT>
                    <a:lnB w="12700" cap="flat" cmpd="sng" algn="ctr">
                      <a:solidFill>
                        <a:srgbClr val="E3DDD0"/>
                      </a:solidFill>
                      <a:prstDash val="solid"/>
                      <a:round/>
                      <a:headEnd type="none" w="med" len="med"/>
                      <a:tailEnd type="none" w="med" len="med"/>
                    </a:lnB>
                    <a:solidFill>
                      <a:srgbClr val="FFFDF5"/>
                    </a:solidFill>
                  </a:tcPr>
                </a:tc>
              </a:tr>
              <a:tr h="565785">
                <a:tc>
                  <a:txBody>
                    <a:bodyPr/>
                    <a:lstStyle/>
                    <a:p>
                      <a:pPr algn="l" indent="0" marL="0">
                        <a:buNone/>
                      </a:pPr>
                      <a:r>
                        <a:rPr lang="en-US" sz="1400" dirty="0">
                          <a:solidFill>
                            <a:srgbClr val="202B22"/>
                          </a:solidFill>
                          <a:latin typeface="Calibri" pitchFamily="34" charset="0"/>
                          <a:ea typeface="Calibri" pitchFamily="34" charset="-122"/>
                          <a:cs typeface="Calibri" pitchFamily="34" charset="-120"/>
                        </a:rPr>
                        <a:t>Where the proof ran</a:t>
                      </a:r>
                      <a:endParaRPr lang="en-US" sz="1400" dirty="0">
                        <a:latin typeface="Calibri" charset="0"/>
                        <a:ea typeface="Calibri" charset="0"/>
                        <a:cs typeface="Calibri" charset="0"/>
                      </a:endParaRPr>
                    </a:p>
                  </a:txBody>
                  <a:tcPr marL="101600" marR="101600" marT="88900" marB="88900" anchor="ctr">
                    <a:lnL w="12700" cap="flat" cmpd="sng" algn="ctr">
                      <a:solidFill>
                        <a:srgbClr val="FFFDF5"/>
                      </a:solidFill>
                      <a:prstDash val="solid"/>
                      <a:round/>
                      <a:headEnd type="none" w="med" len="med"/>
                      <a:tailEnd type="none" w="med" len="med"/>
                    </a:lnL>
                    <a:lnR w="12700" cap="flat" cmpd="sng" algn="ctr">
                      <a:solidFill>
                        <a:srgbClr val="FFFDF5"/>
                      </a:solidFill>
                      <a:prstDash val="solid"/>
                      <a:round/>
                      <a:headEnd type="none" w="med" len="med"/>
                      <a:tailEnd type="none" w="med" len="med"/>
                    </a:lnR>
                    <a:lnT w="12700" cap="flat" cmpd="sng" algn="ctr">
                      <a:solidFill>
                        <a:srgbClr val="FFFDF5"/>
                      </a:solidFill>
                      <a:prstDash val="solid"/>
                      <a:round/>
                      <a:headEnd type="none" w="med" len="med"/>
                      <a:tailEnd type="none" w="med" len="med"/>
                    </a:lnT>
                    <a:lnB w="12700" cap="flat" cmpd="sng" algn="ctr">
                      <a:solidFill>
                        <a:srgbClr val="E3DDD0"/>
                      </a:solidFill>
                      <a:prstDash val="solid"/>
                      <a:round/>
                      <a:headEnd type="none" w="med" len="med"/>
                      <a:tailEnd type="none" w="med" len="med"/>
                    </a:lnB>
                    <a:solidFill>
                      <a:srgbClr val="FFFDF5"/>
                    </a:solidFill>
                  </a:tcPr>
                </a:tc>
                <a:tc>
                  <a:txBody>
                    <a:bodyPr/>
                    <a:lstStyle/>
                    <a:p>
                      <a:pPr algn="l" indent="0" marL="0">
                        <a:buNone/>
                      </a:pPr>
                      <a:r>
                        <a:rPr lang="en-US" sz="1400" dirty="0">
                          <a:solidFill>
                            <a:srgbClr val="202B22"/>
                          </a:solidFill>
                          <a:latin typeface="Calibri" pitchFamily="34" charset="0"/>
                          <a:ea typeface="Calibri" pitchFamily="34" charset="-122"/>
                          <a:cs typeface="Calibri" pitchFamily="34" charset="-120"/>
                        </a:rPr>
                        <a:t>a local Midnight node</a:t>
                      </a:r>
                      <a:endParaRPr lang="en-US" sz="1400" dirty="0">
                        <a:latin typeface="Calibri" charset="0"/>
                        <a:ea typeface="Calibri" charset="0"/>
                        <a:cs typeface="Calibri" charset="0"/>
                      </a:endParaRPr>
                    </a:p>
                  </a:txBody>
                  <a:tcPr marL="101600" marR="101600" marT="88900" marB="88900" anchor="ctr">
                    <a:lnL w="12700" cap="flat" cmpd="sng" algn="ctr">
                      <a:solidFill>
                        <a:srgbClr val="FFFDF5"/>
                      </a:solidFill>
                      <a:prstDash val="solid"/>
                      <a:round/>
                      <a:headEnd type="none" w="med" len="med"/>
                      <a:tailEnd type="none" w="med" len="med"/>
                    </a:lnL>
                    <a:lnR w="12700" cap="flat" cmpd="sng" algn="ctr">
                      <a:solidFill>
                        <a:srgbClr val="FFFDF5"/>
                      </a:solidFill>
                      <a:prstDash val="solid"/>
                      <a:round/>
                      <a:headEnd type="none" w="med" len="med"/>
                      <a:tailEnd type="none" w="med" len="med"/>
                    </a:lnR>
                    <a:lnT w="12700" cap="flat" cmpd="sng" algn="ctr">
                      <a:solidFill>
                        <a:srgbClr val="FFFDF5"/>
                      </a:solidFill>
                      <a:prstDash val="solid"/>
                      <a:round/>
                      <a:headEnd type="none" w="med" len="med"/>
                      <a:tailEnd type="none" w="med" len="med"/>
                    </a:lnT>
                    <a:lnB w="12700" cap="flat" cmpd="sng" algn="ctr">
                      <a:solidFill>
                        <a:srgbClr val="E3DDD0"/>
                      </a:solidFill>
                      <a:prstDash val="solid"/>
                      <a:round/>
                      <a:headEnd type="none" w="med" len="med"/>
                      <a:tailEnd type="none" w="med" len="med"/>
                    </a:lnB>
                    <a:solidFill>
                      <a:srgbClr val="FFFDF5"/>
                    </a:solidFill>
                  </a:tcPr>
                </a:tc>
                <a:tc>
                  <a:txBody>
                    <a:bodyPr/>
                    <a:lstStyle/>
                    <a:p>
                      <a:pPr algn="l" indent="0" marL="0">
                        <a:buNone/>
                      </a:pPr>
                      <a:r>
                        <a:rPr lang="en-US" sz="1400" b="1" dirty="0">
                          <a:solidFill>
                            <a:srgbClr val="202B22"/>
                          </a:solidFill>
                          <a:latin typeface="Calibri" pitchFamily="34" charset="0"/>
                          <a:ea typeface="Calibri" pitchFamily="34" charset="-122"/>
                          <a:cs typeface="Calibri" pitchFamily="34" charset="-120"/>
                        </a:rPr>
                        <a:t>Midnight preprod, blocks 2,787,450–2,787,556</a:t>
                      </a:r>
                      <a:endParaRPr lang="en-US" sz="1400" dirty="0">
                        <a:latin typeface="Calibri" charset="0"/>
                        <a:ea typeface="Calibri" charset="0"/>
                        <a:cs typeface="Calibri" charset="0"/>
                      </a:endParaRPr>
                    </a:p>
                  </a:txBody>
                  <a:tcPr marL="101600" marR="101600" marT="88900" marB="88900" anchor="ctr">
                    <a:lnL w="12700" cap="flat" cmpd="sng" algn="ctr">
                      <a:solidFill>
                        <a:srgbClr val="FFFDF5"/>
                      </a:solidFill>
                      <a:prstDash val="solid"/>
                      <a:round/>
                      <a:headEnd type="none" w="med" len="med"/>
                      <a:tailEnd type="none" w="med" len="med"/>
                    </a:lnL>
                    <a:lnR w="12700" cap="flat" cmpd="sng" algn="ctr">
                      <a:solidFill>
                        <a:srgbClr val="FFFDF5"/>
                      </a:solidFill>
                      <a:prstDash val="solid"/>
                      <a:round/>
                      <a:headEnd type="none" w="med" len="med"/>
                      <a:tailEnd type="none" w="med" len="med"/>
                    </a:lnR>
                    <a:lnT w="12700" cap="flat" cmpd="sng" algn="ctr">
                      <a:solidFill>
                        <a:srgbClr val="FFFDF5"/>
                      </a:solidFill>
                      <a:prstDash val="solid"/>
                      <a:round/>
                      <a:headEnd type="none" w="med" len="med"/>
                      <a:tailEnd type="none" w="med" len="med"/>
                    </a:lnT>
                    <a:lnB w="12700" cap="flat" cmpd="sng" algn="ctr">
                      <a:solidFill>
                        <a:srgbClr val="E3DDD0"/>
                      </a:solidFill>
                      <a:prstDash val="solid"/>
                      <a:round/>
                      <a:headEnd type="none" w="med" len="med"/>
                      <a:tailEnd type="none" w="med" len="med"/>
                    </a:lnB>
                    <a:solidFill>
                      <a:srgbClr val="FFFDF5"/>
                    </a:solidFill>
                  </a:tcPr>
                </a:tc>
              </a:tr>
              <a:tr h="565785">
                <a:tc>
                  <a:txBody>
                    <a:bodyPr/>
                    <a:lstStyle/>
                    <a:p>
                      <a:pPr algn="l" indent="0" marL="0">
                        <a:buNone/>
                      </a:pPr>
                      <a:r>
                        <a:rPr lang="en-US" sz="1400" dirty="0">
                          <a:solidFill>
                            <a:srgbClr val="202B22"/>
                          </a:solidFill>
                          <a:latin typeface="Calibri" pitchFamily="34" charset="0"/>
                          <a:ea typeface="Calibri" pitchFamily="34" charset="-122"/>
                          <a:cs typeface="Calibri" pitchFamily="34" charset="-120"/>
                        </a:rPr>
                        <a:t>What a judge can open</a:t>
                      </a:r>
                      <a:endParaRPr lang="en-US" sz="1400" dirty="0">
                        <a:latin typeface="Calibri" charset="0"/>
                        <a:ea typeface="Calibri" charset="0"/>
                        <a:cs typeface="Calibri" charset="0"/>
                      </a:endParaRPr>
                    </a:p>
                  </a:txBody>
                  <a:tcPr marL="101600" marR="101600" marT="88900" marB="88900" anchor="ctr">
                    <a:lnL w="12700" cap="flat" cmpd="sng" algn="ctr">
                      <a:solidFill>
                        <a:srgbClr val="FFFDF5"/>
                      </a:solidFill>
                      <a:prstDash val="solid"/>
                      <a:round/>
                      <a:headEnd type="none" w="med" len="med"/>
                      <a:tailEnd type="none" w="med" len="med"/>
                    </a:lnL>
                    <a:lnR w="12700" cap="flat" cmpd="sng" algn="ctr">
                      <a:solidFill>
                        <a:srgbClr val="FFFDF5"/>
                      </a:solidFill>
                      <a:prstDash val="solid"/>
                      <a:round/>
                      <a:headEnd type="none" w="med" len="med"/>
                      <a:tailEnd type="none" w="med" len="med"/>
                    </a:lnR>
                    <a:lnT w="12700" cap="flat" cmpd="sng" algn="ctr">
                      <a:solidFill>
                        <a:srgbClr val="FFFDF5"/>
                      </a:solidFill>
                      <a:prstDash val="solid"/>
                      <a:round/>
                      <a:headEnd type="none" w="med" len="med"/>
                      <a:tailEnd type="none" w="med" len="med"/>
                    </a:lnT>
                    <a:lnB w="12700" cap="flat" cmpd="sng" algn="ctr">
                      <a:solidFill>
                        <a:srgbClr val="E3DDD0"/>
                      </a:solidFill>
                      <a:prstDash val="solid"/>
                      <a:round/>
                      <a:headEnd type="none" w="med" len="med"/>
                      <a:tailEnd type="none" w="med" len="med"/>
                    </a:lnB>
                    <a:solidFill>
                      <a:srgbClr val="FFFDF5"/>
                    </a:solidFill>
                  </a:tcPr>
                </a:tc>
                <a:tc>
                  <a:txBody>
                    <a:bodyPr/>
                    <a:lstStyle/>
                    <a:p>
                      <a:pPr algn="l" indent="0" marL="0">
                        <a:buNone/>
                      </a:pPr>
                      <a:r>
                        <a:rPr lang="en-US" sz="1400" dirty="0">
                          <a:solidFill>
                            <a:srgbClr val="202B22"/>
                          </a:solidFill>
                          <a:latin typeface="Calibri" pitchFamily="34" charset="0"/>
                          <a:ea typeface="Calibri" pitchFamily="34" charset="-122"/>
                          <a:cs typeface="Calibri" pitchFamily="34" charset="-120"/>
                        </a:rPr>
                        <a:t>the site, after installing Docker</a:t>
                      </a:r>
                      <a:endParaRPr lang="en-US" sz="1400" dirty="0">
                        <a:latin typeface="Calibri" charset="0"/>
                        <a:ea typeface="Calibri" charset="0"/>
                        <a:cs typeface="Calibri" charset="0"/>
                      </a:endParaRPr>
                    </a:p>
                  </a:txBody>
                  <a:tcPr marL="101600" marR="101600" marT="88900" marB="88900" anchor="ctr">
                    <a:lnL w="12700" cap="flat" cmpd="sng" algn="ctr">
                      <a:solidFill>
                        <a:srgbClr val="FFFDF5"/>
                      </a:solidFill>
                      <a:prstDash val="solid"/>
                      <a:round/>
                      <a:headEnd type="none" w="med" len="med"/>
                      <a:tailEnd type="none" w="med" len="med"/>
                    </a:lnL>
                    <a:lnR w="12700" cap="flat" cmpd="sng" algn="ctr">
                      <a:solidFill>
                        <a:srgbClr val="FFFDF5"/>
                      </a:solidFill>
                      <a:prstDash val="solid"/>
                      <a:round/>
                      <a:headEnd type="none" w="med" len="med"/>
                      <a:tailEnd type="none" w="med" len="med"/>
                    </a:lnR>
                    <a:lnT w="12700" cap="flat" cmpd="sng" algn="ctr">
                      <a:solidFill>
                        <a:srgbClr val="FFFDF5"/>
                      </a:solidFill>
                      <a:prstDash val="solid"/>
                      <a:round/>
                      <a:headEnd type="none" w="med" len="med"/>
                      <a:tailEnd type="none" w="med" len="med"/>
                    </a:lnT>
                    <a:lnB w="12700" cap="flat" cmpd="sng" algn="ctr">
                      <a:solidFill>
                        <a:srgbClr val="E3DDD0"/>
                      </a:solidFill>
                      <a:prstDash val="solid"/>
                      <a:round/>
                      <a:headEnd type="none" w="med" len="med"/>
                      <a:tailEnd type="none" w="med" len="med"/>
                    </a:lnB>
                    <a:solidFill>
                      <a:srgbClr val="FFFDF5"/>
                    </a:solidFill>
                  </a:tcPr>
                </a:tc>
                <a:tc>
                  <a:txBody>
                    <a:bodyPr/>
                    <a:lstStyle/>
                    <a:p>
                      <a:pPr algn="l" indent="0" marL="0">
                        <a:buNone/>
                      </a:pPr>
                      <a:r>
                        <a:rPr lang="en-US" sz="1400" b="1" dirty="0">
                          <a:solidFill>
                            <a:srgbClr val="202B22"/>
                          </a:solidFill>
                          <a:latin typeface="Calibri" pitchFamily="34" charset="0"/>
                          <a:ea typeface="Calibri" pitchFamily="34" charset="-122"/>
                          <a:cs typeface="Calibri" pitchFamily="34" charset="-120"/>
                        </a:rPr>
                        <a:t>/verify reads the chain; 11 cheats on the public site, no install</a:t>
                      </a:r>
                      <a:endParaRPr lang="en-US" sz="1400" dirty="0">
                        <a:latin typeface="Calibri" charset="0"/>
                        <a:ea typeface="Calibri" charset="0"/>
                        <a:cs typeface="Calibri" charset="0"/>
                      </a:endParaRPr>
                    </a:p>
                  </a:txBody>
                  <a:tcPr marL="101600" marR="101600" marT="88900" marB="88900" anchor="ctr">
                    <a:lnL w="12700" cap="flat" cmpd="sng" algn="ctr">
                      <a:solidFill>
                        <a:srgbClr val="FFFDF5"/>
                      </a:solidFill>
                      <a:prstDash val="solid"/>
                      <a:round/>
                      <a:headEnd type="none" w="med" len="med"/>
                      <a:tailEnd type="none" w="med" len="med"/>
                    </a:lnL>
                    <a:lnR w="12700" cap="flat" cmpd="sng" algn="ctr">
                      <a:solidFill>
                        <a:srgbClr val="FFFDF5"/>
                      </a:solidFill>
                      <a:prstDash val="solid"/>
                      <a:round/>
                      <a:headEnd type="none" w="med" len="med"/>
                      <a:tailEnd type="none" w="med" len="med"/>
                    </a:lnR>
                    <a:lnT w="12700" cap="flat" cmpd="sng" algn="ctr">
                      <a:solidFill>
                        <a:srgbClr val="FFFDF5"/>
                      </a:solidFill>
                      <a:prstDash val="solid"/>
                      <a:round/>
                      <a:headEnd type="none" w="med" len="med"/>
                      <a:tailEnd type="none" w="med" len="med"/>
                    </a:lnT>
                    <a:lnB w="12700" cap="flat" cmpd="sng" algn="ctr">
                      <a:solidFill>
                        <a:srgbClr val="E3DDD0"/>
                      </a:solidFill>
                      <a:prstDash val="solid"/>
                      <a:round/>
                      <a:headEnd type="none" w="med" len="med"/>
                      <a:tailEnd type="none" w="med" len="med"/>
                    </a:lnB>
                    <a:solidFill>
                      <a:srgbClr val="FFFDF5"/>
                    </a:solidFill>
                  </a:tcPr>
                </a:tc>
              </a:tr>
              <a:tr h="565785">
                <a:tc>
                  <a:txBody>
                    <a:bodyPr/>
                    <a:lstStyle/>
                    <a:p>
                      <a:pPr algn="l" indent="0" marL="0">
                        <a:buNone/>
                      </a:pPr>
                      <a:r>
                        <a:rPr lang="en-US" sz="1400" dirty="0">
                          <a:solidFill>
                            <a:srgbClr val="202B22"/>
                          </a:solidFill>
                          <a:latin typeface="Calibri" pitchFamily="34" charset="0"/>
                          <a:ea typeface="Calibri" pitchFamily="34" charset="-122"/>
                          <a:cs typeface="Calibri" pitchFamily="34" charset="-120"/>
                        </a:rPr>
                        <a:t>Tests on the compiled circuits</a:t>
                      </a:r>
                      <a:endParaRPr lang="en-US" sz="1400" dirty="0">
                        <a:latin typeface="Calibri" charset="0"/>
                        <a:ea typeface="Calibri" charset="0"/>
                        <a:cs typeface="Calibri" charset="0"/>
                      </a:endParaRPr>
                    </a:p>
                  </a:txBody>
                  <a:tcPr marL="101600" marR="101600" marT="88900" marB="88900" anchor="ctr">
                    <a:lnL w="12700" cap="flat" cmpd="sng" algn="ctr">
                      <a:solidFill>
                        <a:srgbClr val="FFFDF5"/>
                      </a:solidFill>
                      <a:prstDash val="solid"/>
                      <a:round/>
                      <a:headEnd type="none" w="med" len="med"/>
                      <a:tailEnd type="none" w="med" len="med"/>
                    </a:lnL>
                    <a:lnR w="12700" cap="flat" cmpd="sng" algn="ctr">
                      <a:solidFill>
                        <a:srgbClr val="FFFDF5"/>
                      </a:solidFill>
                      <a:prstDash val="solid"/>
                      <a:round/>
                      <a:headEnd type="none" w="med" len="med"/>
                      <a:tailEnd type="none" w="med" len="med"/>
                    </a:lnR>
                    <a:lnT w="12700" cap="flat" cmpd="sng" algn="ctr">
                      <a:solidFill>
                        <a:srgbClr val="FFFDF5"/>
                      </a:solidFill>
                      <a:prstDash val="solid"/>
                      <a:round/>
                      <a:headEnd type="none" w="med" len="med"/>
                      <a:tailEnd type="none" w="med" len="med"/>
                    </a:lnT>
                    <a:lnB w="12700" cap="flat" cmpd="sng" algn="ctr">
                      <a:solidFill>
                        <a:srgbClr val="E3DDD0"/>
                      </a:solidFill>
                      <a:prstDash val="solid"/>
                      <a:round/>
                      <a:headEnd type="none" w="med" len="med"/>
                      <a:tailEnd type="none" w="med" len="med"/>
                    </a:lnB>
                    <a:solidFill>
                      <a:srgbClr val="FFFDF5"/>
                    </a:solidFill>
                  </a:tcPr>
                </a:tc>
                <a:tc>
                  <a:txBody>
                    <a:bodyPr/>
                    <a:lstStyle/>
                    <a:p>
                      <a:pPr algn="l" indent="0" marL="0">
                        <a:buNone/>
                      </a:pPr>
                      <a:r>
                        <a:rPr lang="en-US" sz="1400" dirty="0">
                          <a:solidFill>
                            <a:srgbClr val="202B22"/>
                          </a:solidFill>
                          <a:latin typeface="Calibri" pitchFamily="34" charset="0"/>
                          <a:ea typeface="Calibri" pitchFamily="34" charset="-122"/>
                          <a:cs typeface="Calibri" pitchFamily="34" charset="-120"/>
                        </a:rPr>
                        <a:t>9</a:t>
                      </a:r>
                      <a:endParaRPr lang="en-US" sz="1400" dirty="0">
                        <a:latin typeface="Calibri" charset="0"/>
                        <a:ea typeface="Calibri" charset="0"/>
                        <a:cs typeface="Calibri" charset="0"/>
                      </a:endParaRPr>
                    </a:p>
                  </a:txBody>
                  <a:tcPr marL="101600" marR="101600" marT="88900" marB="88900" anchor="ctr">
                    <a:lnL w="12700" cap="flat" cmpd="sng" algn="ctr">
                      <a:solidFill>
                        <a:srgbClr val="FFFDF5"/>
                      </a:solidFill>
                      <a:prstDash val="solid"/>
                      <a:round/>
                      <a:headEnd type="none" w="med" len="med"/>
                      <a:tailEnd type="none" w="med" len="med"/>
                    </a:lnL>
                    <a:lnR w="12700" cap="flat" cmpd="sng" algn="ctr">
                      <a:solidFill>
                        <a:srgbClr val="FFFDF5"/>
                      </a:solidFill>
                      <a:prstDash val="solid"/>
                      <a:round/>
                      <a:headEnd type="none" w="med" len="med"/>
                      <a:tailEnd type="none" w="med" len="med"/>
                    </a:lnR>
                    <a:lnT w="12700" cap="flat" cmpd="sng" algn="ctr">
                      <a:solidFill>
                        <a:srgbClr val="FFFDF5"/>
                      </a:solidFill>
                      <a:prstDash val="solid"/>
                      <a:round/>
                      <a:headEnd type="none" w="med" len="med"/>
                      <a:tailEnd type="none" w="med" len="med"/>
                    </a:lnT>
                    <a:lnB w="12700" cap="flat" cmpd="sng" algn="ctr">
                      <a:solidFill>
                        <a:srgbClr val="E3DDD0"/>
                      </a:solidFill>
                      <a:prstDash val="solid"/>
                      <a:round/>
                      <a:headEnd type="none" w="med" len="med"/>
                      <a:tailEnd type="none" w="med" len="med"/>
                    </a:lnB>
                    <a:solidFill>
                      <a:srgbClr val="FFFDF5"/>
                    </a:solidFill>
                  </a:tcPr>
                </a:tc>
                <a:tc>
                  <a:txBody>
                    <a:bodyPr/>
                    <a:lstStyle/>
                    <a:p>
                      <a:pPr algn="l" indent="0" marL="0">
                        <a:buNone/>
                      </a:pPr>
                      <a:r>
                        <a:rPr lang="en-US" sz="1400" b="1" dirty="0">
                          <a:solidFill>
                            <a:srgbClr val="202B22"/>
                          </a:solidFill>
                          <a:latin typeface="Calibri" pitchFamily="34" charset="0"/>
                          <a:ea typeface="Calibri" pitchFamily="34" charset="-122"/>
                          <a:cs typeface="Calibri" pitchFamily="34" charset="-120"/>
                        </a:rPr>
                        <a:t>45 (55 tests in all)</a:t>
                      </a:r>
                      <a:endParaRPr lang="en-US" sz="1400" dirty="0">
                        <a:latin typeface="Calibri" charset="0"/>
                        <a:ea typeface="Calibri" charset="0"/>
                        <a:cs typeface="Calibri" charset="0"/>
                      </a:endParaRPr>
                    </a:p>
                  </a:txBody>
                  <a:tcPr marL="101600" marR="101600" marT="88900" marB="88900" anchor="ctr">
                    <a:lnL w="12700" cap="flat" cmpd="sng" algn="ctr">
                      <a:solidFill>
                        <a:srgbClr val="FFFDF5"/>
                      </a:solidFill>
                      <a:prstDash val="solid"/>
                      <a:round/>
                      <a:headEnd type="none" w="med" len="med"/>
                      <a:tailEnd type="none" w="med" len="med"/>
                    </a:lnL>
                    <a:lnR w="12700" cap="flat" cmpd="sng" algn="ctr">
                      <a:solidFill>
                        <a:srgbClr val="FFFDF5"/>
                      </a:solidFill>
                      <a:prstDash val="solid"/>
                      <a:round/>
                      <a:headEnd type="none" w="med" len="med"/>
                      <a:tailEnd type="none" w="med" len="med"/>
                    </a:lnR>
                    <a:lnT w="12700" cap="flat" cmpd="sng" algn="ctr">
                      <a:solidFill>
                        <a:srgbClr val="FFFDF5"/>
                      </a:solidFill>
                      <a:prstDash val="solid"/>
                      <a:round/>
                      <a:headEnd type="none" w="med" len="med"/>
                      <a:tailEnd type="none" w="med" len="med"/>
                    </a:lnT>
                    <a:lnB w="12700" cap="flat" cmpd="sng" algn="ctr">
                      <a:solidFill>
                        <a:srgbClr val="E3DDD0"/>
                      </a:solidFill>
                      <a:prstDash val="solid"/>
                      <a:round/>
                      <a:headEnd type="none" w="med" len="med"/>
                      <a:tailEnd type="none" w="med" len="med"/>
                    </a:lnB>
                    <a:solidFill>
                      <a:srgbClr val="FFFDF5"/>
                    </a:solidFill>
                  </a:tcPr>
                </a:tc>
              </a:tr>
            </a:tbl>
          </a:graphicData>
        </a:graphic>
      </p:graphicFrame>
      <p:sp>
        <p:nvSpPr>
          <p:cNvPr id="6" name="Text 3"/>
          <p:cNvSpPr/>
          <p:nvPr/>
        </p:nvSpPr>
        <p:spPr>
          <a:xfrm>
            <a:off x="502920" y="6510528"/>
            <a:ext cx="8412480" cy="219456"/>
          </a:xfrm>
          <a:prstGeom prst="rect">
            <a:avLst/>
          </a:prstGeom>
          <a:noFill/>
          <a:ln/>
        </p:spPr>
        <p:txBody>
          <a:bodyPr wrap="square" lIns="0" tIns="0" rIns="0" bIns="0" rtlCol="0" anchor="ctr"/>
          <a:lstStyle/>
          <a:p>
            <a:pPr indent="0" marL="0">
              <a:buNone/>
            </a:pPr>
            <a:r>
              <a:rPr lang="en-US" sz="1100" spc="80" kern="0" dirty="0">
                <a:solidFill>
                  <a:srgbClr val="8A9384"/>
                </a:solidFill>
                <a:latin typeface="Courier New" pitchFamily="34" charset="0"/>
                <a:ea typeface="Courier New" pitchFamily="34" charset="-122"/>
                <a:cs typeface="Courier New" pitchFamily="34" charset="-120"/>
              </a:rPr>
              <a:t>EQUILUX</a:t>
            </a:r>
            <a:endParaRPr lang="en-US" sz="1100" dirty="0"/>
          </a:p>
        </p:txBody>
      </p:sp>
      <p:sp>
        <p:nvSpPr>
          <p:cNvPr id="7" name="Text 4"/>
          <p:cNvSpPr/>
          <p:nvPr/>
        </p:nvSpPr>
        <p:spPr>
          <a:xfrm>
            <a:off x="9052560" y="6510528"/>
            <a:ext cx="2633472" cy="219456"/>
          </a:xfrm>
          <a:prstGeom prst="rect">
            <a:avLst/>
          </a:prstGeom>
          <a:noFill/>
          <a:ln/>
        </p:spPr>
        <p:txBody>
          <a:bodyPr wrap="square" lIns="0" tIns="0" rIns="0" bIns="0" rtlCol="0" anchor="ctr"/>
          <a:lstStyle/>
          <a:p>
            <a:pPr algn="r" indent="0" marL="0">
              <a:buNone/>
            </a:pPr>
            <a:r>
              <a:rPr lang="en-US" sz="1100" spc="80" kern="0" dirty="0">
                <a:solidFill>
                  <a:srgbClr val="8A9384"/>
                </a:solidFill>
                <a:latin typeface="Courier New" pitchFamily="34" charset="0"/>
                <a:ea typeface="Courier New" pitchFamily="34" charset="-122"/>
                <a:cs typeface="Courier New" pitchFamily="34" charset="-120"/>
              </a:rPr>
              <a:t>04  /  12</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02B22"/>
        </a:solidFill>
      </p:bgPr>
    </p:bg>
    <p:spTree>
      <p:nvGrpSpPr>
        <p:cNvPr id="1" name=""/>
        <p:cNvGrpSpPr/>
        <p:nvPr/>
      </p:nvGrpSpPr>
      <p:grpSpPr>
        <a:xfrm>
          <a:off x="0" y="0"/>
          <a:ext cx="0" cy="0"/>
          <a:chOff x="0" y="0"/>
          <a:chExt cx="0" cy="0"/>
        </a:xfrm>
      </p:grpSpPr>
      <p:sp>
        <p:nvSpPr>
          <p:cNvPr id="2" name="Shape 0"/>
          <p:cNvSpPr/>
          <p:nvPr/>
        </p:nvSpPr>
        <p:spPr>
          <a:xfrm>
            <a:off x="502920" y="420624"/>
            <a:ext cx="256032" cy="22860"/>
          </a:xfrm>
          <a:prstGeom prst="rect">
            <a:avLst/>
          </a:prstGeom>
          <a:solidFill>
            <a:srgbClr val="FFD85F"/>
          </a:solidFill>
          <a:ln/>
        </p:spPr>
      </p:sp>
      <p:sp>
        <p:nvSpPr>
          <p:cNvPr id="3" name="Text 1"/>
          <p:cNvSpPr/>
          <p:nvPr/>
        </p:nvSpPr>
        <p:spPr>
          <a:xfrm>
            <a:off x="877824" y="310896"/>
            <a:ext cx="10607040" cy="256032"/>
          </a:xfrm>
          <a:prstGeom prst="rect">
            <a:avLst/>
          </a:prstGeom>
          <a:noFill/>
          <a:ln/>
        </p:spPr>
        <p:txBody>
          <a:bodyPr wrap="square" lIns="0" tIns="0" rIns="0" bIns="0" rtlCol="0" anchor="ctr"/>
          <a:lstStyle/>
          <a:p>
            <a:pPr indent="0" marL="0">
              <a:buNone/>
            </a:pPr>
            <a:r>
              <a:rPr lang="en-US" sz="1100" spc="160" kern="0" dirty="0">
                <a:solidFill>
                  <a:srgbClr val="FFD85F"/>
                </a:solidFill>
                <a:latin typeface="Courier New" pitchFamily="34" charset="0"/>
                <a:ea typeface="Courier New" pitchFamily="34" charset="-122"/>
                <a:cs typeface="Courier New" pitchFamily="34" charset="-120"/>
              </a:rPr>
              <a:t>WHAT THE CIRCUIT PROVES</a:t>
            </a:r>
            <a:endParaRPr lang="en-US" sz="1100" dirty="0"/>
          </a:p>
        </p:txBody>
      </p:sp>
      <p:sp>
        <p:nvSpPr>
          <p:cNvPr id="4" name="Text 2"/>
          <p:cNvSpPr/>
          <p:nvPr/>
        </p:nvSpPr>
        <p:spPr>
          <a:xfrm>
            <a:off x="502920" y="640080"/>
            <a:ext cx="11155680" cy="594360"/>
          </a:xfrm>
          <a:prstGeom prst="rect">
            <a:avLst/>
          </a:prstGeom>
          <a:noFill/>
          <a:ln/>
        </p:spPr>
        <p:txBody>
          <a:bodyPr wrap="square" lIns="0" tIns="0" rIns="0" bIns="0" rtlCol="0" anchor="ctr"/>
          <a:lstStyle/>
          <a:p>
            <a:pPr indent="0" marL="0">
              <a:buNone/>
            </a:pPr>
            <a:r>
              <a:rPr lang="en-US" sz="3200" b="1" dirty="0">
                <a:solidFill>
                  <a:srgbClr val="FAF6E9"/>
                </a:solidFill>
                <a:latin typeface="Calibri" pitchFamily="34" charset="0"/>
                <a:ea typeface="Calibri" pitchFamily="34" charset="-122"/>
                <a:cs typeface="Calibri" pitchFamily="34" charset="-120"/>
              </a:rPr>
              <a:t>Trust neither side. </a:t>
            </a:r>
            <a:pPr indent="0" marL="0">
              <a:buNone/>
            </a:pPr>
            <a:r>
              <a:rPr lang="en-US" sz="3200" b="1" dirty="0">
                <a:solidFill>
                  <a:srgbClr val="FFD85F"/>
                </a:solidFill>
                <a:latin typeface="Calibri" pitchFamily="34" charset="0"/>
                <a:ea typeface="Calibri" pitchFamily="34" charset="-122"/>
                <a:cs typeface="Calibri" pitchFamily="34" charset="-120"/>
              </a:rPr>
              <a:t>Verify both.</a:t>
            </a:r>
            <a:endParaRPr lang="en-US" sz="3200" dirty="0"/>
          </a:p>
        </p:txBody>
      </p:sp>
      <p:sp>
        <p:nvSpPr>
          <p:cNvPr id="5" name="Shape 3"/>
          <p:cNvSpPr/>
          <p:nvPr/>
        </p:nvSpPr>
        <p:spPr>
          <a:xfrm>
            <a:off x="502920" y="1463040"/>
            <a:ext cx="5669280" cy="1847088"/>
          </a:xfrm>
          <a:prstGeom prst="roundRect">
            <a:avLst>
              <a:gd name="adj" fmla="val 4950"/>
            </a:avLst>
          </a:prstGeom>
          <a:solidFill>
            <a:srgbClr val="1A241C"/>
          </a:solidFill>
          <a:ln w="15875">
            <a:solidFill>
              <a:srgbClr val="3E4C40"/>
            </a:solidFill>
            <a:prstDash val="solid"/>
          </a:ln>
        </p:spPr>
      </p:sp>
      <p:sp>
        <p:nvSpPr>
          <p:cNvPr id="6" name="Text 4"/>
          <p:cNvSpPr/>
          <p:nvPr/>
        </p:nvSpPr>
        <p:spPr>
          <a:xfrm>
            <a:off x="722376" y="1609344"/>
            <a:ext cx="5230368" cy="347472"/>
          </a:xfrm>
          <a:prstGeom prst="rect">
            <a:avLst/>
          </a:prstGeom>
          <a:noFill/>
          <a:ln/>
        </p:spPr>
        <p:txBody>
          <a:bodyPr wrap="square" lIns="0" tIns="0" rIns="0" bIns="0" rtlCol="0" anchor="ctr"/>
          <a:lstStyle/>
          <a:p>
            <a:pPr indent="0" marL="0">
              <a:buNone/>
            </a:pPr>
            <a:r>
              <a:rPr lang="en-US" sz="1800" b="1" dirty="0">
                <a:solidFill>
                  <a:srgbClr val="FAF6E9"/>
                </a:solidFill>
                <a:latin typeface="Calibri" pitchFamily="34" charset="0"/>
                <a:ea typeface="Calibri" pitchFamily="34" charset="-122"/>
                <a:cs typeface="Calibri" pitchFamily="34" charset="-120"/>
              </a:rPr>
              <a:t>Completeness</a:t>
            </a:r>
            <a:endParaRPr lang="en-US" sz="1800" dirty="0"/>
          </a:p>
        </p:txBody>
      </p:sp>
      <p:sp>
        <p:nvSpPr>
          <p:cNvPr id="7" name="Text 5"/>
          <p:cNvSpPr/>
          <p:nvPr/>
        </p:nvSpPr>
        <p:spPr>
          <a:xfrm>
            <a:off x="722376" y="1993392"/>
            <a:ext cx="5230368" cy="1170432"/>
          </a:xfrm>
          <a:prstGeom prst="rect">
            <a:avLst/>
          </a:prstGeom>
          <a:noFill/>
          <a:ln/>
        </p:spPr>
        <p:txBody>
          <a:bodyPr wrap="square" lIns="0" tIns="0" rIns="0" bIns="0" rtlCol="0" anchor="ctr"/>
          <a:lstStyle/>
          <a:p>
            <a:pPr indent="0" marL="0">
              <a:buNone/>
            </a:pPr>
            <a:r>
              <a:rPr lang="en-US" sz="1400" dirty="0">
                <a:solidFill>
                  <a:srgbClr val="C5CDC0"/>
                </a:solidFill>
                <a:latin typeface="Calibri" pitchFamily="34" charset="0"/>
                <a:ea typeface="Calibri" pitchFamily="34" charset="-122"/>
                <a:cs typeface="Calibri" pitchFamily="34" charset="-120"/>
              </a:rPr>
              <a:t>The payroll provider commits every payroll row before anyone enrolls; the report must cover exactly those rows. Leaving someone out — even by never enrolling them — is rejected.</a:t>
            </a:r>
            <a:endParaRPr lang="en-US" sz="1400" dirty="0"/>
          </a:p>
        </p:txBody>
      </p:sp>
      <p:sp>
        <p:nvSpPr>
          <p:cNvPr id="8" name="Shape 6"/>
          <p:cNvSpPr/>
          <p:nvPr/>
        </p:nvSpPr>
        <p:spPr>
          <a:xfrm>
            <a:off x="6355080" y="1463040"/>
            <a:ext cx="5669280" cy="1847088"/>
          </a:xfrm>
          <a:prstGeom prst="roundRect">
            <a:avLst>
              <a:gd name="adj" fmla="val 4950"/>
            </a:avLst>
          </a:prstGeom>
          <a:solidFill>
            <a:srgbClr val="1A241C"/>
          </a:solidFill>
          <a:ln w="15875">
            <a:solidFill>
              <a:srgbClr val="3E4C40"/>
            </a:solidFill>
            <a:prstDash val="solid"/>
          </a:ln>
        </p:spPr>
      </p:sp>
      <p:sp>
        <p:nvSpPr>
          <p:cNvPr id="9" name="Text 7"/>
          <p:cNvSpPr/>
          <p:nvPr/>
        </p:nvSpPr>
        <p:spPr>
          <a:xfrm>
            <a:off x="6574536" y="1609344"/>
            <a:ext cx="5230368" cy="347472"/>
          </a:xfrm>
          <a:prstGeom prst="rect">
            <a:avLst/>
          </a:prstGeom>
          <a:noFill/>
          <a:ln/>
        </p:spPr>
        <p:txBody>
          <a:bodyPr wrap="square" lIns="0" tIns="0" rIns="0" bIns="0" rtlCol="0" anchor="ctr"/>
          <a:lstStyle/>
          <a:p>
            <a:pPr indent="0" marL="0">
              <a:buNone/>
            </a:pPr>
            <a:r>
              <a:rPr lang="en-US" sz="1800" b="1" dirty="0">
                <a:solidFill>
                  <a:srgbClr val="FAF6E9"/>
                </a:solidFill>
                <a:latin typeface="Calibri" pitchFamily="34" charset="0"/>
                <a:ea typeface="Calibri" pitchFamily="34" charset="-122"/>
                <a:cs typeface="Calibri" pitchFamily="34" charset="-120"/>
              </a:rPr>
              <a:t>Every salary is payroll's</a:t>
            </a:r>
            <a:endParaRPr lang="en-US" sz="1800" dirty="0"/>
          </a:p>
        </p:txBody>
      </p:sp>
      <p:sp>
        <p:nvSpPr>
          <p:cNvPr id="10" name="Text 8"/>
          <p:cNvSpPr/>
          <p:nvPr/>
        </p:nvSpPr>
        <p:spPr>
          <a:xfrm>
            <a:off x="6574536" y="1993392"/>
            <a:ext cx="5230368" cy="1170432"/>
          </a:xfrm>
          <a:prstGeom prst="rect">
            <a:avLst/>
          </a:prstGeom>
          <a:noFill/>
          <a:ln/>
        </p:spPr>
        <p:txBody>
          <a:bodyPr wrap="square" lIns="0" tIns="0" rIns="0" bIns="0" rtlCol="0" anchor="ctr"/>
          <a:lstStyle/>
          <a:p>
            <a:pPr indent="0" marL="0">
              <a:buNone/>
            </a:pPr>
            <a:r>
              <a:rPr lang="en-US" sz="1400" dirty="0">
                <a:solidFill>
                  <a:srgbClr val="C5CDC0"/>
                </a:solidFill>
                <a:latin typeface="Calibri" pitchFamily="34" charset="0"/>
                <a:ea typeface="Calibri" pitchFamily="34" charset="-122"/>
                <a:cs typeface="Calibri" pitchFamily="34" charset="-120"/>
              </a:rPr>
              <a:t>A record counts only if it opens to an unclaimed payroll row. The employer cannot invent a person or change anyone's pay; an employee cannot inflate their own.</a:t>
            </a:r>
            <a:endParaRPr lang="en-US" sz="1400" dirty="0"/>
          </a:p>
        </p:txBody>
      </p:sp>
      <p:sp>
        <p:nvSpPr>
          <p:cNvPr id="11" name="Shape 9"/>
          <p:cNvSpPr/>
          <p:nvPr/>
        </p:nvSpPr>
        <p:spPr>
          <a:xfrm>
            <a:off x="502920" y="3429000"/>
            <a:ext cx="5669280" cy="1847088"/>
          </a:xfrm>
          <a:prstGeom prst="roundRect">
            <a:avLst>
              <a:gd name="adj" fmla="val 4950"/>
            </a:avLst>
          </a:prstGeom>
          <a:solidFill>
            <a:srgbClr val="1A241C"/>
          </a:solidFill>
          <a:ln w="15875">
            <a:solidFill>
              <a:srgbClr val="3E4C40"/>
            </a:solidFill>
            <a:prstDash val="solid"/>
          </a:ln>
        </p:spPr>
      </p:sp>
      <p:sp>
        <p:nvSpPr>
          <p:cNvPr id="12" name="Text 10"/>
          <p:cNvSpPr/>
          <p:nvPr/>
        </p:nvSpPr>
        <p:spPr>
          <a:xfrm>
            <a:off x="722376" y="3575304"/>
            <a:ext cx="5230368" cy="347472"/>
          </a:xfrm>
          <a:prstGeom prst="rect">
            <a:avLst/>
          </a:prstGeom>
          <a:noFill/>
          <a:ln/>
        </p:spPr>
        <p:txBody>
          <a:bodyPr wrap="square" lIns="0" tIns="0" rIns="0" bIns="0" rtlCol="0" anchor="ctr"/>
          <a:lstStyle/>
          <a:p>
            <a:pPr indent="0" marL="0">
              <a:buNone/>
            </a:pPr>
            <a:r>
              <a:rPr lang="en-US" sz="1800" b="1" dirty="0">
                <a:solidFill>
                  <a:srgbClr val="FAF6E9"/>
                </a:solidFill>
                <a:latin typeface="Calibri" pitchFamily="34" charset="0"/>
                <a:ea typeface="Calibri" pitchFamily="34" charset="-122"/>
                <a:cs typeface="Calibri" pitchFamily="34" charset="-120"/>
              </a:rPr>
              <a:t>No small-group leaks</a:t>
            </a:r>
            <a:endParaRPr lang="en-US" sz="1800" dirty="0"/>
          </a:p>
        </p:txBody>
      </p:sp>
      <p:sp>
        <p:nvSpPr>
          <p:cNvPr id="13" name="Text 11"/>
          <p:cNvSpPr/>
          <p:nvPr/>
        </p:nvSpPr>
        <p:spPr>
          <a:xfrm>
            <a:off x="722376" y="3959352"/>
            <a:ext cx="5230368" cy="1170432"/>
          </a:xfrm>
          <a:prstGeom prst="rect">
            <a:avLst/>
          </a:prstGeom>
          <a:noFill/>
          <a:ln/>
        </p:spPr>
        <p:txBody>
          <a:bodyPr wrap="square" lIns="0" tIns="0" rIns="0" bIns="0" rtlCol="0" anchor="ctr"/>
          <a:lstStyle/>
          <a:p>
            <a:pPr indent="0" marL="0">
              <a:buNone/>
            </a:pPr>
            <a:r>
              <a:rPr lang="en-US" sz="1400" dirty="0">
                <a:solidFill>
                  <a:srgbClr val="C5CDC0"/>
                </a:solidFill>
                <a:latin typeface="Calibri" pitchFamily="34" charset="0"/>
                <a:ea typeface="Calibri" pitchFamily="34" charset="-122"/>
                <a:cs typeface="Calibri" pitchFamily="34" charset="-120"/>
              </a:rPr>
              <a:t>A category's pay is published only when both groups have at least three people. Smaller groups show headcounts only.</a:t>
            </a:r>
            <a:endParaRPr lang="en-US" sz="1400" dirty="0"/>
          </a:p>
        </p:txBody>
      </p:sp>
      <p:sp>
        <p:nvSpPr>
          <p:cNvPr id="14" name="Shape 12"/>
          <p:cNvSpPr/>
          <p:nvPr/>
        </p:nvSpPr>
        <p:spPr>
          <a:xfrm>
            <a:off x="6355080" y="3429000"/>
            <a:ext cx="5669280" cy="1847088"/>
          </a:xfrm>
          <a:prstGeom prst="roundRect">
            <a:avLst>
              <a:gd name="adj" fmla="val 4950"/>
            </a:avLst>
          </a:prstGeom>
          <a:solidFill>
            <a:srgbClr val="1A241C"/>
          </a:solidFill>
          <a:ln w="15875">
            <a:solidFill>
              <a:srgbClr val="3E4C40"/>
            </a:solidFill>
            <a:prstDash val="solid"/>
          </a:ln>
        </p:spPr>
      </p:sp>
      <p:sp>
        <p:nvSpPr>
          <p:cNvPr id="15" name="Text 13"/>
          <p:cNvSpPr/>
          <p:nvPr/>
        </p:nvSpPr>
        <p:spPr>
          <a:xfrm>
            <a:off x="6574536" y="3575304"/>
            <a:ext cx="5230368" cy="347472"/>
          </a:xfrm>
          <a:prstGeom prst="rect">
            <a:avLst/>
          </a:prstGeom>
          <a:noFill/>
          <a:ln/>
        </p:spPr>
        <p:txBody>
          <a:bodyPr wrap="square" lIns="0" tIns="0" rIns="0" bIns="0" rtlCol="0" anchor="ctr"/>
          <a:lstStyle/>
          <a:p>
            <a:pPr indent="0" marL="0">
              <a:buNone/>
            </a:pPr>
            <a:r>
              <a:rPr lang="en-US" sz="1800" b="1" dirty="0">
                <a:solidFill>
                  <a:srgbClr val="FAF6E9"/>
                </a:solidFill>
                <a:latin typeface="Calibri" pitchFamily="34" charset="0"/>
                <a:ea typeface="Calibri" pitchFamily="34" charset="-122"/>
                <a:cs typeface="Calibri" pitchFamily="34" charset="-120"/>
              </a:rPr>
              <a:t>Exact figures</a:t>
            </a:r>
            <a:endParaRPr lang="en-US" sz="1800" dirty="0"/>
          </a:p>
        </p:txBody>
      </p:sp>
      <p:sp>
        <p:nvSpPr>
          <p:cNvPr id="16" name="Text 14"/>
          <p:cNvSpPr/>
          <p:nvPr/>
        </p:nvSpPr>
        <p:spPr>
          <a:xfrm>
            <a:off x="6574536" y="3959352"/>
            <a:ext cx="5230368" cy="1170432"/>
          </a:xfrm>
          <a:prstGeom prst="rect">
            <a:avLst/>
          </a:prstGeom>
          <a:noFill/>
          <a:ln/>
        </p:spPr>
        <p:txBody>
          <a:bodyPr wrap="square" lIns="0" tIns="0" rIns="0" bIns="0" rtlCol="0" anchor="ctr"/>
          <a:lstStyle/>
          <a:p>
            <a:pPr indent="0" marL="0">
              <a:buNone/>
            </a:pPr>
            <a:r>
              <a:rPr lang="en-US" sz="1400" dirty="0">
                <a:solidFill>
                  <a:srgbClr val="C5CDC0"/>
                </a:solidFill>
                <a:latin typeface="Calibri" pitchFamily="34" charset="0"/>
                <a:ea typeface="Calibri" pitchFamily="34" charset="-122"/>
                <a:cs typeface="Calibri" pitchFamily="34" charset="-120"/>
              </a:rPr>
              <a:t>All seven Article 9 indicators are claims the circuit recomputes: mean, median, category gaps, variable-pay gaps, who receives variable pay, and quartile bands. One basis point off fails.</a:t>
            </a:r>
            <a:endParaRPr lang="en-US" sz="1400" dirty="0"/>
          </a:p>
        </p:txBody>
      </p:sp>
      <p:sp>
        <p:nvSpPr>
          <p:cNvPr id="17" name="Text 15"/>
          <p:cNvSpPr/>
          <p:nvPr/>
        </p:nvSpPr>
        <p:spPr>
          <a:xfrm>
            <a:off x="502920" y="5532120"/>
            <a:ext cx="11155680" cy="640080"/>
          </a:xfrm>
          <a:prstGeom prst="rect">
            <a:avLst/>
          </a:prstGeom>
          <a:noFill/>
          <a:ln/>
        </p:spPr>
        <p:txBody>
          <a:bodyPr wrap="square" lIns="0" tIns="0" rIns="0" bIns="0" rtlCol="0" anchor="ctr"/>
          <a:lstStyle/>
          <a:p>
            <a:pPr indent="0" marL="0">
              <a:buNone/>
            </a:pPr>
            <a:r>
              <a:rPr lang="en-US" sz="1500" dirty="0">
                <a:solidFill>
                  <a:srgbClr val="C5CDC0"/>
                </a:solidFill>
                <a:latin typeface="Calibri" pitchFamily="34" charset="0"/>
                <a:ea typeface="Calibri" pitchFamily="34" charset="-122"/>
                <a:cs typeface="Calibri" pitchFamily="34" charset="-120"/>
              </a:rPr>
              <a:t>Plus an inclusion receipt for every employee: a Merkle path proving their record is inside the numbers, revealing nothing about anyone.</a:t>
            </a:r>
            <a:endParaRPr lang="en-US" sz="1500" dirty="0"/>
          </a:p>
        </p:txBody>
      </p:sp>
      <p:sp>
        <p:nvSpPr>
          <p:cNvPr id="18" name="Text 16"/>
          <p:cNvSpPr/>
          <p:nvPr/>
        </p:nvSpPr>
        <p:spPr>
          <a:xfrm>
            <a:off x="502920" y="6510528"/>
            <a:ext cx="8412480" cy="219456"/>
          </a:xfrm>
          <a:prstGeom prst="rect">
            <a:avLst/>
          </a:prstGeom>
          <a:noFill/>
          <a:ln/>
        </p:spPr>
        <p:txBody>
          <a:bodyPr wrap="square" lIns="0" tIns="0" rIns="0" bIns="0" rtlCol="0" anchor="ctr"/>
          <a:lstStyle/>
          <a:p>
            <a:pPr indent="0" marL="0">
              <a:buNone/>
            </a:pPr>
            <a:r>
              <a:rPr lang="en-US" sz="1100" spc="80" kern="0" dirty="0">
                <a:solidFill>
                  <a:srgbClr val="8A9384"/>
                </a:solidFill>
                <a:latin typeface="Courier New" pitchFamily="34" charset="0"/>
                <a:ea typeface="Courier New" pitchFamily="34" charset="-122"/>
                <a:cs typeface="Courier New" pitchFamily="34" charset="-120"/>
              </a:rPr>
              <a:t>EQUILUX</a:t>
            </a:r>
            <a:endParaRPr lang="en-US" sz="1100" dirty="0"/>
          </a:p>
        </p:txBody>
      </p:sp>
      <p:sp>
        <p:nvSpPr>
          <p:cNvPr id="19" name="Text 17"/>
          <p:cNvSpPr/>
          <p:nvPr/>
        </p:nvSpPr>
        <p:spPr>
          <a:xfrm>
            <a:off x="9052560" y="6510528"/>
            <a:ext cx="2633472" cy="219456"/>
          </a:xfrm>
          <a:prstGeom prst="rect">
            <a:avLst/>
          </a:prstGeom>
          <a:noFill/>
          <a:ln/>
        </p:spPr>
        <p:txBody>
          <a:bodyPr wrap="square" lIns="0" tIns="0" rIns="0" bIns="0" rtlCol="0" anchor="ctr"/>
          <a:lstStyle/>
          <a:p>
            <a:pPr algn="r" indent="0" marL="0">
              <a:buNone/>
            </a:pPr>
            <a:r>
              <a:rPr lang="en-US" sz="1100" spc="80" kern="0" dirty="0">
                <a:solidFill>
                  <a:srgbClr val="8A9384"/>
                </a:solidFill>
                <a:latin typeface="Courier New" pitchFamily="34" charset="0"/>
                <a:ea typeface="Courier New" pitchFamily="34" charset="-122"/>
                <a:cs typeface="Courier New" pitchFamily="34" charset="-120"/>
              </a:rPr>
              <a:t>05  /  12</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5"/>
        </a:solidFill>
      </p:bgPr>
    </p:bg>
    <p:spTree>
      <p:nvGrpSpPr>
        <p:cNvPr id="1" name=""/>
        <p:cNvGrpSpPr/>
        <p:nvPr/>
      </p:nvGrpSpPr>
      <p:grpSpPr>
        <a:xfrm>
          <a:off x="0" y="0"/>
          <a:ext cx="0" cy="0"/>
          <a:chOff x="0" y="0"/>
          <a:chExt cx="0" cy="0"/>
        </a:xfrm>
      </p:grpSpPr>
      <p:sp>
        <p:nvSpPr>
          <p:cNvPr id="2" name="Shape 0"/>
          <p:cNvSpPr/>
          <p:nvPr/>
        </p:nvSpPr>
        <p:spPr>
          <a:xfrm>
            <a:off x="502920" y="420624"/>
            <a:ext cx="256032" cy="22860"/>
          </a:xfrm>
          <a:prstGeom prst="rect">
            <a:avLst/>
          </a:prstGeom>
          <a:solidFill>
            <a:srgbClr val="55604F"/>
          </a:solidFill>
          <a:ln/>
        </p:spPr>
      </p:sp>
      <p:sp>
        <p:nvSpPr>
          <p:cNvPr id="3" name="Text 1"/>
          <p:cNvSpPr/>
          <p:nvPr/>
        </p:nvSpPr>
        <p:spPr>
          <a:xfrm>
            <a:off x="877824" y="310896"/>
            <a:ext cx="10607040" cy="256032"/>
          </a:xfrm>
          <a:prstGeom prst="rect">
            <a:avLst/>
          </a:prstGeom>
          <a:noFill/>
          <a:ln/>
        </p:spPr>
        <p:txBody>
          <a:bodyPr wrap="square" lIns="0" tIns="0" rIns="0" bIns="0" rtlCol="0" anchor="ctr"/>
          <a:lstStyle/>
          <a:p>
            <a:pPr indent="0" marL="0">
              <a:buNone/>
            </a:pPr>
            <a:r>
              <a:rPr lang="en-US" sz="1100" spc="160" kern="0" dirty="0">
                <a:solidFill>
                  <a:srgbClr val="55604F"/>
                </a:solidFill>
                <a:latin typeface="Courier New" pitchFamily="34" charset="0"/>
                <a:ea typeface="Courier New" pitchFamily="34" charset="-122"/>
                <a:cs typeface="Courier New" pitchFamily="34" charset="-120"/>
              </a:rPr>
              <a:t>THE PROTOCOL  ·  SIX PROVING CIRCUITS  ·  FOUR PARTIES</a:t>
            </a:r>
            <a:endParaRPr lang="en-US" sz="1100" dirty="0"/>
          </a:p>
        </p:txBody>
      </p:sp>
      <p:sp>
        <p:nvSpPr>
          <p:cNvPr id="4" name="Text 2"/>
          <p:cNvSpPr/>
          <p:nvPr/>
        </p:nvSpPr>
        <p:spPr>
          <a:xfrm>
            <a:off x="502920" y="621792"/>
            <a:ext cx="11155680" cy="868680"/>
          </a:xfrm>
          <a:prstGeom prst="rect">
            <a:avLst/>
          </a:prstGeom>
          <a:noFill/>
          <a:ln/>
        </p:spPr>
        <p:txBody>
          <a:bodyPr wrap="square" lIns="0" tIns="0" rIns="0" bIns="0" rtlCol="0" anchor="ctr"/>
          <a:lstStyle/>
          <a:p>
            <a:pPr indent="0" marL="0">
              <a:buNone/>
            </a:pPr>
            <a:r>
              <a:rPr lang="en-US" sz="2600" b="1" dirty="0">
                <a:solidFill>
                  <a:srgbClr val="202B22"/>
                </a:solidFill>
                <a:latin typeface="Calibri" pitchFamily="34" charset="0"/>
                <a:ea typeface="Calibri" pitchFamily="34" charset="-122"/>
                <a:cs typeface="Calibri" pitchFamily="34" charset="-120"/>
              </a:rPr>
              <a:t>The council opens every row. Then the employee. Then both reports.</a:t>
            </a:r>
            <a:endParaRPr lang="en-US" sz="2600" dirty="0"/>
          </a:p>
        </p:txBody>
      </p:sp>
      <p:sp>
        <p:nvSpPr>
          <p:cNvPr id="5" name="Shape 3"/>
          <p:cNvSpPr/>
          <p:nvPr/>
        </p:nvSpPr>
        <p:spPr>
          <a:xfrm>
            <a:off x="502920" y="1691640"/>
            <a:ext cx="3675888" cy="2084832"/>
          </a:xfrm>
          <a:prstGeom prst="roundRect">
            <a:avLst>
              <a:gd name="adj" fmla="val 4386"/>
            </a:avLst>
          </a:prstGeom>
          <a:solidFill>
            <a:srgbClr val="FFFFFF"/>
          </a:solidFill>
          <a:ln w="15875">
            <a:solidFill>
              <a:srgbClr val="E4DECF"/>
            </a:solidFill>
            <a:prstDash val="solid"/>
          </a:ln>
        </p:spPr>
      </p:sp>
      <p:sp>
        <p:nvSpPr>
          <p:cNvPr id="6" name="Shape 4"/>
          <p:cNvSpPr/>
          <p:nvPr/>
        </p:nvSpPr>
        <p:spPr>
          <a:xfrm>
            <a:off x="667512" y="1856232"/>
            <a:ext cx="2880360" cy="292608"/>
          </a:xfrm>
          <a:prstGeom prst="roundRect">
            <a:avLst>
              <a:gd name="adj" fmla="val 15625"/>
            </a:avLst>
          </a:prstGeom>
          <a:solidFill>
            <a:srgbClr val="F3F0E6"/>
          </a:solidFill>
          <a:ln w="12700">
            <a:solidFill>
              <a:srgbClr val="F3F0E6"/>
            </a:solidFill>
            <a:prstDash val="solid"/>
          </a:ln>
        </p:spPr>
      </p:sp>
      <p:sp>
        <p:nvSpPr>
          <p:cNvPr id="7" name="Text 5"/>
          <p:cNvSpPr/>
          <p:nvPr/>
        </p:nvSpPr>
        <p:spPr>
          <a:xfrm>
            <a:off x="667512" y="1856232"/>
            <a:ext cx="2880360" cy="292608"/>
          </a:xfrm>
          <a:prstGeom prst="rect">
            <a:avLst/>
          </a:prstGeom>
          <a:noFill/>
          <a:ln/>
        </p:spPr>
        <p:txBody>
          <a:bodyPr wrap="square" lIns="0" tIns="0" rIns="0" bIns="0" rtlCol="0" anchor="ctr"/>
          <a:lstStyle/>
          <a:p>
            <a:pPr algn="ctr" indent="0" marL="0">
              <a:buNone/>
            </a:pPr>
            <a:r>
              <a:rPr lang="en-US" sz="1000" dirty="0">
                <a:solidFill>
                  <a:srgbClr val="55604F"/>
                </a:solidFill>
                <a:latin typeface="Courier New" pitchFamily="34" charset="0"/>
                <a:ea typeface="Courier New" pitchFamily="34" charset="-122"/>
                <a:cs typeface="Courier New" pitchFamily="34" charset="-120"/>
              </a:rPr>
              <a:t>01  ·  declareRoster</a:t>
            </a:r>
            <a:endParaRPr lang="en-US" sz="1000" dirty="0"/>
          </a:p>
        </p:txBody>
      </p:sp>
      <p:sp>
        <p:nvSpPr>
          <p:cNvPr id="8" name="Text 6"/>
          <p:cNvSpPr/>
          <p:nvPr/>
        </p:nvSpPr>
        <p:spPr>
          <a:xfrm>
            <a:off x="685800" y="2240280"/>
            <a:ext cx="3310128" cy="347472"/>
          </a:xfrm>
          <a:prstGeom prst="rect">
            <a:avLst/>
          </a:prstGeom>
          <a:noFill/>
          <a:ln/>
        </p:spPr>
        <p:txBody>
          <a:bodyPr wrap="square" lIns="0" tIns="0" rIns="0" bIns="0" rtlCol="0" anchor="ctr"/>
          <a:lstStyle/>
          <a:p>
            <a:pPr indent="0" marL="0">
              <a:buNone/>
            </a:pPr>
            <a:r>
              <a:rPr lang="en-US" sz="1800" b="1" dirty="0">
                <a:solidFill>
                  <a:srgbClr val="202B22"/>
                </a:solidFill>
                <a:latin typeface="Calibri" pitchFamily="34" charset="0"/>
                <a:ea typeface="Calibri" pitchFamily="34" charset="-122"/>
                <a:cs typeface="Calibri" pitchFamily="34" charset="-120"/>
              </a:rPr>
              <a:t>Commit</a:t>
            </a:r>
            <a:endParaRPr lang="en-US" sz="1800" dirty="0"/>
          </a:p>
        </p:txBody>
      </p:sp>
      <p:sp>
        <p:nvSpPr>
          <p:cNvPr id="9" name="Text 7"/>
          <p:cNvSpPr/>
          <p:nvPr/>
        </p:nvSpPr>
        <p:spPr>
          <a:xfrm>
            <a:off x="685800" y="2651760"/>
            <a:ext cx="3310128" cy="960120"/>
          </a:xfrm>
          <a:prstGeom prst="rect">
            <a:avLst/>
          </a:prstGeom>
          <a:noFill/>
          <a:ln/>
        </p:spPr>
        <p:txBody>
          <a:bodyPr wrap="square" lIns="0" tIns="0" rIns="0" bIns="0" rtlCol="0" anchor="ctr"/>
          <a:lstStyle/>
          <a:p>
            <a:pPr indent="0" marL="0">
              <a:buNone/>
            </a:pPr>
            <a:r>
              <a:rPr lang="en-US" sz="1400" dirty="0">
                <a:solidFill>
                  <a:srgbClr val="55604F"/>
                </a:solidFill>
                <a:latin typeface="Calibri" pitchFamily="34" charset="0"/>
                <a:ea typeface="Calibri" pitchFamily="34" charset="-122"/>
                <a:cs typeface="Calibri" pitchFamily="34" charset="-120"/>
              </a:rPr>
              <a:t>The payroll provider commits a hiding hash of every row, in one transaction.</a:t>
            </a:r>
            <a:endParaRPr lang="en-US" sz="1400" dirty="0"/>
          </a:p>
        </p:txBody>
      </p:sp>
      <p:sp>
        <p:nvSpPr>
          <p:cNvPr id="10" name="Shape 8"/>
          <p:cNvSpPr/>
          <p:nvPr/>
        </p:nvSpPr>
        <p:spPr>
          <a:xfrm>
            <a:off x="4343400" y="1691640"/>
            <a:ext cx="3675888" cy="2084832"/>
          </a:xfrm>
          <a:prstGeom prst="roundRect">
            <a:avLst>
              <a:gd name="adj" fmla="val 4386"/>
            </a:avLst>
          </a:prstGeom>
          <a:solidFill>
            <a:srgbClr val="FFFFFF"/>
          </a:solidFill>
          <a:ln w="15875">
            <a:solidFill>
              <a:srgbClr val="E4DECF"/>
            </a:solidFill>
            <a:prstDash val="solid"/>
          </a:ln>
        </p:spPr>
      </p:sp>
      <p:sp>
        <p:nvSpPr>
          <p:cNvPr id="11" name="Shape 9"/>
          <p:cNvSpPr/>
          <p:nvPr/>
        </p:nvSpPr>
        <p:spPr>
          <a:xfrm>
            <a:off x="4507992" y="1856232"/>
            <a:ext cx="2880360" cy="292608"/>
          </a:xfrm>
          <a:prstGeom prst="roundRect">
            <a:avLst>
              <a:gd name="adj" fmla="val 15625"/>
            </a:avLst>
          </a:prstGeom>
          <a:solidFill>
            <a:srgbClr val="F3F0E6"/>
          </a:solidFill>
          <a:ln w="12700">
            <a:solidFill>
              <a:srgbClr val="F3F0E6"/>
            </a:solidFill>
            <a:prstDash val="solid"/>
          </a:ln>
        </p:spPr>
      </p:sp>
      <p:sp>
        <p:nvSpPr>
          <p:cNvPr id="12" name="Text 10"/>
          <p:cNvSpPr/>
          <p:nvPr/>
        </p:nvSpPr>
        <p:spPr>
          <a:xfrm>
            <a:off x="4507992" y="1856232"/>
            <a:ext cx="2880360" cy="292608"/>
          </a:xfrm>
          <a:prstGeom prst="rect">
            <a:avLst/>
          </a:prstGeom>
          <a:noFill/>
          <a:ln/>
        </p:spPr>
        <p:txBody>
          <a:bodyPr wrap="square" lIns="0" tIns="0" rIns="0" bIns="0" rtlCol="0" anchor="ctr"/>
          <a:lstStyle/>
          <a:p>
            <a:pPr algn="ctr" indent="0" marL="0">
              <a:buNone/>
            </a:pPr>
            <a:r>
              <a:rPr lang="en-US" sz="1000" dirty="0">
                <a:solidFill>
                  <a:srgbClr val="55604F"/>
                </a:solidFill>
                <a:latin typeface="Courier New" pitchFamily="34" charset="0"/>
                <a:ea typeface="Courier New" pitchFamily="34" charset="-122"/>
                <a:cs typeface="Courier New" pitchFamily="34" charset="-120"/>
              </a:rPr>
              <a:t>02  ·  confirmPayroll</a:t>
            </a:r>
            <a:endParaRPr lang="en-US" sz="1000" dirty="0"/>
          </a:p>
        </p:txBody>
      </p:sp>
      <p:sp>
        <p:nvSpPr>
          <p:cNvPr id="13" name="Text 11"/>
          <p:cNvSpPr/>
          <p:nvPr/>
        </p:nvSpPr>
        <p:spPr>
          <a:xfrm>
            <a:off x="4526280" y="2240280"/>
            <a:ext cx="3310128" cy="347472"/>
          </a:xfrm>
          <a:prstGeom prst="rect">
            <a:avLst/>
          </a:prstGeom>
          <a:noFill/>
          <a:ln/>
        </p:spPr>
        <p:txBody>
          <a:bodyPr wrap="square" lIns="0" tIns="0" rIns="0" bIns="0" rtlCol="0" anchor="ctr"/>
          <a:lstStyle/>
          <a:p>
            <a:pPr indent="0" marL="0">
              <a:buNone/>
            </a:pPr>
            <a:r>
              <a:rPr lang="en-US" sz="1800" b="1" dirty="0">
                <a:solidFill>
                  <a:srgbClr val="202B22"/>
                </a:solidFill>
                <a:latin typeface="Calibri" pitchFamily="34" charset="0"/>
                <a:ea typeface="Calibri" pitchFamily="34" charset="-122"/>
                <a:cs typeface="Calibri" pitchFamily="34" charset="-120"/>
              </a:rPr>
              <a:t>Council</a:t>
            </a:r>
            <a:endParaRPr lang="en-US" sz="1800" dirty="0"/>
          </a:p>
        </p:txBody>
      </p:sp>
      <p:sp>
        <p:nvSpPr>
          <p:cNvPr id="14" name="Text 12"/>
          <p:cNvSpPr/>
          <p:nvPr/>
        </p:nvSpPr>
        <p:spPr>
          <a:xfrm>
            <a:off x="4526280" y="2651760"/>
            <a:ext cx="3310128" cy="960120"/>
          </a:xfrm>
          <a:prstGeom prst="rect">
            <a:avLst/>
          </a:prstGeom>
          <a:noFill/>
          <a:ln/>
        </p:spPr>
        <p:txBody>
          <a:bodyPr wrap="square" lIns="0" tIns="0" rIns="0" bIns="0" rtlCol="0" anchor="ctr"/>
          <a:lstStyle/>
          <a:p>
            <a:pPr indent="0" marL="0">
              <a:buNone/>
            </a:pPr>
            <a:r>
              <a:rPr lang="en-US" sz="1400" dirty="0">
                <a:solidFill>
                  <a:srgbClr val="55604F"/>
                </a:solidFill>
                <a:latin typeface="Calibri" pitchFamily="34" charset="0"/>
                <a:ea typeface="Calibri" pitchFamily="34" charset="-122"/>
                <a:cs typeface="Calibri" pitchFamily="34" charset="-120"/>
              </a:rPr>
              <a:t>The works council opens every committed row. Enrollment stays closed until it does.</a:t>
            </a:r>
            <a:endParaRPr lang="en-US" sz="1400" dirty="0"/>
          </a:p>
        </p:txBody>
      </p:sp>
      <p:sp>
        <p:nvSpPr>
          <p:cNvPr id="15" name="Shape 13"/>
          <p:cNvSpPr/>
          <p:nvPr/>
        </p:nvSpPr>
        <p:spPr>
          <a:xfrm>
            <a:off x="8183880" y="1691640"/>
            <a:ext cx="3675888" cy="2084832"/>
          </a:xfrm>
          <a:prstGeom prst="roundRect">
            <a:avLst>
              <a:gd name="adj" fmla="val 4386"/>
            </a:avLst>
          </a:prstGeom>
          <a:solidFill>
            <a:srgbClr val="FFFFFF"/>
          </a:solidFill>
          <a:ln w="15875">
            <a:solidFill>
              <a:srgbClr val="E4DECF"/>
            </a:solidFill>
            <a:prstDash val="solid"/>
          </a:ln>
        </p:spPr>
      </p:sp>
      <p:sp>
        <p:nvSpPr>
          <p:cNvPr id="16" name="Shape 14"/>
          <p:cNvSpPr/>
          <p:nvPr/>
        </p:nvSpPr>
        <p:spPr>
          <a:xfrm>
            <a:off x="8348472" y="1856232"/>
            <a:ext cx="2880360" cy="292608"/>
          </a:xfrm>
          <a:prstGeom prst="roundRect">
            <a:avLst>
              <a:gd name="adj" fmla="val 15625"/>
            </a:avLst>
          </a:prstGeom>
          <a:solidFill>
            <a:srgbClr val="F3F0E6"/>
          </a:solidFill>
          <a:ln w="12700">
            <a:solidFill>
              <a:srgbClr val="F3F0E6"/>
            </a:solidFill>
            <a:prstDash val="solid"/>
          </a:ln>
        </p:spPr>
      </p:sp>
      <p:sp>
        <p:nvSpPr>
          <p:cNvPr id="17" name="Text 15"/>
          <p:cNvSpPr/>
          <p:nvPr/>
        </p:nvSpPr>
        <p:spPr>
          <a:xfrm>
            <a:off x="8348472" y="1856232"/>
            <a:ext cx="2880360" cy="292608"/>
          </a:xfrm>
          <a:prstGeom prst="rect">
            <a:avLst/>
          </a:prstGeom>
          <a:noFill/>
          <a:ln/>
        </p:spPr>
        <p:txBody>
          <a:bodyPr wrap="square" lIns="0" tIns="0" rIns="0" bIns="0" rtlCol="0" anchor="ctr"/>
          <a:lstStyle/>
          <a:p>
            <a:pPr algn="ctr" indent="0" marL="0">
              <a:buNone/>
            </a:pPr>
            <a:r>
              <a:rPr lang="en-US" sz="1000" dirty="0">
                <a:solidFill>
                  <a:srgbClr val="55604F"/>
                </a:solidFill>
                <a:latin typeface="Courier New" pitchFamily="34" charset="0"/>
                <a:ea typeface="Courier New" pitchFamily="34" charset="-122"/>
                <a:cs typeface="Courier New" pitchFamily="34" charset="-120"/>
              </a:rPr>
              <a:t>03  ·  enroll</a:t>
            </a:r>
            <a:endParaRPr lang="en-US" sz="1000" dirty="0"/>
          </a:p>
        </p:txBody>
      </p:sp>
      <p:sp>
        <p:nvSpPr>
          <p:cNvPr id="18" name="Text 16"/>
          <p:cNvSpPr/>
          <p:nvPr/>
        </p:nvSpPr>
        <p:spPr>
          <a:xfrm>
            <a:off x="8366760" y="2240280"/>
            <a:ext cx="3310128" cy="347472"/>
          </a:xfrm>
          <a:prstGeom prst="rect">
            <a:avLst/>
          </a:prstGeom>
          <a:noFill/>
          <a:ln/>
        </p:spPr>
        <p:txBody>
          <a:bodyPr wrap="square" lIns="0" tIns="0" rIns="0" bIns="0" rtlCol="0" anchor="ctr"/>
          <a:lstStyle/>
          <a:p>
            <a:pPr indent="0" marL="0">
              <a:buNone/>
            </a:pPr>
            <a:r>
              <a:rPr lang="en-US" sz="1800" b="1" dirty="0">
                <a:solidFill>
                  <a:srgbClr val="202B22"/>
                </a:solidFill>
                <a:latin typeface="Calibri" pitchFamily="34" charset="0"/>
                <a:ea typeface="Calibri" pitchFamily="34" charset="-122"/>
                <a:cs typeface="Calibri" pitchFamily="34" charset="-120"/>
              </a:rPr>
              <a:t>Bind</a:t>
            </a:r>
            <a:endParaRPr lang="en-US" sz="1800" dirty="0"/>
          </a:p>
        </p:txBody>
      </p:sp>
      <p:sp>
        <p:nvSpPr>
          <p:cNvPr id="19" name="Text 17"/>
          <p:cNvSpPr/>
          <p:nvPr/>
        </p:nvSpPr>
        <p:spPr>
          <a:xfrm>
            <a:off x="8366760" y="2651760"/>
            <a:ext cx="3310128" cy="960120"/>
          </a:xfrm>
          <a:prstGeom prst="rect">
            <a:avLst/>
          </a:prstGeom>
          <a:noFill/>
          <a:ln/>
        </p:spPr>
        <p:txBody>
          <a:bodyPr wrap="square" lIns="0" tIns="0" rIns="0" bIns="0" rtlCol="0" anchor="ctr"/>
          <a:lstStyle/>
          <a:p>
            <a:pPr indent="0" marL="0">
              <a:buNone/>
            </a:pPr>
            <a:r>
              <a:rPr lang="en-US" sz="1400" dirty="0">
                <a:solidFill>
                  <a:srgbClr val="55604F"/>
                </a:solidFill>
                <a:latin typeface="Calibri" pitchFamily="34" charset="0"/>
                <a:ea typeface="Calibri" pitchFamily="34" charset="-122"/>
                <a:cs typeface="Calibri" pitchFamily="34" charset="-120"/>
              </a:rPr>
              <a:t>The employee seals their record and proves it opens an unclaimed payroll row.</a:t>
            </a:r>
            <a:endParaRPr lang="en-US" sz="1400" dirty="0"/>
          </a:p>
        </p:txBody>
      </p:sp>
      <p:sp>
        <p:nvSpPr>
          <p:cNvPr id="20" name="Shape 18"/>
          <p:cNvSpPr/>
          <p:nvPr/>
        </p:nvSpPr>
        <p:spPr>
          <a:xfrm>
            <a:off x="502920" y="3931920"/>
            <a:ext cx="3675888" cy="2084832"/>
          </a:xfrm>
          <a:prstGeom prst="roundRect">
            <a:avLst>
              <a:gd name="adj" fmla="val 4386"/>
            </a:avLst>
          </a:prstGeom>
          <a:solidFill>
            <a:srgbClr val="FFFFFF"/>
          </a:solidFill>
          <a:ln w="15875">
            <a:solidFill>
              <a:srgbClr val="E4DECF"/>
            </a:solidFill>
            <a:prstDash val="solid"/>
          </a:ln>
        </p:spPr>
      </p:sp>
      <p:sp>
        <p:nvSpPr>
          <p:cNvPr id="21" name="Shape 19"/>
          <p:cNvSpPr/>
          <p:nvPr/>
        </p:nvSpPr>
        <p:spPr>
          <a:xfrm>
            <a:off x="667512" y="4096512"/>
            <a:ext cx="2880360" cy="292608"/>
          </a:xfrm>
          <a:prstGeom prst="roundRect">
            <a:avLst>
              <a:gd name="adj" fmla="val 15625"/>
            </a:avLst>
          </a:prstGeom>
          <a:solidFill>
            <a:srgbClr val="F3F0E6"/>
          </a:solidFill>
          <a:ln w="12700">
            <a:solidFill>
              <a:srgbClr val="F3F0E6"/>
            </a:solidFill>
            <a:prstDash val="solid"/>
          </a:ln>
        </p:spPr>
      </p:sp>
      <p:sp>
        <p:nvSpPr>
          <p:cNvPr id="22" name="Text 20"/>
          <p:cNvSpPr/>
          <p:nvPr/>
        </p:nvSpPr>
        <p:spPr>
          <a:xfrm>
            <a:off x="667512" y="4096512"/>
            <a:ext cx="2880360" cy="292608"/>
          </a:xfrm>
          <a:prstGeom prst="rect">
            <a:avLst/>
          </a:prstGeom>
          <a:noFill/>
          <a:ln/>
        </p:spPr>
        <p:txBody>
          <a:bodyPr wrap="square" lIns="0" tIns="0" rIns="0" bIns="0" rtlCol="0" anchor="ctr"/>
          <a:lstStyle/>
          <a:p>
            <a:pPr algn="ctr" indent="0" marL="0">
              <a:buNone/>
            </a:pPr>
            <a:r>
              <a:rPr lang="en-US" sz="1000" dirty="0">
                <a:solidFill>
                  <a:srgbClr val="55604F"/>
                </a:solidFill>
                <a:latin typeface="Courier New" pitchFamily="34" charset="0"/>
                <a:ea typeface="Courier New" pitchFamily="34" charset="-122"/>
                <a:cs typeface="Courier New" pitchFamily="34" charset="-120"/>
              </a:rPr>
              <a:t>04  ·  publishReport</a:t>
            </a:r>
            <a:endParaRPr lang="en-US" sz="1000" dirty="0"/>
          </a:p>
        </p:txBody>
      </p:sp>
      <p:sp>
        <p:nvSpPr>
          <p:cNvPr id="23" name="Text 21"/>
          <p:cNvSpPr/>
          <p:nvPr/>
        </p:nvSpPr>
        <p:spPr>
          <a:xfrm>
            <a:off x="685800" y="4480560"/>
            <a:ext cx="3310128" cy="347472"/>
          </a:xfrm>
          <a:prstGeom prst="rect">
            <a:avLst/>
          </a:prstGeom>
          <a:noFill/>
          <a:ln/>
        </p:spPr>
        <p:txBody>
          <a:bodyPr wrap="square" lIns="0" tIns="0" rIns="0" bIns="0" rtlCol="0" anchor="ctr"/>
          <a:lstStyle/>
          <a:p>
            <a:pPr indent="0" marL="0">
              <a:buNone/>
            </a:pPr>
            <a:r>
              <a:rPr lang="en-US" sz="1800" b="1" dirty="0">
                <a:solidFill>
                  <a:srgbClr val="202B22"/>
                </a:solidFill>
                <a:latin typeface="Calibri" pitchFamily="34" charset="0"/>
                <a:ea typeface="Calibri" pitchFamily="34" charset="-122"/>
                <a:cs typeface="Calibri" pitchFamily="34" charset="-120"/>
              </a:rPr>
              <a:t>Basic pay</a:t>
            </a:r>
            <a:endParaRPr lang="en-US" sz="1800" dirty="0"/>
          </a:p>
        </p:txBody>
      </p:sp>
      <p:sp>
        <p:nvSpPr>
          <p:cNvPr id="24" name="Text 22"/>
          <p:cNvSpPr/>
          <p:nvPr/>
        </p:nvSpPr>
        <p:spPr>
          <a:xfrm>
            <a:off x="685800" y="4892040"/>
            <a:ext cx="3310128" cy="960120"/>
          </a:xfrm>
          <a:prstGeom prst="rect">
            <a:avLst/>
          </a:prstGeom>
          <a:noFill/>
          <a:ln/>
        </p:spPr>
        <p:txBody>
          <a:bodyPr wrap="square" lIns="0" tIns="0" rIns="0" bIns="0" rtlCol="0" anchor="ctr"/>
          <a:lstStyle/>
          <a:p>
            <a:pPr indent="0" marL="0">
              <a:buNone/>
            </a:pPr>
            <a:r>
              <a:rPr lang="en-US" sz="1400" dirty="0">
                <a:solidFill>
                  <a:srgbClr val="55604F"/>
                </a:solidFill>
                <a:latin typeface="Calibri" pitchFamily="34" charset="0"/>
                <a:ea typeface="Calibri" pitchFamily="34" charset="-122"/>
                <a:cs typeface="Calibri" pitchFamily="34" charset="-120"/>
              </a:rPr>
              <a:t>Mean gap, median gap, and each category's gap, suppressed below k = 3.</a:t>
            </a:r>
            <a:endParaRPr lang="en-US" sz="1400" dirty="0"/>
          </a:p>
        </p:txBody>
      </p:sp>
      <p:sp>
        <p:nvSpPr>
          <p:cNvPr id="25" name="Shape 23"/>
          <p:cNvSpPr/>
          <p:nvPr/>
        </p:nvSpPr>
        <p:spPr>
          <a:xfrm>
            <a:off x="4343400" y="3931920"/>
            <a:ext cx="3675888" cy="2084832"/>
          </a:xfrm>
          <a:prstGeom prst="roundRect">
            <a:avLst>
              <a:gd name="adj" fmla="val 4386"/>
            </a:avLst>
          </a:prstGeom>
          <a:solidFill>
            <a:srgbClr val="FFFFFF"/>
          </a:solidFill>
          <a:ln w="15875">
            <a:solidFill>
              <a:srgbClr val="E4DECF"/>
            </a:solidFill>
            <a:prstDash val="solid"/>
          </a:ln>
        </p:spPr>
      </p:sp>
      <p:sp>
        <p:nvSpPr>
          <p:cNvPr id="26" name="Shape 24"/>
          <p:cNvSpPr/>
          <p:nvPr/>
        </p:nvSpPr>
        <p:spPr>
          <a:xfrm>
            <a:off x="4507992" y="4096512"/>
            <a:ext cx="2880360" cy="292608"/>
          </a:xfrm>
          <a:prstGeom prst="roundRect">
            <a:avLst>
              <a:gd name="adj" fmla="val 15625"/>
            </a:avLst>
          </a:prstGeom>
          <a:solidFill>
            <a:srgbClr val="F3F0E6"/>
          </a:solidFill>
          <a:ln w="12700">
            <a:solidFill>
              <a:srgbClr val="F3F0E6"/>
            </a:solidFill>
            <a:prstDash val="solid"/>
          </a:ln>
        </p:spPr>
      </p:sp>
      <p:sp>
        <p:nvSpPr>
          <p:cNvPr id="27" name="Text 25"/>
          <p:cNvSpPr/>
          <p:nvPr/>
        </p:nvSpPr>
        <p:spPr>
          <a:xfrm>
            <a:off x="4507992" y="4096512"/>
            <a:ext cx="2880360" cy="292608"/>
          </a:xfrm>
          <a:prstGeom prst="rect">
            <a:avLst/>
          </a:prstGeom>
          <a:noFill/>
          <a:ln/>
        </p:spPr>
        <p:txBody>
          <a:bodyPr wrap="square" lIns="0" tIns="0" rIns="0" bIns="0" rtlCol="0" anchor="ctr"/>
          <a:lstStyle/>
          <a:p>
            <a:pPr algn="ctr" indent="0" marL="0">
              <a:buNone/>
            </a:pPr>
            <a:r>
              <a:rPr lang="en-US" sz="1000" dirty="0">
                <a:solidFill>
                  <a:srgbClr val="55604F"/>
                </a:solidFill>
                <a:latin typeface="Courier New" pitchFamily="34" charset="0"/>
                <a:ea typeface="Courier New" pitchFamily="34" charset="-122"/>
                <a:cs typeface="Courier New" pitchFamily="34" charset="-120"/>
              </a:rPr>
              <a:t>05  ·  publishVariablePay</a:t>
            </a:r>
            <a:endParaRPr lang="en-US" sz="1000" dirty="0"/>
          </a:p>
        </p:txBody>
      </p:sp>
      <p:sp>
        <p:nvSpPr>
          <p:cNvPr id="28" name="Text 26"/>
          <p:cNvSpPr/>
          <p:nvPr/>
        </p:nvSpPr>
        <p:spPr>
          <a:xfrm>
            <a:off x="4526280" y="4480560"/>
            <a:ext cx="3310128" cy="347472"/>
          </a:xfrm>
          <a:prstGeom prst="rect">
            <a:avLst/>
          </a:prstGeom>
          <a:noFill/>
          <a:ln/>
        </p:spPr>
        <p:txBody>
          <a:bodyPr wrap="square" lIns="0" tIns="0" rIns="0" bIns="0" rtlCol="0" anchor="ctr"/>
          <a:lstStyle/>
          <a:p>
            <a:pPr indent="0" marL="0">
              <a:buNone/>
            </a:pPr>
            <a:r>
              <a:rPr lang="en-US" sz="1800" b="1" dirty="0">
                <a:solidFill>
                  <a:srgbClr val="202B22"/>
                </a:solidFill>
                <a:latin typeface="Calibri" pitchFamily="34" charset="0"/>
                <a:ea typeface="Calibri" pitchFamily="34" charset="-122"/>
                <a:cs typeface="Calibri" pitchFamily="34" charset="-120"/>
              </a:rPr>
              <a:t>The rest</a:t>
            </a:r>
            <a:endParaRPr lang="en-US" sz="1800" dirty="0"/>
          </a:p>
        </p:txBody>
      </p:sp>
      <p:sp>
        <p:nvSpPr>
          <p:cNvPr id="29" name="Text 27"/>
          <p:cNvSpPr/>
          <p:nvPr/>
        </p:nvSpPr>
        <p:spPr>
          <a:xfrm>
            <a:off x="4526280" y="4892040"/>
            <a:ext cx="3310128" cy="960120"/>
          </a:xfrm>
          <a:prstGeom prst="rect">
            <a:avLst/>
          </a:prstGeom>
          <a:noFill/>
          <a:ln/>
        </p:spPr>
        <p:txBody>
          <a:bodyPr wrap="square" lIns="0" tIns="0" rIns="0" bIns="0" rtlCol="0" anchor="ctr"/>
          <a:lstStyle/>
          <a:p>
            <a:pPr indent="0" marL="0">
              <a:buNone/>
            </a:pPr>
            <a:r>
              <a:rPr lang="en-US" sz="1400" dirty="0">
                <a:solidFill>
                  <a:srgbClr val="55604F"/>
                </a:solidFill>
                <a:latin typeface="Calibri" pitchFamily="34" charset="0"/>
                <a:ea typeface="Calibri" pitchFamily="34" charset="-122"/>
                <a:cs typeface="Calibri" pitchFamily="34" charset="-120"/>
              </a:rPr>
              <a:t>Variable-pay gaps, who receives it, and the gender mix of each pay quartile.</a:t>
            </a:r>
            <a:endParaRPr lang="en-US" sz="1400" dirty="0"/>
          </a:p>
        </p:txBody>
      </p:sp>
      <p:sp>
        <p:nvSpPr>
          <p:cNvPr id="30" name="Shape 28"/>
          <p:cNvSpPr/>
          <p:nvPr/>
        </p:nvSpPr>
        <p:spPr>
          <a:xfrm>
            <a:off x="8183880" y="3931920"/>
            <a:ext cx="3675888" cy="2084832"/>
          </a:xfrm>
          <a:prstGeom prst="roundRect">
            <a:avLst>
              <a:gd name="adj" fmla="val 4386"/>
            </a:avLst>
          </a:prstGeom>
          <a:solidFill>
            <a:srgbClr val="FFFFFF"/>
          </a:solidFill>
          <a:ln w="15875">
            <a:solidFill>
              <a:srgbClr val="E4DECF"/>
            </a:solidFill>
            <a:prstDash val="solid"/>
          </a:ln>
        </p:spPr>
      </p:sp>
      <p:sp>
        <p:nvSpPr>
          <p:cNvPr id="31" name="Shape 29"/>
          <p:cNvSpPr/>
          <p:nvPr/>
        </p:nvSpPr>
        <p:spPr>
          <a:xfrm>
            <a:off x="8348472" y="4096512"/>
            <a:ext cx="2880360" cy="292608"/>
          </a:xfrm>
          <a:prstGeom prst="roundRect">
            <a:avLst>
              <a:gd name="adj" fmla="val 15625"/>
            </a:avLst>
          </a:prstGeom>
          <a:solidFill>
            <a:srgbClr val="F3F0E6"/>
          </a:solidFill>
          <a:ln w="12700">
            <a:solidFill>
              <a:srgbClr val="F3F0E6"/>
            </a:solidFill>
            <a:prstDash val="solid"/>
          </a:ln>
        </p:spPr>
      </p:sp>
      <p:sp>
        <p:nvSpPr>
          <p:cNvPr id="32" name="Text 30"/>
          <p:cNvSpPr/>
          <p:nvPr/>
        </p:nvSpPr>
        <p:spPr>
          <a:xfrm>
            <a:off x="8348472" y="4096512"/>
            <a:ext cx="2880360" cy="292608"/>
          </a:xfrm>
          <a:prstGeom prst="rect">
            <a:avLst/>
          </a:prstGeom>
          <a:noFill/>
          <a:ln/>
        </p:spPr>
        <p:txBody>
          <a:bodyPr wrap="square" lIns="0" tIns="0" rIns="0" bIns="0" rtlCol="0" anchor="ctr"/>
          <a:lstStyle/>
          <a:p>
            <a:pPr algn="ctr" indent="0" marL="0">
              <a:buNone/>
            </a:pPr>
            <a:r>
              <a:rPr lang="en-US" sz="1000" dirty="0">
                <a:solidFill>
                  <a:srgbClr val="55604F"/>
                </a:solidFill>
                <a:latin typeface="Courier New" pitchFamily="34" charset="0"/>
                <a:ea typeface="Courier New" pitchFamily="34" charset="-122"/>
                <a:cs typeface="Courier New" pitchFamily="34" charset="-120"/>
              </a:rPr>
              <a:t>06  ·  checkReceipt</a:t>
            </a:r>
            <a:endParaRPr lang="en-US" sz="1000" dirty="0"/>
          </a:p>
        </p:txBody>
      </p:sp>
      <p:sp>
        <p:nvSpPr>
          <p:cNvPr id="33" name="Text 31"/>
          <p:cNvSpPr/>
          <p:nvPr/>
        </p:nvSpPr>
        <p:spPr>
          <a:xfrm>
            <a:off x="8366760" y="4480560"/>
            <a:ext cx="3310128" cy="347472"/>
          </a:xfrm>
          <a:prstGeom prst="rect">
            <a:avLst/>
          </a:prstGeom>
          <a:noFill/>
          <a:ln/>
        </p:spPr>
        <p:txBody>
          <a:bodyPr wrap="square" lIns="0" tIns="0" rIns="0" bIns="0" rtlCol="0" anchor="ctr"/>
          <a:lstStyle/>
          <a:p>
            <a:pPr indent="0" marL="0">
              <a:buNone/>
            </a:pPr>
            <a:r>
              <a:rPr lang="en-US" sz="1800" b="1" dirty="0">
                <a:solidFill>
                  <a:srgbClr val="202B22"/>
                </a:solidFill>
                <a:latin typeface="Calibri" pitchFamily="34" charset="0"/>
                <a:ea typeface="Calibri" pitchFamily="34" charset="-122"/>
                <a:cs typeface="Calibri" pitchFamily="34" charset="-120"/>
              </a:rPr>
              <a:t>Receipt</a:t>
            </a:r>
            <a:endParaRPr lang="en-US" sz="1800" dirty="0"/>
          </a:p>
        </p:txBody>
      </p:sp>
      <p:sp>
        <p:nvSpPr>
          <p:cNvPr id="34" name="Text 32"/>
          <p:cNvSpPr/>
          <p:nvPr/>
        </p:nvSpPr>
        <p:spPr>
          <a:xfrm>
            <a:off x="8366760" y="4892040"/>
            <a:ext cx="3310128" cy="960120"/>
          </a:xfrm>
          <a:prstGeom prst="rect">
            <a:avLst/>
          </a:prstGeom>
          <a:noFill/>
          <a:ln/>
        </p:spPr>
        <p:txBody>
          <a:bodyPr wrap="square" lIns="0" tIns="0" rIns="0" bIns="0" rtlCol="0" anchor="ctr"/>
          <a:lstStyle/>
          <a:p>
            <a:pPr indent="0" marL="0">
              <a:buNone/>
            </a:pPr>
            <a:r>
              <a:rPr lang="en-US" sz="1400" dirty="0">
                <a:solidFill>
                  <a:srgbClr val="55604F"/>
                </a:solidFill>
                <a:latin typeface="Calibri" pitchFamily="34" charset="0"/>
                <a:ea typeface="Calibri" pitchFamily="34" charset="-122"/>
                <a:cs typeface="Calibri" pitchFamily="34" charset="-120"/>
              </a:rPr>
              <a:t>An employee proves their record is in the tree, against the on-chain root.</a:t>
            </a:r>
            <a:endParaRPr lang="en-US" sz="1400" dirty="0"/>
          </a:p>
        </p:txBody>
      </p:sp>
      <p:sp>
        <p:nvSpPr>
          <p:cNvPr id="35" name="Text 33"/>
          <p:cNvSpPr/>
          <p:nvPr/>
        </p:nvSpPr>
        <p:spPr>
          <a:xfrm>
            <a:off x="502920" y="6510528"/>
            <a:ext cx="8412480" cy="219456"/>
          </a:xfrm>
          <a:prstGeom prst="rect">
            <a:avLst/>
          </a:prstGeom>
          <a:noFill/>
          <a:ln/>
        </p:spPr>
        <p:txBody>
          <a:bodyPr wrap="square" lIns="0" tIns="0" rIns="0" bIns="0" rtlCol="0" anchor="ctr"/>
          <a:lstStyle/>
          <a:p>
            <a:pPr indent="0" marL="0">
              <a:buNone/>
            </a:pPr>
            <a:r>
              <a:rPr lang="en-US" sz="1100" spc="80" kern="0" dirty="0">
                <a:solidFill>
                  <a:srgbClr val="8A9384"/>
                </a:solidFill>
                <a:latin typeface="Courier New" pitchFamily="34" charset="0"/>
                <a:ea typeface="Courier New" pitchFamily="34" charset="-122"/>
                <a:cs typeface="Courier New" pitchFamily="34" charset="-120"/>
              </a:rPr>
              <a:t>EQUILUX</a:t>
            </a:r>
            <a:endParaRPr lang="en-US" sz="1100" dirty="0"/>
          </a:p>
        </p:txBody>
      </p:sp>
      <p:sp>
        <p:nvSpPr>
          <p:cNvPr id="36" name="Text 34"/>
          <p:cNvSpPr/>
          <p:nvPr/>
        </p:nvSpPr>
        <p:spPr>
          <a:xfrm>
            <a:off x="9052560" y="6510528"/>
            <a:ext cx="2633472" cy="219456"/>
          </a:xfrm>
          <a:prstGeom prst="rect">
            <a:avLst/>
          </a:prstGeom>
          <a:noFill/>
          <a:ln/>
        </p:spPr>
        <p:txBody>
          <a:bodyPr wrap="square" lIns="0" tIns="0" rIns="0" bIns="0" rtlCol="0" anchor="ctr"/>
          <a:lstStyle/>
          <a:p>
            <a:pPr algn="r" indent="0" marL="0">
              <a:buNone/>
            </a:pPr>
            <a:r>
              <a:rPr lang="en-US" sz="1100" spc="80" kern="0" dirty="0">
                <a:solidFill>
                  <a:srgbClr val="8A9384"/>
                </a:solidFill>
                <a:latin typeface="Courier New" pitchFamily="34" charset="0"/>
                <a:ea typeface="Courier New" pitchFamily="34" charset="-122"/>
                <a:cs typeface="Courier New" pitchFamily="34" charset="-120"/>
              </a:rPr>
              <a:t>06  /  12</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31A15"/>
        </a:solidFill>
      </p:bgPr>
    </p:bg>
    <p:spTree>
      <p:nvGrpSpPr>
        <p:cNvPr id="1" name=""/>
        <p:cNvGrpSpPr/>
        <p:nvPr/>
      </p:nvGrpSpPr>
      <p:grpSpPr>
        <a:xfrm>
          <a:off x="0" y="0"/>
          <a:ext cx="0" cy="0"/>
          <a:chOff x="0" y="0"/>
          <a:chExt cx="0" cy="0"/>
        </a:xfrm>
      </p:grpSpPr>
      <p:sp>
        <p:nvSpPr>
          <p:cNvPr id="2" name="Shape 0"/>
          <p:cNvSpPr/>
          <p:nvPr/>
        </p:nvSpPr>
        <p:spPr>
          <a:xfrm>
            <a:off x="502920" y="420624"/>
            <a:ext cx="256032" cy="22860"/>
          </a:xfrm>
          <a:prstGeom prst="rect">
            <a:avLst/>
          </a:prstGeom>
          <a:solidFill>
            <a:srgbClr val="FFD85F"/>
          </a:solidFill>
          <a:ln/>
        </p:spPr>
      </p:sp>
      <p:sp>
        <p:nvSpPr>
          <p:cNvPr id="3" name="Text 1"/>
          <p:cNvSpPr/>
          <p:nvPr/>
        </p:nvSpPr>
        <p:spPr>
          <a:xfrm>
            <a:off x="877824" y="310896"/>
            <a:ext cx="10607040" cy="256032"/>
          </a:xfrm>
          <a:prstGeom prst="rect">
            <a:avLst/>
          </a:prstGeom>
          <a:noFill/>
          <a:ln/>
        </p:spPr>
        <p:txBody>
          <a:bodyPr wrap="square" lIns="0" tIns="0" rIns="0" bIns="0" rtlCol="0" anchor="ctr"/>
          <a:lstStyle/>
          <a:p>
            <a:pPr indent="0" marL="0">
              <a:buNone/>
            </a:pPr>
            <a:r>
              <a:rPr lang="en-US" sz="1100" spc="160" kern="0" dirty="0">
                <a:solidFill>
                  <a:srgbClr val="FFD85F"/>
                </a:solidFill>
                <a:latin typeface="Courier New" pitchFamily="34" charset="0"/>
                <a:ea typeface="Courier New" pitchFamily="34" charset="-122"/>
                <a:cs typeface="Courier New" pitchFamily="34" charset="-120"/>
              </a:rPr>
              <a:t>MIDNIGHT'S DUAL LEDGER  ·  WHY THIS ONLY WORKS HERE</a:t>
            </a:r>
            <a:endParaRPr lang="en-US" sz="1100" dirty="0"/>
          </a:p>
        </p:txBody>
      </p:sp>
      <p:sp>
        <p:nvSpPr>
          <p:cNvPr id="4" name="Text 2"/>
          <p:cNvSpPr/>
          <p:nvPr/>
        </p:nvSpPr>
        <p:spPr>
          <a:xfrm>
            <a:off x="502920" y="640080"/>
            <a:ext cx="11155680" cy="960120"/>
          </a:xfrm>
          <a:prstGeom prst="rect">
            <a:avLst/>
          </a:prstGeom>
          <a:noFill/>
          <a:ln/>
        </p:spPr>
        <p:txBody>
          <a:bodyPr wrap="square" lIns="0" tIns="0" rIns="0" bIns="0" rtlCol="0" anchor="ctr"/>
          <a:lstStyle/>
          <a:p>
            <a:pPr indent="0" marL="0">
              <a:buNone/>
            </a:pPr>
            <a:r>
              <a:rPr lang="en-US" sz="2800" b="1" dirty="0">
                <a:solidFill>
                  <a:srgbClr val="FAF6E9"/>
                </a:solidFill>
                <a:latin typeface="Calibri" pitchFamily="34" charset="0"/>
                <a:ea typeface="Calibri" pitchFamily="34" charset="-122"/>
                <a:cs typeface="Calibri" pitchFamily="34" charset="-120"/>
              </a:rPr>
              <a:t>Private state holds the payroll. Public state holds the proof.</a:t>
            </a:r>
            <a:endParaRPr lang="en-US" sz="2800" dirty="0"/>
          </a:p>
        </p:txBody>
      </p:sp>
      <p:sp>
        <p:nvSpPr>
          <p:cNvPr id="5" name="Shape 3"/>
          <p:cNvSpPr/>
          <p:nvPr/>
        </p:nvSpPr>
        <p:spPr>
          <a:xfrm>
            <a:off x="502920" y="1783080"/>
            <a:ext cx="5486400" cy="3520440"/>
          </a:xfrm>
          <a:prstGeom prst="roundRect">
            <a:avLst>
              <a:gd name="adj" fmla="val 2597"/>
            </a:avLst>
          </a:prstGeom>
          <a:solidFill>
            <a:srgbClr val="1A241C"/>
          </a:solidFill>
          <a:ln w="15875">
            <a:solidFill>
              <a:srgbClr val="3E4C40"/>
            </a:solidFill>
            <a:prstDash val="solid"/>
          </a:ln>
        </p:spPr>
      </p:sp>
      <p:sp>
        <p:nvSpPr>
          <p:cNvPr id="6" name="Shape 4"/>
          <p:cNvSpPr/>
          <p:nvPr/>
        </p:nvSpPr>
        <p:spPr>
          <a:xfrm>
            <a:off x="6199632" y="1783080"/>
            <a:ext cx="5486400" cy="3520440"/>
          </a:xfrm>
          <a:prstGeom prst="roundRect">
            <a:avLst>
              <a:gd name="adj" fmla="val 2597"/>
            </a:avLst>
          </a:prstGeom>
          <a:solidFill>
            <a:srgbClr val="1A241C"/>
          </a:solidFill>
          <a:ln w="15875">
            <a:solidFill>
              <a:srgbClr val="3E4C40"/>
            </a:solidFill>
            <a:prstDash val="solid"/>
          </a:ln>
        </p:spPr>
      </p:sp>
      <p:sp>
        <p:nvSpPr>
          <p:cNvPr id="7" name="Text 5"/>
          <p:cNvSpPr/>
          <p:nvPr/>
        </p:nvSpPr>
        <p:spPr>
          <a:xfrm>
            <a:off x="731520" y="1938528"/>
            <a:ext cx="5029200" cy="365760"/>
          </a:xfrm>
          <a:prstGeom prst="rect">
            <a:avLst/>
          </a:prstGeom>
          <a:noFill/>
          <a:ln/>
        </p:spPr>
        <p:txBody>
          <a:bodyPr wrap="square" lIns="0" tIns="0" rIns="0" bIns="0" rtlCol="0" anchor="ctr"/>
          <a:lstStyle/>
          <a:p>
            <a:pPr indent="0" marL="0">
              <a:buNone/>
            </a:pPr>
            <a:r>
              <a:rPr lang="en-US" sz="1800" b="1" dirty="0">
                <a:solidFill>
                  <a:srgbClr val="FAF6E9"/>
                </a:solidFill>
                <a:latin typeface="Calibri" pitchFamily="34" charset="0"/>
                <a:ea typeface="Calibri" pitchFamily="34" charset="-122"/>
                <a:cs typeface="Calibri" pitchFamily="34" charset="-120"/>
              </a:rPr>
              <a:t>Private state  ·  witnesses</a:t>
            </a:r>
            <a:endParaRPr lang="en-US" sz="1800" dirty="0"/>
          </a:p>
        </p:txBody>
      </p:sp>
      <p:sp>
        <p:nvSpPr>
          <p:cNvPr id="8" name="Text 6"/>
          <p:cNvSpPr/>
          <p:nvPr/>
        </p:nvSpPr>
        <p:spPr>
          <a:xfrm>
            <a:off x="6428232" y="1938528"/>
            <a:ext cx="5029200" cy="365760"/>
          </a:xfrm>
          <a:prstGeom prst="rect">
            <a:avLst/>
          </a:prstGeom>
          <a:noFill/>
          <a:ln/>
        </p:spPr>
        <p:txBody>
          <a:bodyPr wrap="square" lIns="0" tIns="0" rIns="0" bIns="0" rtlCol="0" anchor="ctr"/>
          <a:lstStyle/>
          <a:p>
            <a:pPr indent="0" marL="0">
              <a:buNone/>
            </a:pPr>
            <a:r>
              <a:rPr lang="en-US" sz="1800" b="1" dirty="0">
                <a:solidFill>
                  <a:srgbClr val="FFD85F"/>
                </a:solidFill>
                <a:latin typeface="Calibri" pitchFamily="34" charset="0"/>
                <a:ea typeface="Calibri" pitchFamily="34" charset="-122"/>
                <a:cs typeface="Calibri" pitchFamily="34" charset="-120"/>
              </a:rPr>
              <a:t>Public ledger</a:t>
            </a:r>
            <a:endParaRPr lang="en-US" sz="1800" dirty="0"/>
          </a:p>
        </p:txBody>
      </p:sp>
      <p:sp>
        <p:nvSpPr>
          <p:cNvPr id="9" name="Text 7"/>
          <p:cNvSpPr/>
          <p:nvPr/>
        </p:nvSpPr>
        <p:spPr>
          <a:xfrm>
            <a:off x="731520" y="2377440"/>
            <a:ext cx="5029200" cy="2697480"/>
          </a:xfrm>
          <a:prstGeom prst="rect">
            <a:avLst/>
          </a:prstGeom>
          <a:noFill/>
          <a:ln/>
        </p:spPr>
        <p:txBody>
          <a:bodyPr wrap="square" lIns="0" tIns="0" rIns="0" bIns="0" rtlCol="0" anchor="ctr"/>
          <a:lstStyle/>
          <a:p>
            <a:pPr marL="342900" indent="-342900">
              <a:spcAft>
                <a:spcPts val="800"/>
              </a:spcAft>
              <a:buSzPct val="100000"/>
              <a:buChar char="•"/>
            </a:pPr>
            <a:r>
              <a:rPr lang="en-US" sz="1500" dirty="0">
                <a:solidFill>
                  <a:srgbClr val="C5CDC0"/>
                </a:solidFill>
                <a:latin typeface="Calibri" pitchFamily="34" charset="0"/>
                <a:ea typeface="Calibri" pitchFamily="34" charset="-122"/>
                <a:cs typeface="Calibri" pitchFamily="34" charset="-120"/>
              </a:rPr>
              <a:t>salary, variable pay, gender marker, category</a:t>
            </a:r>
            <a:endParaRPr lang="en-US" sz="1500" dirty="0"/>
          </a:p>
          <a:p>
            <a:pPr marL="342900" indent="-342900">
              <a:spcAft>
                <a:spcPts val="800"/>
              </a:spcAft>
              <a:buSzPct val="100000"/>
              <a:buChar char="•"/>
            </a:pPr>
            <a:r>
              <a:rPr lang="en-US" sz="1500" dirty="0">
                <a:solidFill>
                  <a:srgbClr val="C5CDC0"/>
                </a:solidFill>
                <a:latin typeface="Calibri" pitchFamily="34" charset="0"/>
                <a:ea typeface="Calibri" pitchFamily="34" charset="-122"/>
                <a:cs typeface="Calibri" pitchFamily="34" charset="-120"/>
              </a:rPr>
              <a:t>employee secret and the payslip nonce</a:t>
            </a:r>
            <a:endParaRPr lang="en-US" sz="1500" dirty="0"/>
          </a:p>
          <a:p>
            <a:pPr marL="342900" indent="-342900">
              <a:spcAft>
                <a:spcPts val="800"/>
              </a:spcAft>
              <a:buSzPct val="100000"/>
              <a:buChar char="•"/>
            </a:pPr>
            <a:r>
              <a:rPr lang="en-US" sz="1500" dirty="0">
                <a:solidFill>
                  <a:srgbClr val="C5CDC0"/>
                </a:solidFill>
                <a:latin typeface="Calibri" pitchFamily="34" charset="0"/>
                <a:ea typeface="Calibri" pitchFamily="34" charset="-122"/>
                <a:cs typeface="Calibri" pitchFamily="34" charset="-120"/>
              </a:rPr>
              <a:t>employer, provider, and works-council keys</a:t>
            </a:r>
            <a:endParaRPr lang="en-US" sz="1500" dirty="0"/>
          </a:p>
          <a:p>
            <a:pPr marL="342900" indent="-342900">
              <a:spcAft>
                <a:spcPts val="800"/>
              </a:spcAft>
              <a:buSzPct val="100000"/>
              <a:buChar char="•"/>
            </a:pPr>
            <a:r>
              <a:rPr lang="en-US" sz="1500" dirty="0">
                <a:solidFill>
                  <a:srgbClr val="C5CDC0"/>
                </a:solidFill>
                <a:latin typeface="Calibri" pitchFamily="34" charset="0"/>
                <a:ea typeface="Calibri" pitchFamily="34" charset="-122"/>
                <a:cs typeface="Calibri" pitchFamily="34" charset="-120"/>
              </a:rPr>
              <a:t>the full 16-slot payroll witness</a:t>
            </a:r>
            <a:endParaRPr lang="en-US" sz="1500" dirty="0"/>
          </a:p>
          <a:p>
            <a:pPr marL="342900" indent="-342900">
              <a:spcAft>
                <a:spcPts val="800"/>
              </a:spcAft>
              <a:buSzPct val="100000"/>
              <a:buChar char="•"/>
            </a:pPr>
            <a:r>
              <a:rPr lang="en-US" sz="1500" dirty="0">
                <a:solidFill>
                  <a:srgbClr val="C5CDC0"/>
                </a:solidFill>
                <a:latin typeface="Calibri" pitchFamily="34" charset="0"/>
                <a:ea typeface="Calibri" pitchFamily="34" charset="-122"/>
                <a:cs typeface="Calibri" pitchFamily="34" charset="-120"/>
              </a:rPr>
              <a:t>every claimed figure, including each quartile band</a:t>
            </a:r>
            <a:endParaRPr lang="en-US" sz="1500" dirty="0"/>
          </a:p>
        </p:txBody>
      </p:sp>
      <p:sp>
        <p:nvSpPr>
          <p:cNvPr id="10" name="Text 8"/>
          <p:cNvSpPr/>
          <p:nvPr/>
        </p:nvSpPr>
        <p:spPr>
          <a:xfrm>
            <a:off x="6428232" y="2377440"/>
            <a:ext cx="5029200" cy="2697480"/>
          </a:xfrm>
          <a:prstGeom prst="rect">
            <a:avLst/>
          </a:prstGeom>
          <a:noFill/>
          <a:ln/>
        </p:spPr>
        <p:txBody>
          <a:bodyPr wrap="square" lIns="0" tIns="0" rIns="0" bIns="0" rtlCol="0" anchor="ctr"/>
          <a:lstStyle/>
          <a:p>
            <a:pPr marL="342900" indent="-342900">
              <a:spcAft>
                <a:spcPts val="800"/>
              </a:spcAft>
              <a:buSzPct val="100000"/>
              <a:buChar char="•"/>
            </a:pPr>
            <a:r>
              <a:rPr lang="en-US" sz="1500" dirty="0">
                <a:solidFill>
                  <a:srgbClr val="C5CDC0"/>
                </a:solidFill>
                <a:latin typeface="Calibri" pitchFamily="34" charset="0"/>
                <a:ea typeface="Calibri" pitchFamily="34" charset="-122"/>
                <a:cs typeface="Calibri" pitchFamily="34" charset="-120"/>
              </a:rPr>
              <a:t>commitments — a depth-5 Merkle tree</a:t>
            </a:r>
            <a:endParaRPr lang="en-US" sz="1500" dirty="0"/>
          </a:p>
          <a:p>
            <a:pPr marL="342900" indent="-342900">
              <a:spcAft>
                <a:spcPts val="800"/>
              </a:spcAft>
              <a:buSzPct val="100000"/>
              <a:buChar char="•"/>
            </a:pPr>
            <a:r>
              <a:rPr lang="en-US" sz="1500" dirty="0">
                <a:solidFill>
                  <a:srgbClr val="C5CDC0"/>
                </a:solidFill>
                <a:latin typeface="Calibri" pitchFamily="34" charset="0"/>
                <a:ea typeface="Calibri" pitchFamily="34" charset="-122"/>
                <a:cs typeface="Calibri" pitchFamily="34" charset="-120"/>
              </a:rPr>
              <a:t>payroll-row hashes, nullifiers, bound commitments</a:t>
            </a:r>
            <a:endParaRPr lang="en-US" sz="1500" dirty="0"/>
          </a:p>
          <a:p>
            <a:pPr marL="342900" indent="-342900">
              <a:spcAft>
                <a:spcPts val="800"/>
              </a:spcAft>
              <a:buSzPct val="100000"/>
              <a:buChar char="•"/>
            </a:pPr>
            <a:r>
              <a:rPr lang="en-US" sz="1500" dirty="0">
                <a:solidFill>
                  <a:srgbClr val="C5CDC0"/>
                </a:solidFill>
                <a:latin typeface="Calibri" pitchFamily="34" charset="0"/>
                <a:ea typeface="Calibri" pitchFamily="34" charset="-122"/>
                <a:cs typeface="Calibri" pitchFamily="34" charset="-120"/>
              </a:rPr>
              <a:t>three role keys, headcount, council confirmation</a:t>
            </a:r>
            <a:endParaRPr lang="en-US" sz="1500" dirty="0"/>
          </a:p>
          <a:p>
            <a:pPr marL="342900" indent="-342900">
              <a:spcAft>
                <a:spcPts val="800"/>
              </a:spcAft>
              <a:buSzPct val="100000"/>
              <a:buChar char="•"/>
            </a:pPr>
            <a:r>
              <a:rPr lang="en-US" sz="1500" dirty="0">
                <a:solidFill>
                  <a:srgbClr val="C5CDC0"/>
                </a:solidFill>
                <a:latin typeface="Calibri" pitchFamily="34" charset="0"/>
                <a:ea typeface="Calibri" pitchFamily="34" charset="-122"/>
                <a:cs typeface="Calibri" pitchFamily="34" charset="-120"/>
              </a:rPr>
              <a:t>both reports: all seven Article 9 indicators</a:t>
            </a:r>
            <a:endParaRPr lang="en-US" sz="1500" dirty="0"/>
          </a:p>
          <a:p>
            <a:pPr marL="342900" indent="-342900">
              <a:spcAft>
                <a:spcPts val="800"/>
              </a:spcAft>
              <a:buSzPct val="100000"/>
              <a:buChar char="•"/>
            </a:pPr>
            <a:r>
              <a:rPr lang="en-US" sz="1500" dirty="0">
                <a:solidFill>
                  <a:srgbClr val="C5CDC0"/>
                </a:solidFill>
                <a:latin typeface="Calibri" pitchFamily="34" charset="0"/>
                <a:ea typeface="Calibri" pitchFamily="34" charset="-122"/>
                <a:cs typeface="Calibri" pitchFamily="34" charset="-120"/>
              </a:rPr>
              <a:t>the zero-knowledge proof for every transition</a:t>
            </a:r>
            <a:endParaRPr lang="en-US" sz="1500" dirty="0"/>
          </a:p>
        </p:txBody>
      </p:sp>
      <p:sp>
        <p:nvSpPr>
          <p:cNvPr id="11" name="Text 9"/>
          <p:cNvSpPr/>
          <p:nvPr/>
        </p:nvSpPr>
        <p:spPr>
          <a:xfrm>
            <a:off x="502920" y="5486400"/>
            <a:ext cx="11155680" cy="640080"/>
          </a:xfrm>
          <a:prstGeom prst="rect">
            <a:avLst/>
          </a:prstGeom>
          <a:noFill/>
          <a:ln/>
        </p:spPr>
        <p:txBody>
          <a:bodyPr wrap="square" lIns="0" tIns="0" rIns="0" bIns="0" rtlCol="0" anchor="ctr"/>
          <a:lstStyle/>
          <a:p>
            <a:pPr indent="0" marL="0">
              <a:buNone/>
            </a:pPr>
            <a:r>
              <a:rPr lang="en-US" sz="1600" dirty="0">
                <a:solidFill>
                  <a:srgbClr val="C5CDC0"/>
                </a:solidFill>
                <a:latin typeface="Calibri" pitchFamily="34" charset="0"/>
                <a:ea typeface="Calibri" pitchFamily="34" charset="-122"/>
                <a:cs typeface="Calibri" pitchFamily="34" charset="-120"/>
              </a:rPr>
              <a:t>Every witness that reaches the ledger passes an explicit </a:t>
            </a:r>
            <a:pPr indent="0" marL="0">
              <a:buNone/>
            </a:pPr>
            <a:r>
              <a:rPr lang="en-US" sz="1600" dirty="0">
                <a:solidFill>
                  <a:srgbClr val="FFD85F"/>
                </a:solidFill>
                <a:latin typeface="Courier New" pitchFamily="34" charset="0"/>
                <a:ea typeface="Courier New" pitchFamily="34" charset="-122"/>
                <a:cs typeface="Courier New" pitchFamily="34" charset="-120"/>
              </a:rPr>
              <a:t>disclose()</a:t>
            </a:r>
            <a:pPr indent="0" marL="0">
              <a:buNone/>
            </a:pPr>
            <a:r>
              <a:rPr lang="en-US" sz="1600" dirty="0">
                <a:solidFill>
                  <a:srgbClr val="C5CDC0"/>
                </a:solidFill>
                <a:latin typeface="Calibri" pitchFamily="34" charset="0"/>
                <a:ea typeface="Calibri" pitchFamily="34" charset="-122"/>
                <a:cs typeface="Calibri" pitchFamily="34" charset="-120"/>
              </a:rPr>
              <a:t>. The compiler refuses anything else.</a:t>
            </a:r>
            <a:endParaRPr lang="en-US" sz="1600" dirty="0"/>
          </a:p>
        </p:txBody>
      </p:sp>
      <p:sp>
        <p:nvSpPr>
          <p:cNvPr id="12" name="Text 10"/>
          <p:cNvSpPr/>
          <p:nvPr/>
        </p:nvSpPr>
        <p:spPr>
          <a:xfrm>
            <a:off x="502920" y="6510528"/>
            <a:ext cx="8412480" cy="219456"/>
          </a:xfrm>
          <a:prstGeom prst="rect">
            <a:avLst/>
          </a:prstGeom>
          <a:noFill/>
          <a:ln/>
        </p:spPr>
        <p:txBody>
          <a:bodyPr wrap="square" lIns="0" tIns="0" rIns="0" bIns="0" rtlCol="0" anchor="ctr"/>
          <a:lstStyle/>
          <a:p>
            <a:pPr indent="0" marL="0">
              <a:buNone/>
            </a:pPr>
            <a:r>
              <a:rPr lang="en-US" sz="1100" spc="80" kern="0" dirty="0">
                <a:solidFill>
                  <a:srgbClr val="8A9384"/>
                </a:solidFill>
                <a:latin typeface="Courier New" pitchFamily="34" charset="0"/>
                <a:ea typeface="Courier New" pitchFamily="34" charset="-122"/>
                <a:cs typeface="Courier New" pitchFamily="34" charset="-120"/>
              </a:rPr>
              <a:t>EQUILUX</a:t>
            </a:r>
            <a:endParaRPr lang="en-US" sz="1100" dirty="0"/>
          </a:p>
        </p:txBody>
      </p:sp>
      <p:sp>
        <p:nvSpPr>
          <p:cNvPr id="13" name="Text 11"/>
          <p:cNvSpPr/>
          <p:nvPr/>
        </p:nvSpPr>
        <p:spPr>
          <a:xfrm>
            <a:off x="9052560" y="6510528"/>
            <a:ext cx="2633472" cy="219456"/>
          </a:xfrm>
          <a:prstGeom prst="rect">
            <a:avLst/>
          </a:prstGeom>
          <a:noFill/>
          <a:ln/>
        </p:spPr>
        <p:txBody>
          <a:bodyPr wrap="square" lIns="0" tIns="0" rIns="0" bIns="0" rtlCol="0" anchor="ctr"/>
          <a:lstStyle/>
          <a:p>
            <a:pPr algn="r" indent="0" marL="0">
              <a:buNone/>
            </a:pPr>
            <a:r>
              <a:rPr lang="en-US" sz="1100" spc="80" kern="0" dirty="0">
                <a:solidFill>
                  <a:srgbClr val="8A9384"/>
                </a:solidFill>
                <a:latin typeface="Courier New" pitchFamily="34" charset="0"/>
                <a:ea typeface="Courier New" pitchFamily="34" charset="-122"/>
                <a:cs typeface="Courier New" pitchFamily="34" charset="-120"/>
              </a:rPr>
              <a:t>07  /  12</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02B22"/>
        </a:solidFill>
      </p:bgPr>
    </p:bg>
    <p:spTree>
      <p:nvGrpSpPr>
        <p:cNvPr id="1" name=""/>
        <p:cNvGrpSpPr/>
        <p:nvPr/>
      </p:nvGrpSpPr>
      <p:grpSpPr>
        <a:xfrm>
          <a:off x="0" y="0"/>
          <a:ext cx="0" cy="0"/>
          <a:chOff x="0" y="0"/>
          <a:chExt cx="0" cy="0"/>
        </a:xfrm>
      </p:grpSpPr>
      <p:sp>
        <p:nvSpPr>
          <p:cNvPr id="2" name="Shape 0"/>
          <p:cNvSpPr/>
          <p:nvPr/>
        </p:nvSpPr>
        <p:spPr>
          <a:xfrm>
            <a:off x="502920" y="420624"/>
            <a:ext cx="256032" cy="22860"/>
          </a:xfrm>
          <a:prstGeom prst="rect">
            <a:avLst/>
          </a:prstGeom>
          <a:solidFill>
            <a:srgbClr val="FFD85F"/>
          </a:solidFill>
          <a:ln/>
        </p:spPr>
      </p:sp>
      <p:sp>
        <p:nvSpPr>
          <p:cNvPr id="3" name="Text 1"/>
          <p:cNvSpPr/>
          <p:nvPr/>
        </p:nvSpPr>
        <p:spPr>
          <a:xfrm>
            <a:off x="877824" y="310896"/>
            <a:ext cx="10607040" cy="256032"/>
          </a:xfrm>
          <a:prstGeom prst="rect">
            <a:avLst/>
          </a:prstGeom>
          <a:noFill/>
          <a:ln/>
        </p:spPr>
        <p:txBody>
          <a:bodyPr wrap="square" lIns="0" tIns="0" rIns="0" bIns="0" rtlCol="0" anchor="ctr"/>
          <a:lstStyle/>
          <a:p>
            <a:pPr indent="0" marL="0">
              <a:buNone/>
            </a:pPr>
            <a:r>
              <a:rPr lang="en-US" sz="1100" spc="160" kern="0" dirty="0">
                <a:solidFill>
                  <a:srgbClr val="FFD85F"/>
                </a:solidFill>
                <a:latin typeface="Courier New" pitchFamily="34" charset="0"/>
                <a:ea typeface="Courier New" pitchFamily="34" charset="-122"/>
                <a:cs typeface="Courier New" pitchFamily="34" charset="-120"/>
              </a:rPr>
              <a:t>WAVE 2 EVIDENCE  ·  REAL PROOFS ON A MIDNIGHT NETWORK</a:t>
            </a:r>
            <a:endParaRPr lang="en-US" sz="1100" dirty="0"/>
          </a:p>
        </p:txBody>
      </p:sp>
      <p:sp>
        <p:nvSpPr>
          <p:cNvPr id="4" name="Text 2"/>
          <p:cNvSpPr/>
          <p:nvPr/>
        </p:nvSpPr>
        <p:spPr>
          <a:xfrm>
            <a:off x="502920" y="621792"/>
            <a:ext cx="11155680" cy="502920"/>
          </a:xfrm>
          <a:prstGeom prst="rect">
            <a:avLst/>
          </a:prstGeom>
          <a:noFill/>
          <a:ln/>
        </p:spPr>
        <p:txBody>
          <a:bodyPr wrap="square" lIns="0" tIns="0" rIns="0" bIns="0" rtlCol="0" anchor="ctr"/>
          <a:lstStyle/>
          <a:p>
            <a:pPr indent="0" marL="0">
              <a:buNone/>
            </a:pPr>
            <a:r>
              <a:rPr lang="en-US" sz="2800" b="1" dirty="0">
                <a:solidFill>
                  <a:srgbClr val="FAF6E9"/>
                </a:solidFill>
                <a:latin typeface="Calibri" pitchFamily="34" charset="0"/>
                <a:ea typeface="Calibri" pitchFamily="34" charset="-122"/>
                <a:cs typeface="Calibri" pitchFamily="34" charset="-120"/>
              </a:rPr>
              <a:t>Fourteen people. Two reports. On public preprod.</a:t>
            </a:r>
            <a:endParaRPr lang="en-US" sz="2800" dirty="0"/>
          </a:p>
        </p:txBody>
      </p:sp>
      <p:sp>
        <p:nvSpPr>
          <p:cNvPr id="5" name="Shape 3"/>
          <p:cNvSpPr/>
          <p:nvPr/>
        </p:nvSpPr>
        <p:spPr>
          <a:xfrm>
            <a:off x="502920" y="1280160"/>
            <a:ext cx="3675888" cy="1417320"/>
          </a:xfrm>
          <a:prstGeom prst="roundRect">
            <a:avLst>
              <a:gd name="adj" fmla="val 6452"/>
            </a:avLst>
          </a:prstGeom>
          <a:solidFill>
            <a:srgbClr val="1A241C"/>
          </a:solidFill>
          <a:ln w="15875">
            <a:solidFill>
              <a:srgbClr val="3E4C40"/>
            </a:solidFill>
            <a:prstDash val="solid"/>
          </a:ln>
        </p:spPr>
      </p:sp>
      <p:sp>
        <p:nvSpPr>
          <p:cNvPr id="6" name="Text 4"/>
          <p:cNvSpPr/>
          <p:nvPr/>
        </p:nvSpPr>
        <p:spPr>
          <a:xfrm>
            <a:off x="685800" y="1371600"/>
            <a:ext cx="3291840" cy="640080"/>
          </a:xfrm>
          <a:prstGeom prst="rect">
            <a:avLst/>
          </a:prstGeom>
          <a:noFill/>
          <a:ln/>
        </p:spPr>
        <p:txBody>
          <a:bodyPr wrap="square" lIns="0" tIns="0" rIns="0" bIns="0" rtlCol="0" anchor="ctr"/>
          <a:lstStyle/>
          <a:p>
            <a:pPr indent="0" marL="0">
              <a:buNone/>
            </a:pPr>
            <a:r>
              <a:rPr lang="en-US" sz="3600" b="1" dirty="0">
                <a:solidFill>
                  <a:srgbClr val="FAF6E9"/>
                </a:solidFill>
                <a:latin typeface="Calibri" pitchFamily="34" charset="0"/>
                <a:ea typeface="Calibri" pitchFamily="34" charset="-122"/>
                <a:cs typeface="Calibri" pitchFamily="34" charset="-120"/>
              </a:rPr>
              <a:t>6</a:t>
            </a:r>
            <a:endParaRPr lang="en-US" sz="3600" dirty="0"/>
          </a:p>
        </p:txBody>
      </p:sp>
      <p:sp>
        <p:nvSpPr>
          <p:cNvPr id="7" name="Text 5"/>
          <p:cNvSpPr/>
          <p:nvPr/>
        </p:nvSpPr>
        <p:spPr>
          <a:xfrm>
            <a:off x="685800" y="1993392"/>
            <a:ext cx="3291840" cy="566928"/>
          </a:xfrm>
          <a:prstGeom prst="rect">
            <a:avLst/>
          </a:prstGeom>
          <a:noFill/>
          <a:ln/>
        </p:spPr>
        <p:txBody>
          <a:bodyPr wrap="square" lIns="0" tIns="0" rIns="0" bIns="0" rtlCol="0" anchor="t"/>
          <a:lstStyle/>
          <a:p>
            <a:pPr indent="0" marL="0">
              <a:buNone/>
            </a:pPr>
            <a:r>
              <a:rPr lang="en-US" sz="1100" dirty="0">
                <a:solidFill>
                  <a:srgbClr val="C5CDC0"/>
                </a:solidFill>
                <a:latin typeface="Courier New" pitchFamily="34" charset="0"/>
                <a:ea typeface="Courier New" pitchFamily="34" charset="-122"/>
                <a:cs typeface="Courier New" pitchFamily="34" charset="-120"/>
              </a:rPr>
              <a:t>PROVING CIRCUITS</a:t>
            </a:r>
            <a:endParaRPr lang="en-US" sz="1100" dirty="0"/>
          </a:p>
          <a:p>
            <a:pPr indent="0" marL="0">
              <a:buNone/>
            </a:pPr>
            <a:r>
              <a:rPr lang="en-US" sz="1100" dirty="0">
                <a:solidFill>
                  <a:srgbClr val="C5CDC0"/>
                </a:solidFill>
                <a:latin typeface="Courier New" pitchFamily="34" charset="0"/>
                <a:ea typeface="Courier New" pitchFamily="34" charset="-122"/>
                <a:cs typeface="Courier New" pitchFamily="34" charset="-120"/>
              </a:rPr>
              <a:t>PROVER + VERIFIER KEYS</a:t>
            </a:r>
            <a:endParaRPr lang="en-US" sz="1100" dirty="0"/>
          </a:p>
        </p:txBody>
      </p:sp>
      <p:sp>
        <p:nvSpPr>
          <p:cNvPr id="8" name="Shape 6"/>
          <p:cNvSpPr/>
          <p:nvPr/>
        </p:nvSpPr>
        <p:spPr>
          <a:xfrm>
            <a:off x="4343400" y="1280160"/>
            <a:ext cx="3675888" cy="1417320"/>
          </a:xfrm>
          <a:prstGeom prst="roundRect">
            <a:avLst>
              <a:gd name="adj" fmla="val 6452"/>
            </a:avLst>
          </a:prstGeom>
          <a:solidFill>
            <a:srgbClr val="1A241C"/>
          </a:solidFill>
          <a:ln w="15875">
            <a:solidFill>
              <a:srgbClr val="3E4C40"/>
            </a:solidFill>
            <a:prstDash val="solid"/>
          </a:ln>
        </p:spPr>
      </p:sp>
      <p:sp>
        <p:nvSpPr>
          <p:cNvPr id="9" name="Text 7"/>
          <p:cNvSpPr/>
          <p:nvPr/>
        </p:nvSpPr>
        <p:spPr>
          <a:xfrm>
            <a:off x="4526280" y="1371600"/>
            <a:ext cx="3291840" cy="640080"/>
          </a:xfrm>
          <a:prstGeom prst="rect">
            <a:avLst/>
          </a:prstGeom>
          <a:noFill/>
          <a:ln/>
        </p:spPr>
        <p:txBody>
          <a:bodyPr wrap="square" lIns="0" tIns="0" rIns="0" bIns="0" rtlCol="0" anchor="ctr"/>
          <a:lstStyle/>
          <a:p>
            <a:pPr indent="0" marL="0">
              <a:buNone/>
            </a:pPr>
            <a:r>
              <a:rPr lang="en-US" sz="3600" b="1" dirty="0">
                <a:solidFill>
                  <a:srgbClr val="FAF6E9"/>
                </a:solidFill>
                <a:latin typeface="Calibri" pitchFamily="34" charset="0"/>
                <a:ea typeface="Calibri" pitchFamily="34" charset="-122"/>
                <a:cs typeface="Calibri" pitchFamily="34" charset="-120"/>
              </a:rPr>
              <a:t>45</a:t>
            </a:r>
            <a:endParaRPr lang="en-US" sz="3600" dirty="0"/>
          </a:p>
        </p:txBody>
      </p:sp>
      <p:sp>
        <p:nvSpPr>
          <p:cNvPr id="10" name="Text 8"/>
          <p:cNvSpPr/>
          <p:nvPr/>
        </p:nvSpPr>
        <p:spPr>
          <a:xfrm>
            <a:off x="4526280" y="1993392"/>
            <a:ext cx="3291840" cy="566928"/>
          </a:xfrm>
          <a:prstGeom prst="rect">
            <a:avLst/>
          </a:prstGeom>
          <a:noFill/>
          <a:ln/>
        </p:spPr>
        <p:txBody>
          <a:bodyPr wrap="square" lIns="0" tIns="0" rIns="0" bIns="0" rtlCol="0" anchor="t"/>
          <a:lstStyle/>
          <a:p>
            <a:pPr indent="0" marL="0">
              <a:buNone/>
            </a:pPr>
            <a:r>
              <a:rPr lang="en-US" sz="1100" dirty="0">
                <a:solidFill>
                  <a:srgbClr val="C5CDC0"/>
                </a:solidFill>
                <a:latin typeface="Courier New" pitchFamily="34" charset="0"/>
                <a:ea typeface="Courier New" pitchFamily="34" charset="-122"/>
                <a:cs typeface="Courier New" pitchFamily="34" charset="-120"/>
              </a:rPr>
              <a:t>OF 55 TESTS</a:t>
            </a:r>
            <a:endParaRPr lang="en-US" sz="1100" dirty="0"/>
          </a:p>
          <a:p>
            <a:pPr indent="0" marL="0">
              <a:buNone/>
            </a:pPr>
            <a:r>
              <a:rPr lang="en-US" sz="1100" dirty="0">
                <a:solidFill>
                  <a:srgbClr val="C5CDC0"/>
                </a:solidFill>
                <a:latin typeface="Courier New" pitchFamily="34" charset="0"/>
                <a:ea typeface="Courier New" pitchFamily="34" charset="-122"/>
                <a:cs typeface="Courier New" pitchFamily="34" charset="-120"/>
              </a:rPr>
              <a:t>ON THE COMPILED CIRCUITS</a:t>
            </a:r>
            <a:endParaRPr lang="en-US" sz="1100" dirty="0"/>
          </a:p>
        </p:txBody>
      </p:sp>
      <p:sp>
        <p:nvSpPr>
          <p:cNvPr id="11" name="Shape 9"/>
          <p:cNvSpPr/>
          <p:nvPr/>
        </p:nvSpPr>
        <p:spPr>
          <a:xfrm>
            <a:off x="8183880" y="1280160"/>
            <a:ext cx="3675888" cy="1417320"/>
          </a:xfrm>
          <a:prstGeom prst="roundRect">
            <a:avLst>
              <a:gd name="adj" fmla="val 6452"/>
            </a:avLst>
          </a:prstGeom>
          <a:solidFill>
            <a:srgbClr val="1A241C"/>
          </a:solidFill>
          <a:ln w="15875">
            <a:solidFill>
              <a:srgbClr val="3E4C40"/>
            </a:solidFill>
            <a:prstDash val="solid"/>
          </a:ln>
        </p:spPr>
      </p:sp>
      <p:sp>
        <p:nvSpPr>
          <p:cNvPr id="12" name="Text 10"/>
          <p:cNvSpPr/>
          <p:nvPr/>
        </p:nvSpPr>
        <p:spPr>
          <a:xfrm>
            <a:off x="8366760" y="1371600"/>
            <a:ext cx="3291840" cy="640080"/>
          </a:xfrm>
          <a:prstGeom prst="rect">
            <a:avLst/>
          </a:prstGeom>
          <a:noFill/>
          <a:ln/>
        </p:spPr>
        <p:txBody>
          <a:bodyPr wrap="square" lIns="0" tIns="0" rIns="0" bIns="0" rtlCol="0" anchor="ctr"/>
          <a:lstStyle/>
          <a:p>
            <a:pPr indent="0" marL="0">
              <a:buNone/>
            </a:pPr>
            <a:r>
              <a:rPr lang="en-US" sz="3600" b="1" dirty="0">
                <a:solidFill>
                  <a:srgbClr val="FAF6E9"/>
                </a:solidFill>
                <a:latin typeface="Calibri" pitchFamily="34" charset="0"/>
                <a:ea typeface="Calibri" pitchFamily="34" charset="-122"/>
                <a:cs typeface="Calibri" pitchFamily="34" charset="-120"/>
              </a:rPr>
              <a:t>0</a:t>
            </a:r>
            <a:endParaRPr lang="en-US" sz="3600" dirty="0"/>
          </a:p>
        </p:txBody>
      </p:sp>
      <p:sp>
        <p:nvSpPr>
          <p:cNvPr id="13" name="Text 11"/>
          <p:cNvSpPr/>
          <p:nvPr/>
        </p:nvSpPr>
        <p:spPr>
          <a:xfrm>
            <a:off x="8366760" y="1993392"/>
            <a:ext cx="3291840" cy="566928"/>
          </a:xfrm>
          <a:prstGeom prst="rect">
            <a:avLst/>
          </a:prstGeom>
          <a:noFill/>
          <a:ln/>
        </p:spPr>
        <p:txBody>
          <a:bodyPr wrap="square" lIns="0" tIns="0" rIns="0" bIns="0" rtlCol="0" anchor="t"/>
          <a:lstStyle/>
          <a:p>
            <a:pPr indent="0" marL="0">
              <a:buNone/>
            </a:pPr>
            <a:r>
              <a:rPr lang="en-US" sz="1100" dirty="0">
                <a:solidFill>
                  <a:srgbClr val="C5CDC0"/>
                </a:solidFill>
                <a:latin typeface="Courier New" pitchFamily="34" charset="0"/>
                <a:ea typeface="Courier New" pitchFamily="34" charset="-122"/>
                <a:cs typeface="Courier New" pitchFamily="34" charset="-120"/>
              </a:rPr>
              <a:t>SALARIES ON CHAIN</a:t>
            </a:r>
            <a:endParaRPr lang="en-US" sz="1100" dirty="0"/>
          </a:p>
          <a:p>
            <a:pPr indent="0" marL="0">
              <a:buNone/>
            </a:pPr>
            <a:r>
              <a:rPr lang="en-US" sz="1100" dirty="0">
                <a:solidFill>
                  <a:srgbClr val="C5CDC0"/>
                </a:solidFill>
                <a:latin typeface="Courier New" pitchFamily="34" charset="0"/>
                <a:ea typeface="Courier New" pitchFamily="34" charset="-122"/>
                <a:cs typeface="Courier New" pitchFamily="34" charset="-120"/>
              </a:rPr>
              <a:t>EVER</a:t>
            </a:r>
            <a:endParaRPr lang="en-US" sz="1100" dirty="0"/>
          </a:p>
        </p:txBody>
      </p:sp>
      <p:sp>
        <p:nvSpPr>
          <p:cNvPr id="14" name="Shape 12"/>
          <p:cNvSpPr/>
          <p:nvPr/>
        </p:nvSpPr>
        <p:spPr>
          <a:xfrm>
            <a:off x="502920" y="2880360"/>
            <a:ext cx="11183112" cy="3246120"/>
          </a:xfrm>
          <a:prstGeom prst="roundRect">
            <a:avLst>
              <a:gd name="adj" fmla="val 2817"/>
            </a:avLst>
          </a:prstGeom>
          <a:solidFill>
            <a:srgbClr val="131A15"/>
          </a:solidFill>
          <a:ln w="15875">
            <a:solidFill>
              <a:srgbClr val="3E4C40"/>
            </a:solidFill>
            <a:prstDash val="solid"/>
          </a:ln>
        </p:spPr>
      </p:sp>
      <p:sp>
        <p:nvSpPr>
          <p:cNvPr id="15" name="Text 13"/>
          <p:cNvSpPr/>
          <p:nvPr/>
        </p:nvSpPr>
        <p:spPr>
          <a:xfrm>
            <a:off x="731520" y="3035808"/>
            <a:ext cx="10744200" cy="2926080"/>
          </a:xfrm>
          <a:prstGeom prst="rect">
            <a:avLst/>
          </a:prstGeom>
          <a:noFill/>
          <a:ln/>
        </p:spPr>
        <p:txBody>
          <a:bodyPr wrap="square" lIns="0" tIns="0" rIns="0" bIns="0" rtlCol="0" anchor="ctr"/>
          <a:lstStyle/>
          <a:p>
            <a:pPr indent="0" marL="0">
              <a:buNone/>
            </a:pPr>
            <a:r>
              <a:rPr lang="en-US" sz="1300" dirty="0">
                <a:solidFill>
                  <a:srgbClr val="FAF6E9"/>
                </a:solidFill>
                <a:latin typeface="Courier New" pitchFamily="34" charset="0"/>
                <a:ea typeface="Courier New" pitchFamily="34" charset="-122"/>
                <a:cs typeface="Courier New" pitchFamily="34" charset="-120"/>
              </a:rPr>
              <a:t>preprod contract </a:t>
            </a:r>
            <a:pPr indent="0" marL="0">
              <a:buNone/>
            </a:pPr>
            <a:r>
              <a:rPr lang="en-US" sz="1300" dirty="0">
                <a:solidFill>
                  <a:srgbClr val="FFD85F"/>
                </a:solidFill>
                <a:latin typeface="Courier New" pitchFamily="34" charset="0"/>
                <a:ea typeface="Courier New" pitchFamily="34" charset="-122"/>
                <a:cs typeface="Courier New" pitchFamily="34" charset="-120"/>
              </a:rPr>
              <a:t>598b346e…d1cb</a:t>
            </a:r>
            <a:endParaRPr lang="en-US" sz="1300" dirty="0"/>
          </a:p>
          <a:p>
            <a:pPr indent="0" marL="0">
              <a:buNone/>
            </a:pPr>
            <a:r>
              <a:rPr lang="en-US" sz="1300" dirty="0">
                <a:solidFill>
                  <a:srgbClr val="FAF6E9"/>
                </a:solidFill>
                <a:latin typeface="Courier New" pitchFamily="34" charset="0"/>
                <a:ea typeface="Courier New" pitchFamily="34" charset="-122"/>
                <a:cs typeface="Courier New" pitchFamily="34" charset="-120"/>
              </a:rPr>
              <a:t>declareRoster  ·  14 payroll-row hashes                         (block 2,787,454)</a:t>
            </a:r>
            <a:endParaRPr lang="en-US" sz="1300" dirty="0"/>
          </a:p>
          <a:p>
            <a:pPr indent="0" marL="0">
              <a:buNone/>
            </a:pPr>
            <a:r>
              <a:rPr lang="en-US" sz="1300" dirty="0">
                <a:solidFill>
                  <a:srgbClr val="FAF6E9"/>
                </a:solidFill>
                <a:latin typeface="Courier New" pitchFamily="34" charset="0"/>
                <a:ea typeface="Courier New" pitchFamily="34" charset="-122"/>
                <a:cs typeface="Courier New" pitchFamily="34" charset="-120"/>
              </a:rPr>
              <a:t>confirmPayroll  ·  works council opens every row               (block 2,787,463)</a:t>
            </a:r>
            <a:endParaRPr lang="en-US" sz="1300" dirty="0"/>
          </a:p>
          <a:p>
            <a:pPr indent="0" marL="0">
              <a:buNone/>
            </a:pPr>
            <a:r>
              <a:rPr lang="en-US" sz="1300" dirty="0">
                <a:solidFill>
                  <a:srgbClr val="FAF6E9"/>
                </a:solidFill>
                <a:latin typeface="Courier New" pitchFamily="34" charset="0"/>
                <a:ea typeface="Courier New" pitchFamily="34" charset="-122"/>
                <a:cs typeface="Courier New" pitchFamily="34" charset="-120"/>
              </a:rPr>
              <a:t>14 enrollments, each bound to its own row                    (blocks 2,787,468–2,787,529)</a:t>
            </a:r>
            <a:endParaRPr lang="en-US" sz="1300" dirty="0"/>
          </a:p>
          <a:p>
            <a:pPr indent="0" marL="0">
              <a:buNone/>
            </a:pPr>
            <a:r>
              <a:rPr lang="en-US" sz="1300" dirty="0">
                <a:solidFill>
                  <a:srgbClr val="FAF6E9"/>
                </a:solidFill>
                <a:latin typeface="Courier New" pitchFamily="34" charset="0"/>
                <a:ea typeface="Courier New" pitchFamily="34" charset="-122"/>
                <a:cs typeface="Courier New" pitchFamily="34" charset="-120"/>
              </a:rPr>
              <a:t>publishReport </a:t>
            </a:r>
            <a:pPr indent="0" marL="0">
              <a:buNone/>
            </a:pPr>
            <a:r>
              <a:rPr lang="en-US" sz="1300" dirty="0">
                <a:solidFill>
                  <a:srgbClr val="FFD85F"/>
                </a:solidFill>
                <a:latin typeface="Courier New" pitchFamily="34" charset="0"/>
                <a:ea typeface="Courier New" pitchFamily="34" charset="-122"/>
                <a:cs typeface="Courier New" pitchFamily="34" charset="-120"/>
              </a:rPr>
              <a:t>proven</a:t>
            </a:r>
            <a:pPr indent="0" marL="0">
              <a:buNone/>
            </a:pPr>
            <a:r>
              <a:rPr lang="en-US" sz="1300" dirty="0">
                <a:solidFill>
                  <a:srgbClr val="FAF6E9"/>
                </a:solidFill>
                <a:latin typeface="Courier New" pitchFamily="34" charset="0"/>
                <a:ea typeface="Courier New" pitchFamily="34" charset="-122"/>
                <a:cs typeface="Courier New" pitchFamily="34" charset="-120"/>
              </a:rPr>
              <a:t>  ·  mean 9.69%  ·  median 1.81%              (block 2,787,543)</a:t>
            </a:r>
            <a:endParaRPr lang="en-US" sz="1300" dirty="0"/>
          </a:p>
          <a:p>
            <a:pPr indent="0" marL="0">
              <a:buNone/>
            </a:pPr>
            <a:r>
              <a:rPr lang="en-US" sz="1300" dirty="0">
                <a:solidFill>
                  <a:srgbClr val="FAF6E9"/>
                </a:solidFill>
                <a:latin typeface="Courier New" pitchFamily="34" charset="0"/>
                <a:ea typeface="Courier New" pitchFamily="34" charset="-122"/>
                <a:cs typeface="Courier New" pitchFamily="34" charset="-120"/>
              </a:rPr>
              <a:t>publishVariablePay </a:t>
            </a:r>
            <a:pPr indent="0" marL="0">
              <a:buNone/>
            </a:pPr>
            <a:r>
              <a:rPr lang="en-US" sz="1300" dirty="0">
                <a:solidFill>
                  <a:srgbClr val="FFD85F"/>
                </a:solidFill>
                <a:latin typeface="Courier New" pitchFamily="34" charset="0"/>
                <a:ea typeface="Courier New" pitchFamily="34" charset="-122"/>
                <a:cs typeface="Courier New" pitchFamily="34" charset="-120"/>
              </a:rPr>
              <a:t>proven</a:t>
            </a:r>
            <a:pPr indent="0" marL="0">
              <a:buNone/>
            </a:pPr>
            <a:r>
              <a:rPr lang="en-US" sz="1300" dirty="0">
                <a:solidFill>
                  <a:srgbClr val="FAF6E9"/>
                </a:solidFill>
                <a:latin typeface="Courier New" pitchFamily="34" charset="0"/>
                <a:ea typeface="Courier New" pitchFamily="34" charset="-122"/>
                <a:cs typeface="Courier New" pitchFamily="34" charset="-120"/>
              </a:rPr>
              <a:t>  ·  variable-pay mean gap 27.50%      (block 2,787,556)</a:t>
            </a:r>
            <a:endParaRPr lang="en-US" sz="1300" dirty="0"/>
          </a:p>
          <a:p>
            <a:pPr indent="0" marL="0">
              <a:buNone/>
            </a:pPr>
            <a:r>
              <a:rPr lang="en-US" sz="1300" dirty="0">
                <a:solidFill>
                  <a:srgbClr val="FAF6E9"/>
                </a:solidFill>
                <a:latin typeface="Courier New" pitchFamily="34" charset="0"/>
                <a:ea typeface="Courier New" pitchFamily="34" charset="-122"/>
                <a:cs typeface="Courier New" pitchFamily="34" charset="-120"/>
              </a:rPr>
              <a:t>Engineering 13.88% flagged  ·  Sales 3.70%  ·  Operations suppressed  ·  </a:t>
            </a:r>
            <a:pPr indent="0" marL="0">
              <a:buNone/>
            </a:pPr>
            <a:r>
              <a:rPr lang="en-US" sz="1300" dirty="0">
                <a:solidFill>
                  <a:srgbClr val="FFD85F"/>
                </a:solidFill>
                <a:latin typeface="Courier New" pitchFamily="34" charset="0"/>
                <a:ea typeface="Courier New" pitchFamily="34" charset="-122"/>
                <a:cs typeface="Courier New" pitchFamily="34" charset="-120"/>
              </a:rPr>
              <a:t>same figures as /verify</a:t>
            </a:r>
            <a:endParaRPr lang="en-US" sz="1300" dirty="0"/>
          </a:p>
        </p:txBody>
      </p:sp>
      <p:sp>
        <p:nvSpPr>
          <p:cNvPr id="16" name="Text 14">
            <a:hlinkClick r:id="rId1" tooltip=""/>
          </p:cNvPr>
          <p:cNvSpPr/>
          <p:nvPr/>
        </p:nvSpPr>
        <p:spPr>
          <a:xfrm>
            <a:off x="502920" y="6510528"/>
            <a:ext cx="8412480" cy="219456"/>
          </a:xfrm>
          <a:prstGeom prst="rect">
            <a:avLst/>
          </a:prstGeom>
          <a:noFill/>
          <a:ln/>
        </p:spPr>
        <p:txBody>
          <a:bodyPr wrap="square" lIns="0" tIns="0" rIns="0" bIns="0" rtlCol="0" anchor="ctr"/>
          <a:lstStyle/>
          <a:p>
            <a:pPr indent="0" marL="0">
              <a:buNone/>
            </a:pPr>
            <a:r>
              <a:rPr lang="en-US" sz="1100" u="sng" spc="60" kern="0" dirty="0">
                <a:solidFill>
                  <a:srgbClr val="8A9384"/>
                </a:solidFill>
                <a:latin typeface="Courier New" pitchFamily="34" charset="0"/>
                <a:ea typeface="Courier New" pitchFamily="34" charset="-122"/>
                <a:cs typeface="Courier New" pitchFamily="34" charset="-120"/>
                <a:hlinkClick r:id="rId1" invalidUrl="" action="" tgtFrame="" tooltip="" history="1" highlightClick="0" endSnd="0">
                  <a:extLst>
                    <a:ext uri="{A12FA001-AC4F-418D-AE19-62706E023703}">
                      <ahyp:hlinkClr xmlns:ahyp="http://schemas.microsoft.com/office/drawing/2018/hyperlinkcolor" val="tx"/>
                    </a:ext>
                  </a:extLst>
                </a:hlinkClick>
              </a:rPr>
              <a:t>MIDNIGHT PREPROD  ·  PREPROD.MIDNIGHTEXPLORER.COM</a:t>
            </a:r>
            <a:endParaRPr lang="en-US" sz="1100" dirty="0"/>
          </a:p>
        </p:txBody>
      </p:sp>
      <p:sp>
        <p:nvSpPr>
          <p:cNvPr id="17" name="Text 15"/>
          <p:cNvSpPr/>
          <p:nvPr/>
        </p:nvSpPr>
        <p:spPr>
          <a:xfrm>
            <a:off x="9052560" y="6510528"/>
            <a:ext cx="2633472" cy="219456"/>
          </a:xfrm>
          <a:prstGeom prst="rect">
            <a:avLst/>
          </a:prstGeom>
          <a:noFill/>
          <a:ln/>
        </p:spPr>
        <p:txBody>
          <a:bodyPr wrap="square" lIns="0" tIns="0" rIns="0" bIns="0" rtlCol="0" anchor="ctr"/>
          <a:lstStyle/>
          <a:p>
            <a:pPr algn="r" indent="0" marL="0">
              <a:buNone/>
            </a:pPr>
            <a:r>
              <a:rPr lang="en-US" sz="1100" spc="80" kern="0" dirty="0">
                <a:solidFill>
                  <a:srgbClr val="8A9384"/>
                </a:solidFill>
                <a:latin typeface="Courier New" pitchFamily="34" charset="0"/>
                <a:ea typeface="Courier New" pitchFamily="34" charset="-122"/>
                <a:cs typeface="Courier New" pitchFamily="34" charset="-120"/>
              </a:rPr>
              <a:t>08  /  12</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5"/>
        </a:solidFill>
      </p:bgPr>
    </p:bg>
    <p:spTree>
      <p:nvGrpSpPr>
        <p:cNvPr id="1" name=""/>
        <p:cNvGrpSpPr/>
        <p:nvPr/>
      </p:nvGrpSpPr>
      <p:grpSpPr>
        <a:xfrm>
          <a:off x="0" y="0"/>
          <a:ext cx="0" cy="0"/>
          <a:chOff x="0" y="0"/>
          <a:chExt cx="0" cy="0"/>
        </a:xfrm>
      </p:grpSpPr>
      <p:sp>
        <p:nvSpPr>
          <p:cNvPr id="2" name="Shape 0"/>
          <p:cNvSpPr/>
          <p:nvPr/>
        </p:nvSpPr>
        <p:spPr>
          <a:xfrm>
            <a:off x="502920" y="420624"/>
            <a:ext cx="256032" cy="22860"/>
          </a:xfrm>
          <a:prstGeom prst="rect">
            <a:avLst/>
          </a:prstGeom>
          <a:solidFill>
            <a:srgbClr val="55604F"/>
          </a:solidFill>
          <a:ln/>
        </p:spPr>
      </p:sp>
      <p:sp>
        <p:nvSpPr>
          <p:cNvPr id="3" name="Text 1"/>
          <p:cNvSpPr/>
          <p:nvPr/>
        </p:nvSpPr>
        <p:spPr>
          <a:xfrm>
            <a:off x="877824" y="310896"/>
            <a:ext cx="10607040" cy="256032"/>
          </a:xfrm>
          <a:prstGeom prst="rect">
            <a:avLst/>
          </a:prstGeom>
          <a:noFill/>
          <a:ln/>
        </p:spPr>
        <p:txBody>
          <a:bodyPr wrap="square" lIns="0" tIns="0" rIns="0" bIns="0" rtlCol="0" anchor="ctr"/>
          <a:lstStyle/>
          <a:p>
            <a:pPr indent="0" marL="0">
              <a:buNone/>
            </a:pPr>
            <a:r>
              <a:rPr lang="en-US" sz="1100" spc="160" kern="0" dirty="0">
                <a:solidFill>
                  <a:srgbClr val="55604F"/>
                </a:solidFill>
                <a:latin typeface="Courier New" pitchFamily="34" charset="0"/>
                <a:ea typeface="Courier New" pitchFamily="34" charset="-122"/>
                <a:cs typeface="Courier New" pitchFamily="34" charset="-120"/>
              </a:rPr>
              <a:t>THE LIVE SITE  ·  THE COMPILED CONTRACT, RUNNING IN THE BROWSER</a:t>
            </a:r>
            <a:endParaRPr lang="en-US" sz="1100" dirty="0"/>
          </a:p>
        </p:txBody>
      </p:sp>
      <p:sp>
        <p:nvSpPr>
          <p:cNvPr id="4" name="Text 2"/>
          <p:cNvSpPr/>
          <p:nvPr/>
        </p:nvSpPr>
        <p:spPr>
          <a:xfrm>
            <a:off x="502920" y="621792"/>
            <a:ext cx="11155680" cy="502920"/>
          </a:xfrm>
          <a:prstGeom prst="rect">
            <a:avLst/>
          </a:prstGeom>
          <a:noFill/>
          <a:ln/>
        </p:spPr>
        <p:txBody>
          <a:bodyPr wrap="square" lIns="0" tIns="0" rIns="0" bIns="0" rtlCol="0" anchor="ctr"/>
          <a:lstStyle/>
          <a:p>
            <a:pPr indent="0" marL="0">
              <a:buNone/>
            </a:pPr>
            <a:r>
              <a:rPr lang="en-US" sz="2600" b="1" dirty="0">
                <a:solidFill>
                  <a:srgbClr val="202B22"/>
                </a:solidFill>
                <a:latin typeface="Calibri" pitchFamily="34" charset="0"/>
                <a:ea typeface="Calibri" pitchFamily="34" charset="-122"/>
                <a:cs typeface="Calibri" pitchFamily="34" charset="-120"/>
              </a:rPr>
              <a:t>No Docker. No install. The real circuits, on the public URL.</a:t>
            </a:r>
            <a:endParaRPr lang="en-US" sz="2600" dirty="0"/>
          </a:p>
        </p:txBody>
      </p:sp>
      <p:pic>
        <p:nvPicPr>
          <p:cNvPr id="5" name="Image 0" descr="Equilux regulator view: mean gap 9.69%, median 1.81%, Engineering flagged, Operations suppressed">    </p:cNvPr>
          <p:cNvPicPr>
            <a:picLocks noChangeAspect="1"/>
          </p:cNvPicPr>
          <p:nvPr/>
        </p:nvPicPr>
        <p:blipFill>
          <a:blip r:embed="rId1"/>
          <a:stretch>
            <a:fillRect/>
          </a:stretch>
        </p:blipFill>
        <p:spPr>
          <a:xfrm>
            <a:off x="3101188" y="1298448"/>
            <a:ext cx="5989320" cy="4858731"/>
          </a:xfrm>
          <a:prstGeom prst="rect">
            <a:avLst/>
          </a:prstGeom>
        </p:spPr>
      </p:pic>
      <p:sp>
        <p:nvSpPr>
          <p:cNvPr id="6" name="Text 3"/>
          <p:cNvSpPr/>
          <p:nvPr/>
        </p:nvSpPr>
        <p:spPr>
          <a:xfrm>
            <a:off x="502920" y="6510528"/>
            <a:ext cx="8412480" cy="219456"/>
          </a:xfrm>
          <a:prstGeom prst="rect">
            <a:avLst/>
          </a:prstGeom>
          <a:noFill/>
          <a:ln/>
        </p:spPr>
        <p:txBody>
          <a:bodyPr wrap="square" lIns="0" tIns="0" rIns="0" bIns="0" rtlCol="0" anchor="ctr"/>
          <a:lstStyle/>
          <a:p>
            <a:pPr indent="0" marL="0">
              <a:buNone/>
            </a:pPr>
            <a:r>
              <a:rPr lang="en-US" sz="1100" spc="80" kern="0" dirty="0">
                <a:solidFill>
                  <a:srgbClr val="8A9384"/>
                </a:solidFill>
                <a:latin typeface="Courier New" pitchFamily="34" charset="0"/>
                <a:ea typeface="Courier New" pitchFamily="34" charset="-122"/>
                <a:cs typeface="Courier New" pitchFamily="34" charset="-120"/>
              </a:rPr>
              <a:t>EQUILUX-LAC.VERCEL.APP/APP  ·  PLAY THE WHOLE STORY  ·  BASIC-PAY REPORT</a:t>
            </a:r>
            <a:endParaRPr lang="en-US" sz="1100" dirty="0"/>
          </a:p>
        </p:txBody>
      </p:sp>
      <p:sp>
        <p:nvSpPr>
          <p:cNvPr id="7" name="Text 4"/>
          <p:cNvSpPr/>
          <p:nvPr/>
        </p:nvSpPr>
        <p:spPr>
          <a:xfrm>
            <a:off x="9052560" y="6510528"/>
            <a:ext cx="2633472" cy="219456"/>
          </a:xfrm>
          <a:prstGeom prst="rect">
            <a:avLst/>
          </a:prstGeom>
          <a:noFill/>
          <a:ln/>
        </p:spPr>
        <p:txBody>
          <a:bodyPr wrap="square" lIns="0" tIns="0" rIns="0" bIns="0" rtlCol="0" anchor="ctr"/>
          <a:lstStyle/>
          <a:p>
            <a:pPr algn="r" indent="0" marL="0">
              <a:buNone/>
            </a:pPr>
            <a:r>
              <a:rPr lang="en-US" sz="1100" spc="80" kern="0" dirty="0">
                <a:solidFill>
                  <a:srgbClr val="8A9384"/>
                </a:solidFill>
                <a:latin typeface="Courier New" pitchFamily="34" charset="0"/>
                <a:ea typeface="Courier New" pitchFamily="34" charset="-122"/>
                <a:cs typeface="Courier New" pitchFamily="34" charset="-120"/>
              </a:rPr>
              <a:t>09  /  12</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D85F"/>
        </a:solidFill>
      </p:bgPr>
    </p:bg>
    <p:spTree>
      <p:nvGrpSpPr>
        <p:cNvPr id="1" name=""/>
        <p:cNvGrpSpPr/>
        <p:nvPr/>
      </p:nvGrpSpPr>
      <p:grpSpPr>
        <a:xfrm>
          <a:off x="0" y="0"/>
          <a:ext cx="0" cy="0"/>
          <a:chOff x="0" y="0"/>
          <a:chExt cx="0" cy="0"/>
        </a:xfrm>
      </p:grpSpPr>
      <p:sp>
        <p:nvSpPr>
          <p:cNvPr id="2" name="Shape 0"/>
          <p:cNvSpPr/>
          <p:nvPr/>
        </p:nvSpPr>
        <p:spPr>
          <a:xfrm>
            <a:off x="502920" y="420624"/>
            <a:ext cx="256032" cy="22860"/>
          </a:xfrm>
          <a:prstGeom prst="rect">
            <a:avLst/>
          </a:prstGeom>
          <a:solidFill>
            <a:srgbClr val="3D4A38"/>
          </a:solidFill>
          <a:ln/>
        </p:spPr>
      </p:sp>
      <p:sp>
        <p:nvSpPr>
          <p:cNvPr id="3" name="Text 1"/>
          <p:cNvSpPr/>
          <p:nvPr/>
        </p:nvSpPr>
        <p:spPr>
          <a:xfrm>
            <a:off x="877824" y="310896"/>
            <a:ext cx="10607040" cy="256032"/>
          </a:xfrm>
          <a:prstGeom prst="rect">
            <a:avLst/>
          </a:prstGeom>
          <a:noFill/>
          <a:ln/>
        </p:spPr>
        <p:txBody>
          <a:bodyPr wrap="square" lIns="0" tIns="0" rIns="0" bIns="0" rtlCol="0" anchor="ctr"/>
          <a:lstStyle/>
          <a:p>
            <a:pPr indent="0" marL="0">
              <a:buNone/>
            </a:pPr>
            <a:r>
              <a:rPr lang="en-US" sz="1100" spc="160" kern="0" dirty="0">
                <a:solidFill>
                  <a:srgbClr val="3D4A38"/>
                </a:solidFill>
                <a:latin typeface="Courier New" pitchFamily="34" charset="0"/>
                <a:ea typeface="Courier New" pitchFamily="34" charset="-122"/>
                <a:cs typeface="Courier New" pitchFamily="34" charset="-120"/>
              </a:rPr>
              <a:t>THREAT MODEL  ·  SCOPE</a:t>
            </a:r>
            <a:endParaRPr lang="en-US" sz="1100" dirty="0"/>
          </a:p>
        </p:txBody>
      </p:sp>
      <p:sp>
        <p:nvSpPr>
          <p:cNvPr id="4" name="Text 2"/>
          <p:cNvSpPr/>
          <p:nvPr/>
        </p:nvSpPr>
        <p:spPr>
          <a:xfrm>
            <a:off x="502920" y="640080"/>
            <a:ext cx="11155680" cy="548640"/>
          </a:xfrm>
          <a:prstGeom prst="rect">
            <a:avLst/>
          </a:prstGeom>
          <a:noFill/>
          <a:ln/>
        </p:spPr>
        <p:txBody>
          <a:bodyPr wrap="square" lIns="0" tIns="0" rIns="0" bIns="0" rtlCol="0" anchor="ctr"/>
          <a:lstStyle/>
          <a:p>
            <a:pPr indent="0" marL="0">
              <a:buNone/>
            </a:pPr>
            <a:r>
              <a:rPr lang="en-US" sz="3000" b="1" dirty="0">
                <a:solidFill>
                  <a:srgbClr val="202B22"/>
                </a:solidFill>
                <a:latin typeface="Calibri" pitchFamily="34" charset="0"/>
                <a:ea typeface="Calibri" pitchFamily="34" charset="-122"/>
                <a:cs typeface="Calibri" pitchFamily="34" charset="-120"/>
              </a:rPr>
              <a:t>Honest about what a proof can prove.</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11183112" cy="4892040"/>
        </p:xfrm>
        <a:graphic>
          <a:graphicData uri="http://schemas.openxmlformats.org/drawingml/2006/table">
            <a:tbl>
              <a:tblPr/>
              <a:tblGrid>
                <a:gridCol w="3063240"/>
                <a:gridCol w="8119872"/>
              </a:tblGrid>
              <a:tr h="698863">
                <a:tc>
                  <a:txBody>
                    <a:bodyPr/>
                    <a:lstStyle/>
                    <a:p>
                      <a:pPr algn="l" indent="0" marL="0">
                        <a:buNone/>
                      </a:pPr>
                      <a:r>
                        <a:rPr lang="en-US" sz="1100" dirty="0">
                          <a:solidFill>
                            <a:srgbClr val="3D4A38"/>
                          </a:solidFill>
                          <a:latin typeface="Courier New" pitchFamily="34" charset="0"/>
                          <a:ea typeface="Courier New" pitchFamily="34" charset="-122"/>
                          <a:cs typeface="Courier New" pitchFamily="34" charset="-120"/>
                        </a:rPr>
                        <a:t>IT DOES NOT CLAIM</a:t>
                      </a:r>
                      <a:endParaRPr lang="en-US" sz="1100" dirty="0">
                        <a:latin typeface="Courier New" charset="0"/>
                        <a:ea typeface="Courier New" charset="0"/>
                        <a:cs typeface="Courier New" charset="0"/>
                      </a:endParaRPr>
                    </a:p>
                  </a:txBody>
                  <a:tcPr marL="101600" marR="101600" marT="76200" marB="76200" anchor="ctr">
                    <a:lnL w="12700" cap="flat" cmpd="sng" algn="ctr">
                      <a:solidFill>
                        <a:srgbClr val="FFD85F"/>
                      </a:solidFill>
                      <a:prstDash val="solid"/>
                      <a:round/>
                      <a:headEnd type="none" w="med" len="med"/>
                      <a:tailEnd type="none" w="med" len="med"/>
                    </a:lnL>
                    <a:lnR w="12700" cap="flat" cmpd="sng" algn="ctr">
                      <a:solidFill>
                        <a:srgbClr val="FFD85F"/>
                      </a:solidFill>
                      <a:prstDash val="solid"/>
                      <a:round/>
                      <a:headEnd type="none" w="med" len="med"/>
                      <a:tailEnd type="none" w="med" len="med"/>
                    </a:lnR>
                    <a:lnT w="12700" cap="flat" cmpd="sng" algn="ctr">
                      <a:solidFill>
                        <a:srgbClr val="FFD85F"/>
                      </a:solidFill>
                      <a:prstDash val="solid"/>
                      <a:round/>
                      <a:headEnd type="none" w="med" len="med"/>
                      <a:tailEnd type="none" w="med" len="med"/>
                    </a:lnT>
                    <a:lnB w="12700" cap="flat" cmpd="sng" algn="ctr">
                      <a:solidFill>
                        <a:srgbClr val="E0BE45"/>
                      </a:solidFill>
                      <a:prstDash val="solid"/>
                      <a:round/>
                      <a:headEnd type="none" w="med" len="med"/>
                      <a:tailEnd type="none" w="med" len="med"/>
                    </a:lnB>
                    <a:solidFill>
                      <a:srgbClr val="FFD85F"/>
                    </a:solidFill>
                  </a:tcPr>
                </a:tc>
                <a:tc>
                  <a:txBody>
                    <a:bodyPr/>
                    <a:lstStyle/>
                    <a:p>
                      <a:pPr algn="l" indent="0" marL="0">
                        <a:buNone/>
                      </a:pPr>
                      <a:r>
                        <a:rPr lang="en-US" sz="1100" dirty="0">
                          <a:solidFill>
                            <a:srgbClr val="3D4A38"/>
                          </a:solidFill>
                          <a:latin typeface="Courier New" pitchFamily="34" charset="0"/>
                          <a:ea typeface="Courier New" pitchFamily="34" charset="-122"/>
                          <a:cs typeface="Courier New" pitchFamily="34" charset="-120"/>
                        </a:rPr>
                        <a:t>WHAT IS TRUE INSTEAD</a:t>
                      </a:r>
                      <a:endParaRPr lang="en-US" sz="1100" dirty="0">
                        <a:latin typeface="Courier New" charset="0"/>
                        <a:ea typeface="Courier New" charset="0"/>
                        <a:cs typeface="Courier New" charset="0"/>
                      </a:endParaRPr>
                    </a:p>
                  </a:txBody>
                  <a:tcPr marL="101600" marR="101600" marT="76200" marB="76200" anchor="ctr">
                    <a:lnL w="12700" cap="flat" cmpd="sng" algn="ctr">
                      <a:solidFill>
                        <a:srgbClr val="FFD85F"/>
                      </a:solidFill>
                      <a:prstDash val="solid"/>
                      <a:round/>
                      <a:headEnd type="none" w="med" len="med"/>
                      <a:tailEnd type="none" w="med" len="med"/>
                    </a:lnL>
                    <a:lnR w="12700" cap="flat" cmpd="sng" algn="ctr">
                      <a:solidFill>
                        <a:srgbClr val="FFD85F"/>
                      </a:solidFill>
                      <a:prstDash val="solid"/>
                      <a:round/>
                      <a:headEnd type="none" w="med" len="med"/>
                      <a:tailEnd type="none" w="med" len="med"/>
                    </a:lnR>
                    <a:lnT w="12700" cap="flat" cmpd="sng" algn="ctr">
                      <a:solidFill>
                        <a:srgbClr val="FFD85F"/>
                      </a:solidFill>
                      <a:prstDash val="solid"/>
                      <a:round/>
                      <a:headEnd type="none" w="med" len="med"/>
                      <a:tailEnd type="none" w="med" len="med"/>
                    </a:lnT>
                    <a:lnB w="12700" cap="flat" cmpd="sng" algn="ctr">
                      <a:solidFill>
                        <a:srgbClr val="E0BE45"/>
                      </a:solidFill>
                      <a:prstDash val="solid"/>
                      <a:round/>
                      <a:headEnd type="none" w="med" len="med"/>
                      <a:tailEnd type="none" w="med" len="med"/>
                    </a:lnB>
                    <a:solidFill>
                      <a:srgbClr val="FFD85F"/>
                    </a:solidFill>
                  </a:tcPr>
                </a:tc>
              </a:tr>
              <a:tr h="698863">
                <a:tc>
                  <a:txBody>
                    <a:bodyPr/>
                    <a:lstStyle/>
                    <a:p>
                      <a:pPr algn="l" indent="0" marL="0">
                        <a:buNone/>
                      </a:pPr>
                      <a:r>
                        <a:rPr lang="en-US" sz="1400" dirty="0">
                          <a:solidFill>
                            <a:srgbClr val="202B22"/>
                          </a:solidFill>
                          <a:latin typeface="Calibri" pitchFamily="34" charset="0"/>
                          <a:ea typeface="Calibri" pitchFamily="34" charset="-122"/>
                          <a:cs typeface="Calibri" pitchFamily="34" charset="-120"/>
                        </a:rPr>
                        <a:t>Salaries hidden from HR</a:t>
                      </a:r>
                      <a:endParaRPr lang="en-US" sz="1400" dirty="0">
                        <a:latin typeface="Calibri" charset="0"/>
                        <a:ea typeface="Calibri" charset="0"/>
                        <a:cs typeface="Calibri" charset="0"/>
                      </a:endParaRPr>
                    </a:p>
                  </a:txBody>
                  <a:tcPr marL="101600" marR="101600" marT="76200" marB="76200" anchor="ctr">
                    <a:lnL w="12700" cap="flat" cmpd="sng" algn="ctr">
                      <a:solidFill>
                        <a:srgbClr val="FFD85F"/>
                      </a:solidFill>
                      <a:prstDash val="solid"/>
                      <a:round/>
                      <a:headEnd type="none" w="med" len="med"/>
                      <a:tailEnd type="none" w="med" len="med"/>
                    </a:lnL>
                    <a:lnR w="12700" cap="flat" cmpd="sng" algn="ctr">
                      <a:solidFill>
                        <a:srgbClr val="FFD85F"/>
                      </a:solidFill>
                      <a:prstDash val="solid"/>
                      <a:round/>
                      <a:headEnd type="none" w="med" len="med"/>
                      <a:tailEnd type="none" w="med" len="med"/>
                    </a:lnR>
                    <a:lnT w="12700" cap="flat" cmpd="sng" algn="ctr">
                      <a:solidFill>
                        <a:srgbClr val="FFD85F"/>
                      </a:solidFill>
                      <a:prstDash val="solid"/>
                      <a:round/>
                      <a:headEnd type="none" w="med" len="med"/>
                      <a:tailEnd type="none" w="med" len="med"/>
                    </a:lnT>
                    <a:lnB w="12700" cap="flat" cmpd="sng" algn="ctr">
                      <a:solidFill>
                        <a:srgbClr val="E0BE45"/>
                      </a:solidFill>
                      <a:prstDash val="solid"/>
                      <a:round/>
                      <a:headEnd type="none" w="med" len="med"/>
                      <a:tailEnd type="none" w="med" len="med"/>
                    </a:lnB>
                    <a:solidFill>
                      <a:srgbClr val="FFD85F"/>
                    </a:solidFill>
                  </a:tcPr>
                </a:tc>
                <a:tc>
                  <a:txBody>
                    <a:bodyPr/>
                    <a:lstStyle/>
                    <a:p>
                      <a:pPr algn="l" indent="0" marL="0">
                        <a:buNone/>
                      </a:pPr>
                      <a:r>
                        <a:rPr lang="en-US" sz="1400" dirty="0">
                          <a:solidFill>
                            <a:srgbClr val="202B22"/>
                          </a:solidFill>
                          <a:latin typeface="Calibri" pitchFamily="34" charset="0"/>
                          <a:ea typeface="Calibri" pitchFamily="34" charset="-122"/>
                          <a:cs typeface="Calibri" pitchFamily="34" charset="-120"/>
                        </a:rPr>
                        <a:t>HR still holds payroll. Hidden from the public, colleagues, the regulator and Equilux — and the employer can no longer supply its own figures.</a:t>
                      </a:r>
                      <a:endParaRPr lang="en-US" sz="1400" dirty="0">
                        <a:latin typeface="Calibri" charset="0"/>
                        <a:ea typeface="Calibri" charset="0"/>
                        <a:cs typeface="Calibri" charset="0"/>
                      </a:endParaRPr>
                    </a:p>
                  </a:txBody>
                  <a:tcPr marL="101600" marR="101600" marT="76200" marB="76200" anchor="ctr">
                    <a:lnL w="12700" cap="flat" cmpd="sng" algn="ctr">
                      <a:solidFill>
                        <a:srgbClr val="FFD85F"/>
                      </a:solidFill>
                      <a:prstDash val="solid"/>
                      <a:round/>
                      <a:headEnd type="none" w="med" len="med"/>
                      <a:tailEnd type="none" w="med" len="med"/>
                    </a:lnL>
                    <a:lnR w="12700" cap="flat" cmpd="sng" algn="ctr">
                      <a:solidFill>
                        <a:srgbClr val="FFD85F"/>
                      </a:solidFill>
                      <a:prstDash val="solid"/>
                      <a:round/>
                      <a:headEnd type="none" w="med" len="med"/>
                      <a:tailEnd type="none" w="med" len="med"/>
                    </a:lnR>
                    <a:lnT w="12700" cap="flat" cmpd="sng" algn="ctr">
                      <a:solidFill>
                        <a:srgbClr val="FFD85F"/>
                      </a:solidFill>
                      <a:prstDash val="solid"/>
                      <a:round/>
                      <a:headEnd type="none" w="med" len="med"/>
                      <a:tailEnd type="none" w="med" len="med"/>
                    </a:lnT>
                    <a:lnB w="12700" cap="flat" cmpd="sng" algn="ctr">
                      <a:solidFill>
                        <a:srgbClr val="E0BE45"/>
                      </a:solidFill>
                      <a:prstDash val="solid"/>
                      <a:round/>
                      <a:headEnd type="none" w="med" len="med"/>
                      <a:tailEnd type="none" w="med" len="med"/>
                    </a:lnB>
                    <a:solidFill>
                      <a:srgbClr val="FFD85F"/>
                    </a:solidFill>
                  </a:tcPr>
                </a:tc>
              </a:tr>
              <a:tr h="698863">
                <a:tc>
                  <a:txBody>
                    <a:bodyPr/>
                    <a:lstStyle/>
                    <a:p>
                      <a:pPr algn="l" indent="0" marL="0">
                        <a:buNone/>
                      </a:pPr>
                      <a:r>
                        <a:rPr lang="en-US" sz="1400" dirty="0">
                          <a:solidFill>
                            <a:srgbClr val="202B22"/>
                          </a:solidFill>
                          <a:latin typeface="Calibri" pitchFamily="34" charset="0"/>
                          <a:ea typeface="Calibri" pitchFamily="34" charset="-122"/>
                          <a:cs typeface="Calibri" pitchFamily="34" charset="-120"/>
                        </a:rPr>
                        <a:t>An honest payroll by itself</a:t>
                      </a:r>
                      <a:endParaRPr lang="en-US" sz="1400" dirty="0">
                        <a:latin typeface="Calibri" charset="0"/>
                        <a:ea typeface="Calibri" charset="0"/>
                        <a:cs typeface="Calibri" charset="0"/>
                      </a:endParaRPr>
                    </a:p>
                  </a:txBody>
                  <a:tcPr marL="101600" marR="101600" marT="76200" marB="76200" anchor="ctr">
                    <a:lnL w="12700" cap="flat" cmpd="sng" algn="ctr">
                      <a:solidFill>
                        <a:srgbClr val="FFD85F"/>
                      </a:solidFill>
                      <a:prstDash val="solid"/>
                      <a:round/>
                      <a:headEnd type="none" w="med" len="med"/>
                      <a:tailEnd type="none" w="med" len="med"/>
                    </a:lnL>
                    <a:lnR w="12700" cap="flat" cmpd="sng" algn="ctr">
                      <a:solidFill>
                        <a:srgbClr val="FFD85F"/>
                      </a:solidFill>
                      <a:prstDash val="solid"/>
                      <a:round/>
                      <a:headEnd type="none" w="med" len="med"/>
                      <a:tailEnd type="none" w="med" len="med"/>
                    </a:lnR>
                    <a:lnT w="12700" cap="flat" cmpd="sng" algn="ctr">
                      <a:solidFill>
                        <a:srgbClr val="FFD85F"/>
                      </a:solidFill>
                      <a:prstDash val="solid"/>
                      <a:round/>
                      <a:headEnd type="none" w="med" len="med"/>
                      <a:tailEnd type="none" w="med" len="med"/>
                    </a:lnT>
                    <a:lnB w="12700" cap="flat" cmpd="sng" algn="ctr">
                      <a:solidFill>
                        <a:srgbClr val="E0BE45"/>
                      </a:solidFill>
                      <a:prstDash val="solid"/>
                      <a:round/>
                      <a:headEnd type="none" w="med" len="med"/>
                      <a:tailEnd type="none" w="med" len="med"/>
                    </a:lnB>
                    <a:solidFill>
                      <a:srgbClr val="FFD85F"/>
                    </a:solidFill>
                  </a:tcPr>
                </a:tc>
                <a:tc>
                  <a:txBody>
                    <a:bodyPr/>
                    <a:lstStyle/>
                    <a:p>
                      <a:pPr algn="l" indent="0" marL="0">
                        <a:buNone/>
                      </a:pPr>
                      <a:r>
                        <a:rPr lang="en-US" sz="1400" dirty="0">
                          <a:solidFill>
                            <a:srgbClr val="202B22"/>
                          </a:solidFill>
                          <a:latin typeface="Calibri" pitchFamily="34" charset="0"/>
                          <a:ea typeface="Calibri" pitchFamily="34" charset="-122"/>
                          <a:cs typeface="Calibri" pitchFamily="34" charset="-120"/>
                        </a:rPr>
                        <a:t>The works council must open every row. A provider, employer and council who collude could still commit false rows. Each employee sees their own.</a:t>
                      </a:r>
                      <a:endParaRPr lang="en-US" sz="1400" dirty="0">
                        <a:latin typeface="Calibri" charset="0"/>
                        <a:ea typeface="Calibri" charset="0"/>
                        <a:cs typeface="Calibri" charset="0"/>
                      </a:endParaRPr>
                    </a:p>
                  </a:txBody>
                  <a:tcPr marL="101600" marR="101600" marT="76200" marB="76200" anchor="ctr">
                    <a:lnL w="12700" cap="flat" cmpd="sng" algn="ctr">
                      <a:solidFill>
                        <a:srgbClr val="FFD85F"/>
                      </a:solidFill>
                      <a:prstDash val="solid"/>
                      <a:round/>
                      <a:headEnd type="none" w="med" len="med"/>
                      <a:tailEnd type="none" w="med" len="med"/>
                    </a:lnL>
                    <a:lnR w="12700" cap="flat" cmpd="sng" algn="ctr">
                      <a:solidFill>
                        <a:srgbClr val="FFD85F"/>
                      </a:solidFill>
                      <a:prstDash val="solid"/>
                      <a:round/>
                      <a:headEnd type="none" w="med" len="med"/>
                      <a:tailEnd type="none" w="med" len="med"/>
                    </a:lnR>
                    <a:lnT w="12700" cap="flat" cmpd="sng" algn="ctr">
                      <a:solidFill>
                        <a:srgbClr val="FFD85F"/>
                      </a:solidFill>
                      <a:prstDash val="solid"/>
                      <a:round/>
                      <a:headEnd type="none" w="med" len="med"/>
                      <a:tailEnd type="none" w="med" len="med"/>
                    </a:lnT>
                    <a:lnB w="12700" cap="flat" cmpd="sng" algn="ctr">
                      <a:solidFill>
                        <a:srgbClr val="E0BE45"/>
                      </a:solidFill>
                      <a:prstDash val="solid"/>
                      <a:round/>
                      <a:headEnd type="none" w="med" len="med"/>
                      <a:tailEnd type="none" w="med" len="med"/>
                    </a:lnB>
                    <a:solidFill>
                      <a:srgbClr val="FFD85F"/>
                    </a:solidFill>
                  </a:tcPr>
                </a:tc>
              </a:tr>
              <a:tr h="698863">
                <a:tc>
                  <a:txBody>
                    <a:bodyPr/>
                    <a:lstStyle/>
                    <a:p>
                      <a:pPr algn="l" indent="0" marL="0">
                        <a:buNone/>
                      </a:pPr>
                      <a:r>
                        <a:rPr lang="en-US" sz="1400" dirty="0">
                          <a:solidFill>
                            <a:srgbClr val="202B22"/>
                          </a:solidFill>
                          <a:latin typeface="Calibri" pitchFamily="34" charset="0"/>
                          <a:ea typeface="Calibri" pitchFamily="34" charset="-122"/>
                          <a:cs typeface="Calibri" pitchFamily="34" charset="-120"/>
                        </a:rPr>
                        <a:t>Judging what is justified</a:t>
                      </a:r>
                      <a:endParaRPr lang="en-US" sz="1400" dirty="0">
                        <a:latin typeface="Calibri" charset="0"/>
                        <a:ea typeface="Calibri" charset="0"/>
                        <a:cs typeface="Calibri" charset="0"/>
                      </a:endParaRPr>
                    </a:p>
                  </a:txBody>
                  <a:tcPr marL="101600" marR="101600" marT="76200" marB="76200" anchor="ctr">
                    <a:lnL w="12700" cap="flat" cmpd="sng" algn="ctr">
                      <a:solidFill>
                        <a:srgbClr val="FFD85F"/>
                      </a:solidFill>
                      <a:prstDash val="solid"/>
                      <a:round/>
                      <a:headEnd type="none" w="med" len="med"/>
                      <a:tailEnd type="none" w="med" len="med"/>
                    </a:lnL>
                    <a:lnR w="12700" cap="flat" cmpd="sng" algn="ctr">
                      <a:solidFill>
                        <a:srgbClr val="FFD85F"/>
                      </a:solidFill>
                      <a:prstDash val="solid"/>
                      <a:round/>
                      <a:headEnd type="none" w="med" len="med"/>
                      <a:tailEnd type="none" w="med" len="med"/>
                    </a:lnR>
                    <a:lnT w="12700" cap="flat" cmpd="sng" algn="ctr">
                      <a:solidFill>
                        <a:srgbClr val="FFD85F"/>
                      </a:solidFill>
                      <a:prstDash val="solid"/>
                      <a:round/>
                      <a:headEnd type="none" w="med" len="med"/>
                      <a:tailEnd type="none" w="med" len="med"/>
                    </a:lnT>
                    <a:lnB w="12700" cap="flat" cmpd="sng" algn="ctr">
                      <a:solidFill>
                        <a:srgbClr val="E0BE45"/>
                      </a:solidFill>
                      <a:prstDash val="solid"/>
                      <a:round/>
                      <a:headEnd type="none" w="med" len="med"/>
                      <a:tailEnd type="none" w="med" len="med"/>
                    </a:lnB>
                    <a:solidFill>
                      <a:srgbClr val="FFD85F"/>
                    </a:solidFill>
                  </a:tcPr>
                </a:tc>
                <a:tc>
                  <a:txBody>
                    <a:bodyPr/>
                    <a:lstStyle/>
                    <a:p>
                      <a:pPr algn="l" indent="0" marL="0">
                        <a:buNone/>
                      </a:pPr>
                      <a:r>
                        <a:rPr lang="en-US" sz="1400" dirty="0">
                          <a:solidFill>
                            <a:srgbClr val="202B22"/>
                          </a:solidFill>
                          <a:latin typeface="Calibri" pitchFamily="34" charset="0"/>
                          <a:ea typeface="Calibri" pitchFamily="34" charset="-122"/>
                          <a:cs typeface="Calibri" pitchFamily="34" charset="-120"/>
                        </a:rPr>
                        <a:t>Category gaps ≥ 5% are proven and flagged. Whether a gap is justified is a human judgement.</a:t>
                      </a:r>
                      <a:endParaRPr lang="en-US" sz="1400" dirty="0">
                        <a:latin typeface="Calibri" charset="0"/>
                        <a:ea typeface="Calibri" charset="0"/>
                        <a:cs typeface="Calibri" charset="0"/>
                      </a:endParaRPr>
                    </a:p>
                  </a:txBody>
                  <a:tcPr marL="101600" marR="101600" marT="76200" marB="76200" anchor="ctr">
                    <a:lnL w="12700" cap="flat" cmpd="sng" algn="ctr">
                      <a:solidFill>
                        <a:srgbClr val="FFD85F"/>
                      </a:solidFill>
                      <a:prstDash val="solid"/>
                      <a:round/>
                      <a:headEnd type="none" w="med" len="med"/>
                      <a:tailEnd type="none" w="med" len="med"/>
                    </a:lnL>
                    <a:lnR w="12700" cap="flat" cmpd="sng" algn="ctr">
                      <a:solidFill>
                        <a:srgbClr val="FFD85F"/>
                      </a:solidFill>
                      <a:prstDash val="solid"/>
                      <a:round/>
                      <a:headEnd type="none" w="med" len="med"/>
                      <a:tailEnd type="none" w="med" len="med"/>
                    </a:lnR>
                    <a:lnT w="12700" cap="flat" cmpd="sng" algn="ctr">
                      <a:solidFill>
                        <a:srgbClr val="FFD85F"/>
                      </a:solidFill>
                      <a:prstDash val="solid"/>
                      <a:round/>
                      <a:headEnd type="none" w="med" len="med"/>
                      <a:tailEnd type="none" w="med" len="med"/>
                    </a:lnT>
                    <a:lnB w="12700" cap="flat" cmpd="sng" algn="ctr">
                      <a:solidFill>
                        <a:srgbClr val="E0BE45"/>
                      </a:solidFill>
                      <a:prstDash val="solid"/>
                      <a:round/>
                      <a:headEnd type="none" w="med" len="med"/>
                      <a:tailEnd type="none" w="med" len="med"/>
                    </a:lnB>
                    <a:solidFill>
                      <a:srgbClr val="FFD85F"/>
                    </a:solidFill>
                  </a:tcPr>
                </a:tc>
              </a:tr>
              <a:tr h="698863">
                <a:tc>
                  <a:txBody>
                    <a:bodyPr/>
                    <a:lstStyle/>
                    <a:p>
                      <a:pPr algn="l" indent="0" marL="0">
                        <a:buNone/>
                      </a:pPr>
                      <a:r>
                        <a:rPr lang="en-US" sz="1400" dirty="0">
                          <a:solidFill>
                            <a:srgbClr val="202B22"/>
                          </a:solidFill>
                          <a:latin typeface="Calibri" pitchFamily="34" charset="0"/>
                          <a:ea typeface="Calibri" pitchFamily="34" charset="-122"/>
                          <a:cs typeface="Calibri" pitchFamily="34" charset="-120"/>
                        </a:rPr>
                        <a:t>A finished legal filing</a:t>
                      </a:r>
                      <a:endParaRPr lang="en-US" sz="1400" dirty="0">
                        <a:latin typeface="Calibri" charset="0"/>
                        <a:ea typeface="Calibri" charset="0"/>
                        <a:cs typeface="Calibri" charset="0"/>
                      </a:endParaRPr>
                    </a:p>
                  </a:txBody>
                  <a:tcPr marL="101600" marR="101600" marT="76200" marB="76200" anchor="ctr">
                    <a:lnL w="12700" cap="flat" cmpd="sng" algn="ctr">
                      <a:solidFill>
                        <a:srgbClr val="FFD85F"/>
                      </a:solidFill>
                      <a:prstDash val="solid"/>
                      <a:round/>
                      <a:headEnd type="none" w="med" len="med"/>
                      <a:tailEnd type="none" w="med" len="med"/>
                    </a:lnL>
                    <a:lnR w="12700" cap="flat" cmpd="sng" algn="ctr">
                      <a:solidFill>
                        <a:srgbClr val="FFD85F"/>
                      </a:solidFill>
                      <a:prstDash val="solid"/>
                      <a:round/>
                      <a:headEnd type="none" w="med" len="med"/>
                      <a:tailEnd type="none" w="med" len="med"/>
                    </a:lnR>
                    <a:lnT w="12700" cap="flat" cmpd="sng" algn="ctr">
                      <a:solidFill>
                        <a:srgbClr val="FFD85F"/>
                      </a:solidFill>
                      <a:prstDash val="solid"/>
                      <a:round/>
                      <a:headEnd type="none" w="med" len="med"/>
                      <a:tailEnd type="none" w="med" len="med"/>
                    </a:lnT>
                    <a:lnB w="12700" cap="flat" cmpd="sng" algn="ctr">
                      <a:solidFill>
                        <a:srgbClr val="E0BE45"/>
                      </a:solidFill>
                      <a:prstDash val="solid"/>
                      <a:round/>
                      <a:headEnd type="none" w="med" len="med"/>
                      <a:tailEnd type="none" w="med" len="med"/>
                    </a:lnB>
                    <a:solidFill>
                      <a:srgbClr val="FFD85F"/>
                    </a:solidFill>
                  </a:tcPr>
                </a:tc>
                <a:tc>
                  <a:txBody>
                    <a:bodyPr/>
                    <a:lstStyle/>
                    <a:p>
                      <a:pPr algn="l" indent="0" marL="0">
                        <a:buNone/>
                      </a:pPr>
                      <a:r>
                        <a:rPr lang="en-US" sz="1400" dirty="0">
                          <a:solidFill>
                            <a:srgbClr val="202B22"/>
                          </a:solidFill>
                          <a:latin typeface="Calibri" pitchFamily="34" charset="0"/>
                          <a:ea typeface="Calibri" pitchFamily="34" charset="-122"/>
                          <a:cs typeface="Calibri" pitchFamily="34" charset="-120"/>
                        </a:rPr>
                        <a:t>All seven Article 9 indicators are proven. The instance is 16 records and 4 categories, not a 250-person employer.</a:t>
                      </a:r>
                      <a:endParaRPr lang="en-US" sz="1400" dirty="0">
                        <a:latin typeface="Calibri" charset="0"/>
                        <a:ea typeface="Calibri" charset="0"/>
                        <a:cs typeface="Calibri" charset="0"/>
                      </a:endParaRPr>
                    </a:p>
                  </a:txBody>
                  <a:tcPr marL="101600" marR="101600" marT="76200" marB="76200" anchor="ctr">
                    <a:lnL w="12700" cap="flat" cmpd="sng" algn="ctr">
                      <a:solidFill>
                        <a:srgbClr val="FFD85F"/>
                      </a:solidFill>
                      <a:prstDash val="solid"/>
                      <a:round/>
                      <a:headEnd type="none" w="med" len="med"/>
                      <a:tailEnd type="none" w="med" len="med"/>
                    </a:lnL>
                    <a:lnR w="12700" cap="flat" cmpd="sng" algn="ctr">
                      <a:solidFill>
                        <a:srgbClr val="FFD85F"/>
                      </a:solidFill>
                      <a:prstDash val="solid"/>
                      <a:round/>
                      <a:headEnd type="none" w="med" len="med"/>
                      <a:tailEnd type="none" w="med" len="med"/>
                    </a:lnR>
                    <a:lnT w="12700" cap="flat" cmpd="sng" algn="ctr">
                      <a:solidFill>
                        <a:srgbClr val="FFD85F"/>
                      </a:solidFill>
                      <a:prstDash val="solid"/>
                      <a:round/>
                      <a:headEnd type="none" w="med" len="med"/>
                      <a:tailEnd type="none" w="med" len="med"/>
                    </a:lnT>
                    <a:lnB w="12700" cap="flat" cmpd="sng" algn="ctr">
                      <a:solidFill>
                        <a:srgbClr val="E0BE45"/>
                      </a:solidFill>
                      <a:prstDash val="solid"/>
                      <a:round/>
                      <a:headEnd type="none" w="med" len="med"/>
                      <a:tailEnd type="none" w="med" len="med"/>
                    </a:lnB>
                    <a:solidFill>
                      <a:srgbClr val="FFD85F"/>
                    </a:solidFill>
                  </a:tcPr>
                </a:tc>
              </a:tr>
              <a:tr h="698863">
                <a:tc>
                  <a:txBody>
                    <a:bodyPr/>
                    <a:lstStyle/>
                    <a:p>
                      <a:pPr algn="l" indent="0" marL="0">
                        <a:buNone/>
                      </a:pPr>
                      <a:r>
                        <a:rPr lang="en-US" sz="1400" dirty="0">
                          <a:solidFill>
                            <a:srgbClr val="202B22"/>
                          </a:solidFill>
                          <a:latin typeface="Calibri" pitchFamily="34" charset="0"/>
                          <a:ea typeface="Calibri" pitchFamily="34" charset="-122"/>
                          <a:cs typeface="Calibri" pitchFamily="34" charset="-120"/>
                        </a:rPr>
                        <a:t>Any visitor can write on preprod</a:t>
                      </a:r>
                      <a:endParaRPr lang="en-US" sz="1400" dirty="0">
                        <a:latin typeface="Calibri" charset="0"/>
                        <a:ea typeface="Calibri" charset="0"/>
                        <a:cs typeface="Calibri" charset="0"/>
                      </a:endParaRPr>
                    </a:p>
                  </a:txBody>
                  <a:tcPr marL="101600" marR="101600" marT="76200" marB="76200" anchor="ctr">
                    <a:lnL w="12700" cap="flat" cmpd="sng" algn="ctr">
                      <a:solidFill>
                        <a:srgbClr val="FFD85F"/>
                      </a:solidFill>
                      <a:prstDash val="solid"/>
                      <a:round/>
                      <a:headEnd type="none" w="med" len="med"/>
                      <a:tailEnd type="none" w="med" len="med"/>
                    </a:lnL>
                    <a:lnR w="12700" cap="flat" cmpd="sng" algn="ctr">
                      <a:solidFill>
                        <a:srgbClr val="FFD85F"/>
                      </a:solidFill>
                      <a:prstDash val="solid"/>
                      <a:round/>
                      <a:headEnd type="none" w="med" len="med"/>
                      <a:tailEnd type="none" w="med" len="med"/>
                    </a:lnR>
                    <a:lnT w="12700" cap="flat" cmpd="sng" algn="ctr">
                      <a:solidFill>
                        <a:srgbClr val="FFD85F"/>
                      </a:solidFill>
                      <a:prstDash val="solid"/>
                      <a:round/>
                      <a:headEnd type="none" w="med" len="med"/>
                      <a:tailEnd type="none" w="med" len="med"/>
                    </a:lnT>
                    <a:lnB w="12700" cap="flat" cmpd="sng" algn="ctr">
                      <a:solidFill>
                        <a:srgbClr val="E0BE45"/>
                      </a:solidFill>
                      <a:prstDash val="solid"/>
                      <a:round/>
                      <a:headEnd type="none" w="med" len="med"/>
                      <a:tailEnd type="none" w="med" len="med"/>
                    </a:lnB>
                    <a:solidFill>
                      <a:srgbClr val="FFD85F"/>
                    </a:solidFill>
                  </a:tcPr>
                </a:tc>
                <a:tc>
                  <a:txBody>
                    <a:bodyPr/>
                    <a:lstStyle/>
                    <a:p>
                      <a:pPr algn="l" indent="0" marL="0">
                        <a:buNone/>
                      </a:pPr>
                      <a:r>
                        <a:rPr lang="en-US" sz="1400" dirty="0">
                          <a:solidFill>
                            <a:srgbClr val="202B22"/>
                          </a:solidFill>
                          <a:latin typeface="Calibri" pitchFamily="34" charset="0"/>
                          <a:ea typeface="Calibri" pitchFamily="34" charset="-122"/>
                          <a:cs typeface="Calibri" pitchFamily="34" charset="-120"/>
                        </a:rPr>
                        <a:t>The 14-person run is on preprod. Connecting Lace is enough to read; a write from that wallet needs tDUST.</a:t>
                      </a:r>
                      <a:endParaRPr lang="en-US" sz="1400" dirty="0">
                        <a:latin typeface="Calibri" charset="0"/>
                        <a:ea typeface="Calibri" charset="0"/>
                        <a:cs typeface="Calibri" charset="0"/>
                      </a:endParaRPr>
                    </a:p>
                  </a:txBody>
                  <a:tcPr marL="101600" marR="101600" marT="76200" marB="76200" anchor="ctr">
                    <a:lnL w="12700" cap="flat" cmpd="sng" algn="ctr">
                      <a:solidFill>
                        <a:srgbClr val="FFD85F"/>
                      </a:solidFill>
                      <a:prstDash val="solid"/>
                      <a:round/>
                      <a:headEnd type="none" w="med" len="med"/>
                      <a:tailEnd type="none" w="med" len="med"/>
                    </a:lnL>
                    <a:lnR w="12700" cap="flat" cmpd="sng" algn="ctr">
                      <a:solidFill>
                        <a:srgbClr val="FFD85F"/>
                      </a:solidFill>
                      <a:prstDash val="solid"/>
                      <a:round/>
                      <a:headEnd type="none" w="med" len="med"/>
                      <a:tailEnd type="none" w="med" len="med"/>
                    </a:lnR>
                    <a:lnT w="12700" cap="flat" cmpd="sng" algn="ctr">
                      <a:solidFill>
                        <a:srgbClr val="FFD85F"/>
                      </a:solidFill>
                      <a:prstDash val="solid"/>
                      <a:round/>
                      <a:headEnd type="none" w="med" len="med"/>
                      <a:tailEnd type="none" w="med" len="med"/>
                    </a:lnT>
                    <a:lnB w="12700" cap="flat" cmpd="sng" algn="ctr">
                      <a:solidFill>
                        <a:srgbClr val="E0BE45"/>
                      </a:solidFill>
                      <a:prstDash val="solid"/>
                      <a:round/>
                      <a:headEnd type="none" w="med" len="med"/>
                      <a:tailEnd type="none" w="med" len="med"/>
                    </a:lnB>
                    <a:solidFill>
                      <a:srgbClr val="FFD85F"/>
                    </a:solidFill>
                  </a:tcPr>
                </a:tc>
              </a:tr>
              <a:tr h="698863">
                <a:tc>
                  <a:txBody>
                    <a:bodyPr/>
                    <a:lstStyle/>
                    <a:p>
                      <a:pPr algn="l" indent="0" marL="0">
                        <a:buNone/>
                      </a:pPr>
                      <a:r>
                        <a:rPr lang="en-US" sz="1400" dirty="0">
                          <a:solidFill>
                            <a:srgbClr val="202B22"/>
                          </a:solidFill>
                          <a:latin typeface="Calibri" pitchFamily="34" charset="0"/>
                          <a:ea typeface="Calibri" pitchFamily="34" charset="-122"/>
                          <a:cs typeface="Calibri" pitchFamily="34" charset="-120"/>
                        </a:rPr>
                        <a:t>A model of identity</a:t>
                      </a:r>
                      <a:endParaRPr lang="en-US" sz="1400" dirty="0">
                        <a:latin typeface="Calibri" charset="0"/>
                        <a:ea typeface="Calibri" charset="0"/>
                        <a:cs typeface="Calibri" charset="0"/>
                      </a:endParaRPr>
                    </a:p>
                  </a:txBody>
                  <a:tcPr marL="101600" marR="101600" marT="76200" marB="76200" anchor="ctr">
                    <a:lnL w="12700" cap="flat" cmpd="sng" algn="ctr">
                      <a:solidFill>
                        <a:srgbClr val="FFD85F"/>
                      </a:solidFill>
                      <a:prstDash val="solid"/>
                      <a:round/>
                      <a:headEnd type="none" w="med" len="med"/>
                      <a:tailEnd type="none" w="med" len="med"/>
                    </a:lnL>
                    <a:lnR w="12700" cap="flat" cmpd="sng" algn="ctr">
                      <a:solidFill>
                        <a:srgbClr val="FFD85F"/>
                      </a:solidFill>
                      <a:prstDash val="solid"/>
                      <a:round/>
                      <a:headEnd type="none" w="med" len="med"/>
                      <a:tailEnd type="none" w="med" len="med"/>
                    </a:lnR>
                    <a:lnT w="12700" cap="flat" cmpd="sng" algn="ctr">
                      <a:solidFill>
                        <a:srgbClr val="FFD85F"/>
                      </a:solidFill>
                      <a:prstDash val="solid"/>
                      <a:round/>
                      <a:headEnd type="none" w="med" len="med"/>
                      <a:tailEnd type="none" w="med" len="med"/>
                    </a:lnT>
                    <a:lnB w="12700" cap="flat" cmpd="sng" algn="ctr">
                      <a:solidFill>
                        <a:srgbClr val="E0BE45"/>
                      </a:solidFill>
                      <a:prstDash val="solid"/>
                      <a:round/>
                      <a:headEnd type="none" w="med" len="med"/>
                      <a:tailEnd type="none" w="med" len="med"/>
                    </a:lnB>
                    <a:solidFill>
                      <a:srgbClr val="FFD85F"/>
                    </a:solidFill>
                  </a:tcPr>
                </a:tc>
                <a:tc>
                  <a:txBody>
                    <a:bodyPr/>
                    <a:lstStyle/>
                    <a:p>
                      <a:pPr algn="l" indent="0" marL="0">
                        <a:buNone/>
                      </a:pPr>
                      <a:r>
                        <a:rPr lang="en-US" sz="1400" dirty="0">
                          <a:solidFill>
                            <a:srgbClr val="202B22"/>
                          </a:solidFill>
                          <a:latin typeface="Calibri" pitchFamily="34" charset="0"/>
                          <a:ea typeface="Calibri" pitchFamily="34" charset="-122"/>
                          <a:cs typeface="Calibri" pitchFamily="34" charset="-120"/>
                        </a:rPr>
                        <a:t>Binary gender markers, as the Directive's reporting annex is written today.</a:t>
                      </a:r>
                      <a:endParaRPr lang="en-US" sz="1400" dirty="0">
                        <a:latin typeface="Calibri" charset="0"/>
                        <a:ea typeface="Calibri" charset="0"/>
                        <a:cs typeface="Calibri" charset="0"/>
                      </a:endParaRPr>
                    </a:p>
                  </a:txBody>
                  <a:tcPr marL="101600" marR="101600" marT="76200" marB="76200" anchor="ctr">
                    <a:lnL w="12700" cap="flat" cmpd="sng" algn="ctr">
                      <a:solidFill>
                        <a:srgbClr val="FFD85F"/>
                      </a:solidFill>
                      <a:prstDash val="solid"/>
                      <a:round/>
                      <a:headEnd type="none" w="med" len="med"/>
                      <a:tailEnd type="none" w="med" len="med"/>
                    </a:lnL>
                    <a:lnR w="12700" cap="flat" cmpd="sng" algn="ctr">
                      <a:solidFill>
                        <a:srgbClr val="FFD85F"/>
                      </a:solidFill>
                      <a:prstDash val="solid"/>
                      <a:round/>
                      <a:headEnd type="none" w="med" len="med"/>
                      <a:tailEnd type="none" w="med" len="med"/>
                    </a:lnR>
                    <a:lnT w="12700" cap="flat" cmpd="sng" algn="ctr">
                      <a:solidFill>
                        <a:srgbClr val="FFD85F"/>
                      </a:solidFill>
                      <a:prstDash val="solid"/>
                      <a:round/>
                      <a:headEnd type="none" w="med" len="med"/>
                      <a:tailEnd type="none" w="med" len="med"/>
                    </a:lnT>
                    <a:lnB w="12700" cap="flat" cmpd="sng" algn="ctr">
                      <a:solidFill>
                        <a:srgbClr val="E0BE45"/>
                      </a:solidFill>
                      <a:prstDash val="solid"/>
                      <a:round/>
                      <a:headEnd type="none" w="med" len="med"/>
                      <a:tailEnd type="none" w="med" len="med"/>
                    </a:lnB>
                    <a:solidFill>
                      <a:srgbClr val="FFD85F"/>
                    </a:solidFill>
                  </a:tcPr>
                </a:tc>
              </a:tr>
            </a:tbl>
          </a:graphicData>
        </a:graphic>
      </p:graphicFrame>
      <p:sp>
        <p:nvSpPr>
          <p:cNvPr id="6" name="Text 3"/>
          <p:cNvSpPr/>
          <p:nvPr/>
        </p:nvSpPr>
        <p:spPr>
          <a:xfrm>
            <a:off x="502920" y="6510528"/>
            <a:ext cx="8412480" cy="219456"/>
          </a:xfrm>
          <a:prstGeom prst="rect">
            <a:avLst/>
          </a:prstGeom>
          <a:noFill/>
          <a:ln/>
        </p:spPr>
        <p:txBody>
          <a:bodyPr wrap="square" lIns="0" tIns="0" rIns="0" bIns="0" rtlCol="0" anchor="ctr"/>
          <a:lstStyle/>
          <a:p>
            <a:pPr indent="0" marL="0">
              <a:buNone/>
            </a:pPr>
            <a:r>
              <a:rPr lang="en-US" sz="1100" spc="80" kern="0" dirty="0">
                <a:solidFill>
                  <a:srgbClr val="5C6848"/>
                </a:solidFill>
                <a:latin typeface="Courier New" pitchFamily="34" charset="0"/>
                <a:ea typeface="Courier New" pitchFamily="34" charset="-122"/>
                <a:cs typeface="Courier New" pitchFamily="34" charset="-120"/>
              </a:rPr>
              <a:t>EQUILUX</a:t>
            </a:r>
            <a:endParaRPr lang="en-US" sz="1100" dirty="0"/>
          </a:p>
        </p:txBody>
      </p:sp>
      <p:sp>
        <p:nvSpPr>
          <p:cNvPr id="7" name="Text 4"/>
          <p:cNvSpPr/>
          <p:nvPr/>
        </p:nvSpPr>
        <p:spPr>
          <a:xfrm>
            <a:off x="9052560" y="6510528"/>
            <a:ext cx="2633472" cy="219456"/>
          </a:xfrm>
          <a:prstGeom prst="rect">
            <a:avLst/>
          </a:prstGeom>
          <a:noFill/>
          <a:ln/>
        </p:spPr>
        <p:txBody>
          <a:bodyPr wrap="square" lIns="0" tIns="0" rIns="0" bIns="0" rtlCol="0" anchor="ctr"/>
          <a:lstStyle/>
          <a:p>
            <a:pPr algn="r" indent="0" marL="0">
              <a:buNone/>
            </a:pPr>
            <a:r>
              <a:rPr lang="en-US" sz="1100" spc="80" kern="0" dirty="0">
                <a:solidFill>
                  <a:srgbClr val="5C6848"/>
                </a:solidFill>
                <a:latin typeface="Courier New" pitchFamily="34" charset="0"/>
                <a:ea typeface="Courier New" pitchFamily="34" charset="-122"/>
                <a:cs typeface="Courier New" pitchFamily="34" charset="-120"/>
              </a:rPr>
              <a:t>10  /  12</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31A15"/>
        </a:solidFill>
      </p:bgPr>
    </p:bg>
    <p:spTree>
      <p:nvGrpSpPr>
        <p:cNvPr id="1" name=""/>
        <p:cNvGrpSpPr/>
        <p:nvPr/>
      </p:nvGrpSpPr>
      <p:grpSpPr>
        <a:xfrm>
          <a:off x="0" y="0"/>
          <a:ext cx="0" cy="0"/>
          <a:chOff x="0" y="0"/>
          <a:chExt cx="0" cy="0"/>
        </a:xfrm>
      </p:grpSpPr>
      <p:sp>
        <p:nvSpPr>
          <p:cNvPr id="2" name="Shape 0"/>
          <p:cNvSpPr/>
          <p:nvPr/>
        </p:nvSpPr>
        <p:spPr>
          <a:xfrm>
            <a:off x="502920" y="420624"/>
            <a:ext cx="256032" cy="22860"/>
          </a:xfrm>
          <a:prstGeom prst="rect">
            <a:avLst/>
          </a:prstGeom>
          <a:solidFill>
            <a:srgbClr val="FFD85F"/>
          </a:solidFill>
          <a:ln/>
        </p:spPr>
      </p:sp>
      <p:sp>
        <p:nvSpPr>
          <p:cNvPr id="3" name="Text 1"/>
          <p:cNvSpPr/>
          <p:nvPr/>
        </p:nvSpPr>
        <p:spPr>
          <a:xfrm>
            <a:off x="877824" y="310896"/>
            <a:ext cx="10607040" cy="256032"/>
          </a:xfrm>
          <a:prstGeom prst="rect">
            <a:avLst/>
          </a:prstGeom>
          <a:noFill/>
          <a:ln/>
        </p:spPr>
        <p:txBody>
          <a:bodyPr wrap="square" lIns="0" tIns="0" rIns="0" bIns="0" rtlCol="0" anchor="ctr"/>
          <a:lstStyle/>
          <a:p>
            <a:pPr indent="0" marL="0">
              <a:buNone/>
            </a:pPr>
            <a:r>
              <a:rPr lang="en-US" sz="1100" spc="160" kern="0" dirty="0">
                <a:solidFill>
                  <a:srgbClr val="FFD85F"/>
                </a:solidFill>
                <a:latin typeface="Courier New" pitchFamily="34" charset="0"/>
                <a:ea typeface="Courier New" pitchFamily="34" charset="-122"/>
                <a:cs typeface="Courier New" pitchFamily="34" charset="-120"/>
              </a:rPr>
              <a:t>THREE WAVES</a:t>
            </a:r>
            <a:endParaRPr lang="en-US" sz="1100" dirty="0"/>
          </a:p>
        </p:txBody>
      </p:sp>
      <p:sp>
        <p:nvSpPr>
          <p:cNvPr id="4" name="Text 2"/>
          <p:cNvSpPr/>
          <p:nvPr/>
        </p:nvSpPr>
        <p:spPr>
          <a:xfrm>
            <a:off x="502920" y="658368"/>
            <a:ext cx="11155680" cy="594360"/>
          </a:xfrm>
          <a:prstGeom prst="rect">
            <a:avLst/>
          </a:prstGeom>
          <a:noFill/>
          <a:ln/>
        </p:spPr>
        <p:txBody>
          <a:bodyPr wrap="square" lIns="0" tIns="0" rIns="0" bIns="0" rtlCol="0" anchor="ctr"/>
          <a:lstStyle/>
          <a:p>
            <a:pPr indent="0" marL="0">
              <a:buNone/>
            </a:pPr>
            <a:r>
              <a:rPr lang="en-US" sz="3200" b="1" dirty="0">
                <a:solidFill>
                  <a:srgbClr val="FAF6E9"/>
                </a:solidFill>
                <a:latin typeface="Calibri" pitchFamily="34" charset="0"/>
                <a:ea typeface="Calibri" pitchFamily="34" charset="-122"/>
                <a:cs typeface="Calibri" pitchFamily="34" charset="-120"/>
              </a:rPr>
              <a:t>Built in the open, wave by wave.</a:t>
            </a:r>
            <a:endParaRPr lang="en-US" sz="3200" dirty="0"/>
          </a:p>
        </p:txBody>
      </p:sp>
      <p:sp>
        <p:nvSpPr>
          <p:cNvPr id="5" name="Shape 3"/>
          <p:cNvSpPr/>
          <p:nvPr/>
        </p:nvSpPr>
        <p:spPr>
          <a:xfrm>
            <a:off x="502920" y="1554480"/>
            <a:ext cx="3675888" cy="4434840"/>
          </a:xfrm>
          <a:prstGeom prst="roundRect">
            <a:avLst>
              <a:gd name="adj" fmla="val 2488"/>
            </a:avLst>
          </a:prstGeom>
          <a:solidFill>
            <a:srgbClr val="1A241C"/>
          </a:solidFill>
          <a:ln w="15875">
            <a:solidFill>
              <a:srgbClr val="3E4C40"/>
            </a:solidFill>
            <a:prstDash val="solid"/>
          </a:ln>
        </p:spPr>
      </p:sp>
      <p:sp>
        <p:nvSpPr>
          <p:cNvPr id="6" name="Shape 4"/>
          <p:cNvSpPr/>
          <p:nvPr/>
        </p:nvSpPr>
        <p:spPr>
          <a:xfrm>
            <a:off x="704088" y="1783080"/>
            <a:ext cx="2331720" cy="329184"/>
          </a:xfrm>
          <a:prstGeom prst="roundRect">
            <a:avLst>
              <a:gd name="adj" fmla="val 13889"/>
            </a:avLst>
          </a:prstGeom>
          <a:solidFill>
            <a:srgbClr val="2C382E"/>
          </a:solidFill>
          <a:ln w="12700">
            <a:solidFill>
              <a:srgbClr val="2C382E"/>
            </a:solidFill>
            <a:prstDash val="solid"/>
          </a:ln>
        </p:spPr>
      </p:sp>
      <p:sp>
        <p:nvSpPr>
          <p:cNvPr id="7" name="Text 5"/>
          <p:cNvSpPr/>
          <p:nvPr/>
        </p:nvSpPr>
        <p:spPr>
          <a:xfrm>
            <a:off x="704088" y="1783080"/>
            <a:ext cx="2331720" cy="329184"/>
          </a:xfrm>
          <a:prstGeom prst="rect">
            <a:avLst/>
          </a:prstGeom>
          <a:noFill/>
          <a:ln/>
        </p:spPr>
        <p:txBody>
          <a:bodyPr wrap="square" lIns="0" tIns="0" rIns="0" bIns="0" rtlCol="0" anchor="ctr"/>
          <a:lstStyle/>
          <a:p>
            <a:pPr algn="ctr" indent="0" marL="0">
              <a:buNone/>
            </a:pPr>
            <a:r>
              <a:rPr lang="en-US" sz="1100" dirty="0">
                <a:solidFill>
                  <a:srgbClr val="FFD85F"/>
                </a:solidFill>
                <a:latin typeface="Courier New" pitchFamily="34" charset="0"/>
                <a:ea typeface="Courier New" pitchFamily="34" charset="-122"/>
                <a:cs typeface="Courier New" pitchFamily="34" charset="-120"/>
              </a:rPr>
              <a:t>WAVE 1  ·  DELIVERED</a:t>
            </a:r>
            <a:endParaRPr lang="en-US" sz="1100" dirty="0"/>
          </a:p>
        </p:txBody>
      </p:sp>
      <p:sp>
        <p:nvSpPr>
          <p:cNvPr id="8" name="Text 6"/>
          <p:cNvSpPr/>
          <p:nvPr/>
        </p:nvSpPr>
        <p:spPr>
          <a:xfrm>
            <a:off x="722376" y="2286000"/>
            <a:ext cx="3246120" cy="457200"/>
          </a:xfrm>
          <a:prstGeom prst="rect">
            <a:avLst/>
          </a:prstGeom>
          <a:noFill/>
          <a:ln/>
        </p:spPr>
        <p:txBody>
          <a:bodyPr wrap="square" lIns="0" tIns="0" rIns="0" bIns="0" rtlCol="0" anchor="ctr"/>
          <a:lstStyle/>
          <a:p>
            <a:pPr indent="0" marL="0">
              <a:buNone/>
            </a:pPr>
            <a:r>
              <a:rPr lang="en-US" sz="2200" b="1" dirty="0">
                <a:solidFill>
                  <a:srgbClr val="FAF6E9"/>
                </a:solidFill>
                <a:latin typeface="Calibri" pitchFamily="34" charset="0"/>
                <a:ea typeface="Calibri" pitchFamily="34" charset="-122"/>
                <a:cs typeface="Calibri" pitchFamily="34" charset="-120"/>
              </a:rPr>
              <a:t>Prove it works</a:t>
            </a:r>
            <a:endParaRPr lang="en-US" sz="2200" dirty="0"/>
          </a:p>
        </p:txBody>
      </p:sp>
      <p:sp>
        <p:nvSpPr>
          <p:cNvPr id="9" name="Text 7"/>
          <p:cNvSpPr/>
          <p:nvPr/>
        </p:nvSpPr>
        <p:spPr>
          <a:xfrm>
            <a:off x="722376" y="2880360"/>
            <a:ext cx="3246120" cy="2788920"/>
          </a:xfrm>
          <a:prstGeom prst="rect">
            <a:avLst/>
          </a:prstGeom>
          <a:noFill/>
          <a:ln/>
        </p:spPr>
        <p:txBody>
          <a:bodyPr wrap="square" lIns="0" tIns="0" rIns="0" bIns="0" rtlCol="0" anchor="ctr"/>
          <a:lstStyle/>
          <a:p>
            <a:pPr indent="0" marL="0">
              <a:buNone/>
            </a:pPr>
            <a:r>
              <a:rPr lang="en-US" sz="1500" dirty="0">
                <a:solidFill>
                  <a:srgbClr val="C5CDC0"/>
                </a:solidFill>
                <a:latin typeface="Calibri" pitchFamily="34" charset="0"/>
                <a:ea typeface="Calibri" pitchFamily="34" charset="-122"/>
                <a:cs typeface="Calibri" pitchFamily="34" charset="-120"/>
              </a:rPr>
              <a:t>Contract with private state. Proven end to end on a Midnight network. Employer, employee and regulator workspace. Honest scope.</a:t>
            </a:r>
            <a:endParaRPr lang="en-US" sz="1500" dirty="0"/>
          </a:p>
        </p:txBody>
      </p:sp>
      <p:sp>
        <p:nvSpPr>
          <p:cNvPr id="10" name="Shape 8"/>
          <p:cNvSpPr/>
          <p:nvPr/>
        </p:nvSpPr>
        <p:spPr>
          <a:xfrm>
            <a:off x="4343400" y="1554480"/>
            <a:ext cx="3675888" cy="4434840"/>
          </a:xfrm>
          <a:prstGeom prst="roundRect">
            <a:avLst>
              <a:gd name="adj" fmla="val 2488"/>
            </a:avLst>
          </a:prstGeom>
          <a:solidFill>
            <a:srgbClr val="FFD85F"/>
          </a:solidFill>
          <a:ln w="15875">
            <a:solidFill>
              <a:srgbClr val="FFD85F"/>
            </a:solidFill>
            <a:prstDash val="solid"/>
          </a:ln>
        </p:spPr>
      </p:sp>
      <p:sp>
        <p:nvSpPr>
          <p:cNvPr id="11" name="Shape 9"/>
          <p:cNvSpPr/>
          <p:nvPr/>
        </p:nvSpPr>
        <p:spPr>
          <a:xfrm>
            <a:off x="4544568" y="1783080"/>
            <a:ext cx="2331720" cy="329184"/>
          </a:xfrm>
          <a:prstGeom prst="roundRect">
            <a:avLst>
              <a:gd name="adj" fmla="val 13889"/>
            </a:avLst>
          </a:prstGeom>
          <a:solidFill>
            <a:srgbClr val="E8C24A"/>
          </a:solidFill>
          <a:ln w="12700">
            <a:solidFill>
              <a:srgbClr val="E8C24A"/>
            </a:solidFill>
            <a:prstDash val="solid"/>
          </a:ln>
        </p:spPr>
      </p:sp>
      <p:sp>
        <p:nvSpPr>
          <p:cNvPr id="12" name="Text 10"/>
          <p:cNvSpPr/>
          <p:nvPr/>
        </p:nvSpPr>
        <p:spPr>
          <a:xfrm>
            <a:off x="4544568" y="1783080"/>
            <a:ext cx="2331720" cy="329184"/>
          </a:xfrm>
          <a:prstGeom prst="rect">
            <a:avLst/>
          </a:prstGeom>
          <a:noFill/>
          <a:ln/>
        </p:spPr>
        <p:txBody>
          <a:bodyPr wrap="square" lIns="0" tIns="0" rIns="0" bIns="0" rtlCol="0" anchor="ctr"/>
          <a:lstStyle/>
          <a:p>
            <a:pPr algn="ctr" indent="0" marL="0">
              <a:buNone/>
            </a:pPr>
            <a:r>
              <a:rPr lang="en-US" sz="1100" dirty="0">
                <a:solidFill>
                  <a:srgbClr val="202B22"/>
                </a:solidFill>
                <a:latin typeface="Courier New" pitchFamily="34" charset="0"/>
                <a:ea typeface="Courier New" pitchFamily="34" charset="-122"/>
                <a:cs typeface="Courier New" pitchFamily="34" charset="-120"/>
              </a:rPr>
              <a:t>WAVE 2  ·  THIS WAVE</a:t>
            </a:r>
            <a:endParaRPr lang="en-US" sz="1100" dirty="0"/>
          </a:p>
        </p:txBody>
      </p:sp>
      <p:sp>
        <p:nvSpPr>
          <p:cNvPr id="13" name="Text 11"/>
          <p:cNvSpPr/>
          <p:nvPr/>
        </p:nvSpPr>
        <p:spPr>
          <a:xfrm>
            <a:off x="4562856" y="2286000"/>
            <a:ext cx="3246120" cy="457200"/>
          </a:xfrm>
          <a:prstGeom prst="rect">
            <a:avLst/>
          </a:prstGeom>
          <a:noFill/>
          <a:ln/>
        </p:spPr>
        <p:txBody>
          <a:bodyPr wrap="square" lIns="0" tIns="0" rIns="0" bIns="0" rtlCol="0" anchor="ctr"/>
          <a:lstStyle/>
          <a:p>
            <a:pPr indent="0" marL="0">
              <a:buNone/>
            </a:pPr>
            <a:r>
              <a:rPr lang="en-US" sz="2200" b="1" dirty="0">
                <a:solidFill>
                  <a:srgbClr val="202B22"/>
                </a:solidFill>
                <a:latin typeface="Calibri" pitchFamily="34" charset="0"/>
                <a:ea typeface="Calibri" pitchFamily="34" charset="-122"/>
                <a:cs typeface="Calibri" pitchFamily="34" charset="-120"/>
              </a:rPr>
              <a:t>The product</a:t>
            </a:r>
            <a:endParaRPr lang="en-US" sz="2200" dirty="0"/>
          </a:p>
        </p:txBody>
      </p:sp>
      <p:sp>
        <p:nvSpPr>
          <p:cNvPr id="14" name="Text 12"/>
          <p:cNvSpPr/>
          <p:nvPr/>
        </p:nvSpPr>
        <p:spPr>
          <a:xfrm>
            <a:off x="4562856" y="2880360"/>
            <a:ext cx="3246120" cy="2788920"/>
          </a:xfrm>
          <a:prstGeom prst="rect">
            <a:avLst/>
          </a:prstGeom>
          <a:noFill/>
          <a:ln/>
        </p:spPr>
        <p:txBody>
          <a:bodyPr wrap="square" lIns="0" tIns="0" rIns="0" bIns="0" rtlCol="0" anchor="ctr"/>
          <a:lstStyle/>
          <a:p>
            <a:pPr indent="0" marL="0">
              <a:buNone/>
            </a:pPr>
            <a:r>
              <a:rPr lang="en-US" sz="1500" dirty="0">
                <a:solidFill>
                  <a:srgbClr val="2A382C"/>
                </a:solidFill>
                <a:latin typeface="Calibri" pitchFamily="34" charset="0"/>
                <a:ea typeface="Calibri" pitchFamily="34" charset="-122"/>
                <a:cs typeface="Calibri" pitchFamily="34" charset="-120"/>
              </a:rPr>
              <a:t>Works council. Payroll-row binding. All seven Article 9 indicators. The 14-person flow on preprod. /verify and the filing pack. Connect wallet. Personio / DATEV import.</a:t>
            </a:r>
            <a:endParaRPr lang="en-US" sz="1500" dirty="0"/>
          </a:p>
        </p:txBody>
      </p:sp>
      <p:sp>
        <p:nvSpPr>
          <p:cNvPr id="15" name="Shape 13"/>
          <p:cNvSpPr/>
          <p:nvPr/>
        </p:nvSpPr>
        <p:spPr>
          <a:xfrm>
            <a:off x="8183880" y="1554480"/>
            <a:ext cx="3675888" cy="4434840"/>
          </a:xfrm>
          <a:prstGeom prst="roundRect">
            <a:avLst>
              <a:gd name="adj" fmla="val 2488"/>
            </a:avLst>
          </a:prstGeom>
          <a:solidFill>
            <a:srgbClr val="1A241C"/>
          </a:solidFill>
          <a:ln w="15875">
            <a:solidFill>
              <a:srgbClr val="3E4C40"/>
            </a:solidFill>
            <a:prstDash val="solid"/>
          </a:ln>
        </p:spPr>
      </p:sp>
      <p:sp>
        <p:nvSpPr>
          <p:cNvPr id="16" name="Shape 14"/>
          <p:cNvSpPr/>
          <p:nvPr/>
        </p:nvSpPr>
        <p:spPr>
          <a:xfrm>
            <a:off x="8385048" y="1783080"/>
            <a:ext cx="1234440" cy="329184"/>
          </a:xfrm>
          <a:prstGeom prst="roundRect">
            <a:avLst>
              <a:gd name="adj" fmla="val 13889"/>
            </a:avLst>
          </a:prstGeom>
          <a:solidFill>
            <a:srgbClr val="2C382E"/>
          </a:solidFill>
          <a:ln w="12700">
            <a:solidFill>
              <a:srgbClr val="2C382E"/>
            </a:solidFill>
            <a:prstDash val="solid"/>
          </a:ln>
        </p:spPr>
      </p:sp>
      <p:sp>
        <p:nvSpPr>
          <p:cNvPr id="17" name="Text 15"/>
          <p:cNvSpPr/>
          <p:nvPr/>
        </p:nvSpPr>
        <p:spPr>
          <a:xfrm>
            <a:off x="8385048" y="1783080"/>
            <a:ext cx="1234440" cy="329184"/>
          </a:xfrm>
          <a:prstGeom prst="rect">
            <a:avLst/>
          </a:prstGeom>
          <a:noFill/>
          <a:ln/>
        </p:spPr>
        <p:txBody>
          <a:bodyPr wrap="square" lIns="0" tIns="0" rIns="0" bIns="0" rtlCol="0" anchor="ctr"/>
          <a:lstStyle/>
          <a:p>
            <a:pPr algn="ctr" indent="0" marL="0">
              <a:buNone/>
            </a:pPr>
            <a:r>
              <a:rPr lang="en-US" sz="1100" dirty="0">
                <a:solidFill>
                  <a:srgbClr val="FFD85F"/>
                </a:solidFill>
                <a:latin typeface="Courier New" pitchFamily="34" charset="0"/>
                <a:ea typeface="Courier New" pitchFamily="34" charset="-122"/>
                <a:cs typeface="Courier New" pitchFamily="34" charset="-120"/>
              </a:rPr>
              <a:t>WAVE 3</a:t>
            </a:r>
            <a:endParaRPr lang="en-US" sz="1100" dirty="0"/>
          </a:p>
        </p:txBody>
      </p:sp>
      <p:sp>
        <p:nvSpPr>
          <p:cNvPr id="18" name="Text 16"/>
          <p:cNvSpPr/>
          <p:nvPr/>
        </p:nvSpPr>
        <p:spPr>
          <a:xfrm>
            <a:off x="8403336" y="2286000"/>
            <a:ext cx="3246120" cy="457200"/>
          </a:xfrm>
          <a:prstGeom prst="rect">
            <a:avLst/>
          </a:prstGeom>
          <a:noFill/>
          <a:ln/>
        </p:spPr>
        <p:txBody>
          <a:bodyPr wrap="square" lIns="0" tIns="0" rIns="0" bIns="0" rtlCol="0" anchor="ctr"/>
          <a:lstStyle/>
          <a:p>
            <a:pPr indent="0" marL="0">
              <a:buNone/>
            </a:pPr>
            <a:r>
              <a:rPr lang="en-US" sz="2200" b="1" dirty="0">
                <a:solidFill>
                  <a:srgbClr val="FAF6E9"/>
                </a:solidFill>
                <a:latin typeface="Calibri" pitchFamily="34" charset="0"/>
                <a:ea typeface="Calibri" pitchFamily="34" charset="-122"/>
                <a:cs typeface="Calibri" pitchFamily="34" charset="-120"/>
              </a:rPr>
              <a:t>A named pilot</a:t>
            </a:r>
            <a:endParaRPr lang="en-US" sz="2200" dirty="0"/>
          </a:p>
        </p:txBody>
      </p:sp>
      <p:sp>
        <p:nvSpPr>
          <p:cNvPr id="19" name="Text 17"/>
          <p:cNvSpPr/>
          <p:nvPr/>
        </p:nvSpPr>
        <p:spPr>
          <a:xfrm>
            <a:off x="8403336" y="2880360"/>
            <a:ext cx="3246120" cy="2788920"/>
          </a:xfrm>
          <a:prstGeom prst="rect">
            <a:avLst/>
          </a:prstGeom>
          <a:noFill/>
          <a:ln/>
        </p:spPr>
        <p:txBody>
          <a:bodyPr wrap="square" lIns="0" tIns="0" rIns="0" bIns="0" rtlCol="0" anchor="ctr"/>
          <a:lstStyle/>
          <a:p>
            <a:pPr indent="0" marL="0">
              <a:buNone/>
            </a:pPr>
            <a:r>
              <a:rPr lang="en-US" sz="1500" dirty="0">
                <a:solidFill>
                  <a:srgbClr val="C5CDC0"/>
                </a:solidFill>
                <a:latin typeface="Calibri" pitchFamily="34" charset="0"/>
                <a:ea typeface="Calibri" pitchFamily="34" charset="-122"/>
                <a:cs typeface="Calibri" pitchFamily="34" charset="-120"/>
              </a:rPr>
              <a:t>One EU employer and its works council, on their own payroll export. A real Personio sandbox. The first full write from a visitor's wallet.</a:t>
            </a:r>
            <a:endParaRPr lang="en-US" sz="1500" dirty="0"/>
          </a:p>
        </p:txBody>
      </p:sp>
      <p:sp>
        <p:nvSpPr>
          <p:cNvPr id="20" name="Text 18"/>
          <p:cNvSpPr/>
          <p:nvPr/>
        </p:nvSpPr>
        <p:spPr>
          <a:xfrm>
            <a:off x="502920" y="6510528"/>
            <a:ext cx="8412480" cy="219456"/>
          </a:xfrm>
          <a:prstGeom prst="rect">
            <a:avLst/>
          </a:prstGeom>
          <a:noFill/>
          <a:ln/>
        </p:spPr>
        <p:txBody>
          <a:bodyPr wrap="square" lIns="0" tIns="0" rIns="0" bIns="0" rtlCol="0" anchor="ctr"/>
          <a:lstStyle/>
          <a:p>
            <a:pPr indent="0" marL="0">
              <a:buNone/>
            </a:pPr>
            <a:r>
              <a:rPr lang="en-US" sz="1100" spc="80" kern="0" dirty="0">
                <a:solidFill>
                  <a:srgbClr val="8A9384"/>
                </a:solidFill>
                <a:latin typeface="Courier New" pitchFamily="34" charset="0"/>
                <a:ea typeface="Courier New" pitchFamily="34" charset="-122"/>
                <a:cs typeface="Courier New" pitchFamily="34" charset="-120"/>
              </a:rPr>
              <a:t>EQUILUX</a:t>
            </a:r>
            <a:endParaRPr lang="en-US" sz="1100" dirty="0"/>
          </a:p>
        </p:txBody>
      </p:sp>
      <p:sp>
        <p:nvSpPr>
          <p:cNvPr id="21" name="Text 19"/>
          <p:cNvSpPr/>
          <p:nvPr/>
        </p:nvSpPr>
        <p:spPr>
          <a:xfrm>
            <a:off x="9052560" y="6510528"/>
            <a:ext cx="2633472" cy="219456"/>
          </a:xfrm>
          <a:prstGeom prst="rect">
            <a:avLst/>
          </a:prstGeom>
          <a:noFill/>
          <a:ln/>
        </p:spPr>
        <p:txBody>
          <a:bodyPr wrap="square" lIns="0" tIns="0" rIns="0" bIns="0" rtlCol="0" anchor="ctr"/>
          <a:lstStyle/>
          <a:p>
            <a:pPr algn="r" indent="0" marL="0">
              <a:buNone/>
            </a:pPr>
            <a:r>
              <a:rPr lang="en-US" sz="1100" spc="80" kern="0" dirty="0">
                <a:solidFill>
                  <a:srgbClr val="8A9384"/>
                </a:solidFill>
                <a:latin typeface="Courier New" pitchFamily="34" charset="0"/>
                <a:ea typeface="Courier New" pitchFamily="34" charset="-122"/>
                <a:cs typeface="Courier New" pitchFamily="34" charset="-120"/>
              </a:rPr>
              <a:t>11  /  12</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02B22"/>
        </a:solidFill>
      </p:bgPr>
    </p:bg>
    <p:spTree>
      <p:nvGrpSpPr>
        <p:cNvPr id="1" name=""/>
        <p:cNvGrpSpPr/>
        <p:nvPr/>
      </p:nvGrpSpPr>
      <p:grpSpPr>
        <a:xfrm>
          <a:off x="0" y="0"/>
          <a:ext cx="0" cy="0"/>
          <a:chOff x="0" y="0"/>
          <a:chExt cx="0" cy="0"/>
        </a:xfrm>
      </p:grpSpPr>
      <p:sp>
        <p:nvSpPr>
          <p:cNvPr id="2" name="Shape 0"/>
          <p:cNvSpPr/>
          <p:nvPr/>
        </p:nvSpPr>
        <p:spPr>
          <a:xfrm>
            <a:off x="502920" y="420624"/>
            <a:ext cx="256032" cy="22860"/>
          </a:xfrm>
          <a:prstGeom prst="rect">
            <a:avLst/>
          </a:prstGeom>
          <a:solidFill>
            <a:srgbClr val="FFD85F"/>
          </a:solidFill>
          <a:ln/>
        </p:spPr>
      </p:sp>
      <p:sp>
        <p:nvSpPr>
          <p:cNvPr id="3" name="Text 1"/>
          <p:cNvSpPr/>
          <p:nvPr/>
        </p:nvSpPr>
        <p:spPr>
          <a:xfrm>
            <a:off x="877824" y="310896"/>
            <a:ext cx="10607040" cy="256032"/>
          </a:xfrm>
          <a:prstGeom prst="rect">
            <a:avLst/>
          </a:prstGeom>
          <a:noFill/>
          <a:ln/>
        </p:spPr>
        <p:txBody>
          <a:bodyPr wrap="square" lIns="0" tIns="0" rIns="0" bIns="0" rtlCol="0" anchor="ctr"/>
          <a:lstStyle/>
          <a:p>
            <a:pPr indent="0" marL="0">
              <a:buNone/>
            </a:pPr>
            <a:r>
              <a:rPr lang="en-US" sz="1100" spc="160" kern="0" dirty="0">
                <a:solidFill>
                  <a:srgbClr val="FFD85F"/>
                </a:solidFill>
                <a:latin typeface="Courier New" pitchFamily="34" charset="0"/>
                <a:ea typeface="Courier New" pitchFamily="34" charset="-122"/>
                <a:cs typeface="Courier New" pitchFamily="34" charset="-120"/>
              </a:rPr>
              <a:t>WHO BUYS  ·  WHAT WE ASK</a:t>
            </a:r>
            <a:endParaRPr lang="en-US" sz="1100" dirty="0"/>
          </a:p>
        </p:txBody>
      </p:sp>
      <p:sp>
        <p:nvSpPr>
          <p:cNvPr id="4" name="Text 2"/>
          <p:cNvSpPr/>
          <p:nvPr/>
        </p:nvSpPr>
        <p:spPr>
          <a:xfrm>
            <a:off x="502920" y="640080"/>
            <a:ext cx="11155680" cy="502920"/>
          </a:xfrm>
          <a:prstGeom prst="rect">
            <a:avLst/>
          </a:prstGeom>
          <a:noFill/>
          <a:ln/>
        </p:spPr>
        <p:txBody>
          <a:bodyPr wrap="square" lIns="0" tIns="0" rIns="0" bIns="0" rtlCol="0" anchor="ctr"/>
          <a:lstStyle/>
          <a:p>
            <a:pPr indent="0" marL="0">
              <a:buNone/>
            </a:pPr>
            <a:r>
              <a:rPr lang="en-US" sz="3000" b="1" dirty="0">
                <a:solidFill>
                  <a:srgbClr val="FAF6E9"/>
                </a:solidFill>
                <a:latin typeface="Calibri" pitchFamily="34" charset="0"/>
                <a:ea typeface="Calibri" pitchFamily="34" charset="-122"/>
                <a:cs typeface="Calibri" pitchFamily="34" charset="-120"/>
              </a:rPr>
              <a:t>The notary for Directive 2023/970.</a:t>
            </a:r>
            <a:endParaRPr lang="en-US" sz="3000" dirty="0"/>
          </a:p>
        </p:txBody>
      </p:sp>
      <p:sp>
        <p:nvSpPr>
          <p:cNvPr id="5" name="Shape 3"/>
          <p:cNvSpPr/>
          <p:nvPr/>
        </p:nvSpPr>
        <p:spPr>
          <a:xfrm>
            <a:off x="502920" y="1371600"/>
            <a:ext cx="3675888" cy="3246120"/>
          </a:xfrm>
          <a:prstGeom prst="roundRect">
            <a:avLst>
              <a:gd name="adj" fmla="val 2817"/>
            </a:avLst>
          </a:prstGeom>
          <a:solidFill>
            <a:srgbClr val="1A241C"/>
          </a:solidFill>
          <a:ln w="15875">
            <a:solidFill>
              <a:srgbClr val="3E4C40"/>
            </a:solidFill>
            <a:prstDash val="solid"/>
          </a:ln>
        </p:spPr>
      </p:sp>
      <p:sp>
        <p:nvSpPr>
          <p:cNvPr id="6" name="Text 4"/>
          <p:cNvSpPr/>
          <p:nvPr/>
        </p:nvSpPr>
        <p:spPr>
          <a:xfrm>
            <a:off x="704088" y="1554480"/>
            <a:ext cx="3273552" cy="384048"/>
          </a:xfrm>
          <a:prstGeom prst="rect">
            <a:avLst/>
          </a:prstGeom>
          <a:noFill/>
          <a:ln/>
        </p:spPr>
        <p:txBody>
          <a:bodyPr wrap="square" lIns="0" tIns="0" rIns="0" bIns="0" rtlCol="0" anchor="t"/>
          <a:lstStyle/>
          <a:p>
            <a:pPr indent="0" marL="0">
              <a:buNone/>
            </a:pPr>
            <a:r>
              <a:rPr lang="en-US" sz="1800" b="1" dirty="0">
                <a:solidFill>
                  <a:srgbClr val="FAF6E9"/>
                </a:solidFill>
                <a:latin typeface="Calibri" pitchFamily="34" charset="0"/>
                <a:ea typeface="Calibri" pitchFamily="34" charset="-122"/>
                <a:cs typeface="Calibri" pitchFamily="34" charset="-120"/>
              </a:rPr>
              <a:t>Buyers</a:t>
            </a:r>
            <a:endParaRPr lang="en-US" sz="1800" dirty="0"/>
          </a:p>
        </p:txBody>
      </p:sp>
      <p:sp>
        <p:nvSpPr>
          <p:cNvPr id="7" name="Text 5"/>
          <p:cNvSpPr/>
          <p:nvPr/>
        </p:nvSpPr>
        <p:spPr>
          <a:xfrm>
            <a:off x="704088" y="2029968"/>
            <a:ext cx="3273552" cy="2331720"/>
          </a:xfrm>
          <a:prstGeom prst="rect">
            <a:avLst/>
          </a:prstGeom>
          <a:noFill/>
          <a:ln/>
        </p:spPr>
        <p:txBody>
          <a:bodyPr wrap="square" lIns="0" tIns="0" rIns="0" bIns="0" rtlCol="0" anchor="t"/>
          <a:lstStyle/>
          <a:p>
            <a:pPr indent="0" marL="0">
              <a:buNone/>
            </a:pPr>
            <a:r>
              <a:rPr lang="en-US" sz="1500" dirty="0">
                <a:solidFill>
                  <a:srgbClr val="C5CDC0"/>
                </a:solidFill>
                <a:latin typeface="Calibri" pitchFamily="34" charset="0"/>
                <a:ea typeface="Calibri" pitchFamily="34" charset="-122"/>
                <a:cs typeface="Calibri" pitchFamily="34" charset="-120"/>
              </a:rPr>
              <a:t>Works councils that don't trust the numbers. GDPR-sensitive employers. Regulators who want completeness without holding payroll.</a:t>
            </a:r>
            <a:endParaRPr lang="en-US" sz="1500" dirty="0"/>
          </a:p>
        </p:txBody>
      </p:sp>
      <p:sp>
        <p:nvSpPr>
          <p:cNvPr id="8" name="Shape 6"/>
          <p:cNvSpPr/>
          <p:nvPr/>
        </p:nvSpPr>
        <p:spPr>
          <a:xfrm>
            <a:off x="4343400" y="1371600"/>
            <a:ext cx="3675888" cy="3246120"/>
          </a:xfrm>
          <a:prstGeom prst="roundRect">
            <a:avLst>
              <a:gd name="adj" fmla="val 2817"/>
            </a:avLst>
          </a:prstGeom>
          <a:solidFill>
            <a:srgbClr val="1A241C"/>
          </a:solidFill>
          <a:ln w="15875">
            <a:solidFill>
              <a:srgbClr val="3E4C40"/>
            </a:solidFill>
            <a:prstDash val="solid"/>
          </a:ln>
        </p:spPr>
      </p:sp>
      <p:sp>
        <p:nvSpPr>
          <p:cNvPr id="9" name="Text 7"/>
          <p:cNvSpPr/>
          <p:nvPr/>
        </p:nvSpPr>
        <p:spPr>
          <a:xfrm>
            <a:off x="4544568" y="1554480"/>
            <a:ext cx="3273552" cy="384048"/>
          </a:xfrm>
          <a:prstGeom prst="rect">
            <a:avLst/>
          </a:prstGeom>
          <a:noFill/>
          <a:ln/>
        </p:spPr>
        <p:txBody>
          <a:bodyPr wrap="square" lIns="0" tIns="0" rIns="0" bIns="0" rtlCol="0" anchor="t"/>
          <a:lstStyle/>
          <a:p>
            <a:pPr indent="0" marL="0">
              <a:buNone/>
            </a:pPr>
            <a:r>
              <a:rPr lang="en-US" sz="1800" b="1" dirty="0">
                <a:solidFill>
                  <a:srgbClr val="FAF6E9"/>
                </a:solidFill>
                <a:latin typeface="Calibri" pitchFamily="34" charset="0"/>
                <a:ea typeface="Calibri" pitchFamily="34" charset="-122"/>
                <a:cs typeface="Calibri" pitchFamily="34" charset="-120"/>
              </a:rPr>
              <a:t>A plugin, not a rival</a:t>
            </a:r>
            <a:endParaRPr lang="en-US" sz="1800" dirty="0"/>
          </a:p>
        </p:txBody>
      </p:sp>
      <p:sp>
        <p:nvSpPr>
          <p:cNvPr id="10" name="Text 8"/>
          <p:cNvSpPr/>
          <p:nvPr/>
        </p:nvSpPr>
        <p:spPr>
          <a:xfrm>
            <a:off x="4544568" y="2029968"/>
            <a:ext cx="3273552" cy="2331720"/>
          </a:xfrm>
          <a:prstGeom prst="rect">
            <a:avLst/>
          </a:prstGeom>
          <a:noFill/>
          <a:ln/>
        </p:spPr>
        <p:txBody>
          <a:bodyPr wrap="square" lIns="0" tIns="0" rIns="0" bIns="0" rtlCol="0" anchor="t"/>
          <a:lstStyle/>
          <a:p>
            <a:pPr indent="0" marL="0">
              <a:buNone/>
            </a:pPr>
            <a:r>
              <a:rPr lang="en-US" sz="1500" dirty="0">
                <a:solidFill>
                  <a:srgbClr val="C5CDC0"/>
                </a:solidFill>
                <a:latin typeface="Calibri" pitchFamily="34" charset="0"/>
                <a:ea typeface="Calibri" pitchFamily="34" charset="-122"/>
                <a:cs typeface="Calibri" pitchFamily="34" charset="-120"/>
              </a:rPr>
              <a:t>Workday, Personio, DATEV compute pay. Equilux imports their export, the provider commits its rows, and the report is proven — next to them, not instead of them.</a:t>
            </a:r>
            <a:endParaRPr lang="en-US" sz="1500" dirty="0"/>
          </a:p>
        </p:txBody>
      </p:sp>
      <p:sp>
        <p:nvSpPr>
          <p:cNvPr id="11" name="Shape 9"/>
          <p:cNvSpPr/>
          <p:nvPr/>
        </p:nvSpPr>
        <p:spPr>
          <a:xfrm>
            <a:off x="8183880" y="1371600"/>
            <a:ext cx="3675888" cy="3246120"/>
          </a:xfrm>
          <a:prstGeom prst="roundRect">
            <a:avLst>
              <a:gd name="adj" fmla="val 2817"/>
            </a:avLst>
          </a:prstGeom>
          <a:solidFill>
            <a:srgbClr val="1A241C"/>
          </a:solidFill>
          <a:ln w="15875">
            <a:solidFill>
              <a:srgbClr val="3E4C40"/>
            </a:solidFill>
            <a:prstDash val="solid"/>
          </a:ln>
        </p:spPr>
      </p:sp>
      <p:sp>
        <p:nvSpPr>
          <p:cNvPr id="12" name="Text 10"/>
          <p:cNvSpPr/>
          <p:nvPr/>
        </p:nvSpPr>
        <p:spPr>
          <a:xfrm>
            <a:off x="8385048" y="1554480"/>
            <a:ext cx="3273552" cy="384048"/>
          </a:xfrm>
          <a:prstGeom prst="rect">
            <a:avLst/>
          </a:prstGeom>
          <a:noFill/>
          <a:ln/>
        </p:spPr>
        <p:txBody>
          <a:bodyPr wrap="square" lIns="0" tIns="0" rIns="0" bIns="0" rtlCol="0" anchor="t"/>
          <a:lstStyle/>
          <a:p>
            <a:pPr indent="0" marL="0">
              <a:buNone/>
            </a:pPr>
            <a:r>
              <a:rPr lang="en-US" sz="1800" b="1" dirty="0">
                <a:solidFill>
                  <a:srgbClr val="FAF6E9"/>
                </a:solidFill>
                <a:latin typeface="Calibri" pitchFamily="34" charset="0"/>
                <a:ea typeface="Calibri" pitchFamily="34" charset="-122"/>
                <a:cs typeface="Calibri" pitchFamily="34" charset="-120"/>
              </a:rPr>
              <a:t>Why Midnight</a:t>
            </a:r>
            <a:endParaRPr lang="en-US" sz="1800" dirty="0"/>
          </a:p>
        </p:txBody>
      </p:sp>
      <p:sp>
        <p:nvSpPr>
          <p:cNvPr id="13" name="Text 11"/>
          <p:cNvSpPr/>
          <p:nvPr/>
        </p:nvSpPr>
        <p:spPr>
          <a:xfrm>
            <a:off x="8385048" y="2029968"/>
            <a:ext cx="3273552" cy="2331720"/>
          </a:xfrm>
          <a:prstGeom prst="rect">
            <a:avLst/>
          </a:prstGeom>
          <a:noFill/>
          <a:ln/>
        </p:spPr>
        <p:txBody>
          <a:bodyPr wrap="square" lIns="0" tIns="0" rIns="0" bIns="0" rtlCol="0" anchor="t"/>
          <a:lstStyle/>
          <a:p>
            <a:pPr indent="0" marL="0">
              <a:buNone/>
            </a:pPr>
            <a:r>
              <a:rPr lang="en-US" sz="1500" dirty="0">
                <a:solidFill>
                  <a:srgbClr val="C5CDC0"/>
                </a:solidFill>
                <a:latin typeface="Calibri" pitchFamily="34" charset="0"/>
                <a:ea typeface="Calibri" pitchFamily="34" charset="-122"/>
                <a:cs typeface="Calibri" pitchFamily="34" charset="-120"/>
              </a:rPr>
              <a:t>A forced legal deadline plus a problem only dual-ledger selective disclosure solves honestly. Incumbents can copy a dashboard; they cannot copy the proof.</a:t>
            </a:r>
            <a:endParaRPr lang="en-US" sz="1500" dirty="0"/>
          </a:p>
        </p:txBody>
      </p:sp>
      <p:sp>
        <p:nvSpPr>
          <p:cNvPr id="14" name="Shape 12"/>
          <p:cNvSpPr/>
          <p:nvPr/>
        </p:nvSpPr>
        <p:spPr>
          <a:xfrm>
            <a:off x="530352" y="5065776"/>
            <a:ext cx="365760" cy="82296"/>
          </a:xfrm>
          <a:prstGeom prst="roundRect">
            <a:avLst>
              <a:gd name="adj" fmla="val 44444"/>
            </a:avLst>
          </a:prstGeom>
          <a:solidFill>
            <a:srgbClr val="FFD85F"/>
          </a:solidFill>
          <a:ln w="12700">
            <a:solidFill>
              <a:srgbClr val="FFD85F">
                <a:alpha val="0"/>
              </a:srgbClr>
            </a:solidFill>
            <a:prstDash val="solid"/>
          </a:ln>
        </p:spPr>
      </p:sp>
      <p:sp>
        <p:nvSpPr>
          <p:cNvPr id="15" name="Shape 13"/>
          <p:cNvSpPr/>
          <p:nvPr/>
        </p:nvSpPr>
        <p:spPr>
          <a:xfrm>
            <a:off x="548640" y="5184648"/>
            <a:ext cx="329184" cy="59436"/>
          </a:xfrm>
          <a:prstGeom prst="roundRect">
            <a:avLst>
              <a:gd name="adj" fmla="val 46154"/>
            </a:avLst>
          </a:prstGeom>
          <a:solidFill>
            <a:srgbClr val="FFD85F">
              <a:alpha val="0"/>
            </a:srgbClr>
          </a:solidFill>
          <a:ln w="15875">
            <a:solidFill>
              <a:srgbClr val="FFD85F"/>
            </a:solidFill>
            <a:prstDash val="solid"/>
          </a:ln>
        </p:spPr>
      </p:sp>
      <p:sp>
        <p:nvSpPr>
          <p:cNvPr id="16" name="Text 14"/>
          <p:cNvSpPr/>
          <p:nvPr/>
        </p:nvSpPr>
        <p:spPr>
          <a:xfrm>
            <a:off x="1078992" y="4983480"/>
            <a:ext cx="2926080" cy="438912"/>
          </a:xfrm>
          <a:prstGeom prst="rect">
            <a:avLst/>
          </a:prstGeom>
          <a:noFill/>
          <a:ln/>
        </p:spPr>
        <p:txBody>
          <a:bodyPr wrap="square" lIns="0" tIns="0" rIns="0" bIns="0" rtlCol="0" anchor="ctr"/>
          <a:lstStyle/>
          <a:p>
            <a:pPr indent="0" marL="0">
              <a:buNone/>
            </a:pPr>
            <a:r>
              <a:rPr lang="en-US" sz="2600" i="1" dirty="0">
                <a:solidFill>
                  <a:srgbClr val="FAF6E9"/>
                </a:solidFill>
                <a:latin typeface="Georgia" pitchFamily="34" charset="0"/>
                <a:ea typeface="Georgia" pitchFamily="34" charset="-122"/>
                <a:cs typeface="Georgia" pitchFamily="34" charset="-120"/>
              </a:rPr>
              <a:t>Equilux</a:t>
            </a:r>
            <a:endParaRPr lang="en-US" sz="2600" dirty="0"/>
          </a:p>
        </p:txBody>
      </p:sp>
      <p:sp>
        <p:nvSpPr>
          <p:cNvPr id="17" name="Text 15">
            <a:hlinkClick r:id="rId1" tooltip=""/>
          </p:cNvPr>
          <p:cNvSpPr/>
          <p:nvPr/>
        </p:nvSpPr>
        <p:spPr>
          <a:xfrm>
            <a:off x="6675120" y="4828032"/>
            <a:ext cx="5029200" cy="292608"/>
          </a:xfrm>
          <a:prstGeom prst="rect">
            <a:avLst/>
          </a:prstGeom>
          <a:noFill/>
          <a:ln/>
        </p:spPr>
        <p:txBody>
          <a:bodyPr wrap="square" lIns="0" tIns="0" rIns="0" bIns="0" rtlCol="0" anchor="ctr"/>
          <a:lstStyle/>
          <a:p>
            <a:pPr algn="r" indent="0" marL="0">
              <a:buNone/>
            </a:pPr>
            <a:r>
              <a:rPr lang="en-US" sz="1400" u="sng" dirty="0">
                <a:solidFill>
                  <a:srgbClr val="C5CDC0"/>
                </a:solidFill>
                <a:latin typeface="Courier New" pitchFamily="34" charset="0"/>
                <a:ea typeface="Courier New" pitchFamily="34" charset="-122"/>
                <a:cs typeface="Courier New" pitchFamily="34" charset="-120"/>
                <a:hlinkClick r:id="rId1" invalidUrl="" action="" tgtFrame="" tooltip="" history="1" highlightClick="0" endSnd="0">
                  <a:extLst>
                    <a:ext uri="{A12FA001-AC4F-418D-AE19-62706E023703}">
                      <ahyp:hlinkClr xmlns:ahyp="http://schemas.microsoft.com/office/drawing/2018/hyperlinkcolor" val="tx"/>
                    </a:ext>
                  </a:extLst>
                </a:hlinkClick>
              </a:rPr>
              <a:t>youtu.be/AmFv_UKSj4A</a:t>
            </a:r>
            <a:endParaRPr lang="en-US" sz="1400" dirty="0"/>
          </a:p>
        </p:txBody>
      </p:sp>
      <p:sp>
        <p:nvSpPr>
          <p:cNvPr id="18" name="Text 16">
            <a:hlinkClick r:id="rId2" tooltip=""/>
          </p:cNvPr>
          <p:cNvSpPr/>
          <p:nvPr/>
        </p:nvSpPr>
        <p:spPr>
          <a:xfrm>
            <a:off x="6675120" y="5120640"/>
            <a:ext cx="5029200" cy="292608"/>
          </a:xfrm>
          <a:prstGeom prst="rect">
            <a:avLst/>
          </a:prstGeom>
          <a:noFill/>
          <a:ln/>
        </p:spPr>
        <p:txBody>
          <a:bodyPr wrap="square" lIns="0" tIns="0" rIns="0" bIns="0" rtlCol="0" anchor="ctr"/>
          <a:lstStyle/>
          <a:p>
            <a:pPr algn="r" indent="0" marL="0">
              <a:buNone/>
            </a:pPr>
            <a:r>
              <a:rPr lang="en-US" sz="1400" u="sng" dirty="0">
                <a:solidFill>
                  <a:srgbClr val="C5CDC0"/>
                </a:solidFill>
                <a:latin typeface="Courier New" pitchFamily="34" charset="0"/>
                <a:ea typeface="Courier New" pitchFamily="34" charset="-122"/>
                <a:cs typeface="Courier New"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github.com/AustinChris1/Equilux</a:t>
            </a:r>
            <a:endParaRPr lang="en-US" sz="1400" dirty="0"/>
          </a:p>
        </p:txBody>
      </p:sp>
      <p:sp>
        <p:nvSpPr>
          <p:cNvPr id="19" name="Text 17"/>
          <p:cNvSpPr/>
          <p:nvPr/>
        </p:nvSpPr>
        <p:spPr>
          <a:xfrm>
            <a:off x="6675120" y="5413248"/>
            <a:ext cx="5029200" cy="292608"/>
          </a:xfrm>
          <a:prstGeom prst="rect">
            <a:avLst/>
          </a:prstGeom>
          <a:noFill/>
          <a:ln/>
        </p:spPr>
        <p:txBody>
          <a:bodyPr wrap="square" lIns="0" tIns="0" rIns="0" bIns="0" rtlCol="0" anchor="ctr"/>
          <a:lstStyle/>
          <a:p>
            <a:pPr algn="r" indent="0" marL="0">
              <a:buNone/>
            </a:pPr>
            <a:r>
              <a:rPr lang="en-US" sz="1400" dirty="0">
                <a:solidFill>
                  <a:srgbClr val="C5CDC0"/>
                </a:solidFill>
                <a:latin typeface="Courier New" pitchFamily="34" charset="0"/>
                <a:ea typeface="Courier New" pitchFamily="34" charset="-122"/>
                <a:cs typeface="Courier New" pitchFamily="34" charset="-120"/>
              </a:rPr>
              <a:t>Apache License 2.0  ·  #midnightntwrk</a:t>
            </a:r>
            <a:endParaRPr lang="en-US" sz="1400" dirty="0"/>
          </a:p>
        </p:txBody>
      </p:sp>
      <p:sp>
        <p:nvSpPr>
          <p:cNvPr id="20" name="Text 18"/>
          <p:cNvSpPr/>
          <p:nvPr/>
        </p:nvSpPr>
        <p:spPr>
          <a:xfrm>
            <a:off x="502920" y="6510528"/>
            <a:ext cx="8412480" cy="219456"/>
          </a:xfrm>
          <a:prstGeom prst="rect">
            <a:avLst/>
          </a:prstGeom>
          <a:noFill/>
          <a:ln/>
        </p:spPr>
        <p:txBody>
          <a:bodyPr wrap="square" lIns="0" tIns="0" rIns="0" bIns="0" rtlCol="0" anchor="ctr"/>
          <a:lstStyle/>
          <a:p>
            <a:pPr indent="0" marL="0">
              <a:buNone/>
            </a:pPr>
            <a:r>
              <a:rPr lang="en-US" sz="1100" spc="80" kern="0" dirty="0">
                <a:solidFill>
                  <a:srgbClr val="8A9384"/>
                </a:solidFill>
                <a:latin typeface="Courier New" pitchFamily="34" charset="0"/>
                <a:ea typeface="Courier New" pitchFamily="34" charset="-122"/>
                <a:cs typeface="Courier New" pitchFamily="34" charset="-120"/>
              </a:rPr>
              <a:t>EQUILUX</a:t>
            </a:r>
            <a:endParaRPr lang="en-US" sz="1100" dirty="0"/>
          </a:p>
        </p:txBody>
      </p:sp>
      <p:sp>
        <p:nvSpPr>
          <p:cNvPr id="21" name="Text 19"/>
          <p:cNvSpPr/>
          <p:nvPr/>
        </p:nvSpPr>
        <p:spPr>
          <a:xfrm>
            <a:off x="9052560" y="6510528"/>
            <a:ext cx="2633472" cy="219456"/>
          </a:xfrm>
          <a:prstGeom prst="rect">
            <a:avLst/>
          </a:prstGeom>
          <a:noFill/>
          <a:ln/>
        </p:spPr>
        <p:txBody>
          <a:bodyPr wrap="square" lIns="0" tIns="0" rIns="0" bIns="0" rtlCol="0" anchor="ctr"/>
          <a:lstStyle/>
          <a:p>
            <a:pPr algn="r" indent="0" marL="0">
              <a:buNone/>
            </a:pPr>
            <a:r>
              <a:rPr lang="en-US" sz="1100" spc="80" kern="0" dirty="0">
                <a:solidFill>
                  <a:srgbClr val="8A9384"/>
                </a:solidFill>
                <a:latin typeface="Courier New" pitchFamily="34" charset="0"/>
                <a:ea typeface="Courier New" pitchFamily="34" charset="-122"/>
                <a:cs typeface="Courier New" pitchFamily="34" charset="-120"/>
              </a:rPr>
              <a:t>12  /  12</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Equilux — Midnight Buildathon Wave 2</dc:title>
  <dc:subject>Pay, proven equal. No salary revealed.</dc:subject>
  <dc:creator>Equilux</dc:creator>
  <cp:lastModifiedBy>Equilux</cp:lastModifiedBy>
  <cp:revision>1</cp:revision>
  <dcterms:created xsi:type="dcterms:W3CDTF">2026-10-16T07:56:22Z</dcterms:created>
  <dcterms:modified xsi:type="dcterms:W3CDTF">2026-10-16T07:56:22Z</dcterms:modified>
</cp:coreProperties>
</file>